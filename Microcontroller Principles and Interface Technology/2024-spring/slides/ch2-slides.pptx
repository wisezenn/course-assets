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354" r:id="rId3"/>
    <p:sldId id="355" r:id="rId4"/>
    <p:sldId id="476" r:id="rId5"/>
    <p:sldId id="477" r:id="rId6"/>
    <p:sldId id="479" r:id="rId7"/>
    <p:sldId id="392" r:id="rId8"/>
    <p:sldId id="393" r:id="rId9"/>
    <p:sldId id="404" r:id="rId10"/>
    <p:sldId id="630" r:id="rId11"/>
    <p:sldId id="631" r:id="rId12"/>
    <p:sldId id="632" r:id="rId13"/>
    <p:sldId id="633" r:id="rId14"/>
    <p:sldId id="634" r:id="rId15"/>
    <p:sldId id="635" r:id="rId16"/>
    <p:sldId id="406" r:id="rId17"/>
    <p:sldId id="649" r:id="rId18"/>
    <p:sldId id="407" r:id="rId19"/>
    <p:sldId id="408" r:id="rId20"/>
    <p:sldId id="650" r:id="rId21"/>
    <p:sldId id="410" r:id="rId22"/>
    <p:sldId id="414" r:id="rId23"/>
    <p:sldId id="416" r:id="rId24"/>
    <p:sldId id="605" r:id="rId25"/>
    <p:sldId id="554" r:id="rId26"/>
    <p:sldId id="653" r:id="rId27"/>
    <p:sldId id="654" r:id="rId28"/>
    <p:sldId id="611" r:id="rId29"/>
    <p:sldId id="608" r:id="rId30"/>
    <p:sldId id="651" r:id="rId31"/>
    <p:sldId id="612" r:id="rId32"/>
    <p:sldId id="615" r:id="rId33"/>
    <p:sldId id="628" r:id="rId34"/>
    <p:sldId id="616" r:id="rId35"/>
    <p:sldId id="652" r:id="rId36"/>
    <p:sldId id="627" r:id="rId37"/>
    <p:sldId id="636" r:id="rId38"/>
    <p:sldId id="637" r:id="rId39"/>
    <p:sldId id="639" r:id="rId40"/>
    <p:sldId id="640" r:id="rId41"/>
    <p:sldId id="642" r:id="rId42"/>
    <p:sldId id="655" r:id="rId43"/>
    <p:sldId id="458" r:id="rId44"/>
    <p:sldId id="643" r:id="rId45"/>
    <p:sldId id="645" r:id="rId46"/>
    <p:sldId id="646" r:id="rId47"/>
    <p:sldId id="648" r:id="rId48"/>
  </p:sldIdLst>
  <p:sldSz cx="9144000" cy="6858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>
          <p15:clr>
            <a:srgbClr val="A4A3A4"/>
          </p15:clr>
        </p15:guide>
        <p15:guide id="2" pos="21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928"/>
        <p:guide pos="21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2022/1/20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23961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6" name="文本占位符 239618"/>
          <p:cNvSpPr>
            <a:spLocks noGrp="1"/>
          </p:cNvSpPr>
          <p:nvPr>
            <p:ph type="body"/>
          </p:nvPr>
        </p:nvSpPr>
        <p:spPr/>
        <p:txBody>
          <a:bodyPr anchor="t"/>
          <a:lstStyle/>
          <a:p>
            <a:pPr lvl="0" indent="0"/>
            <a:endParaRPr lang="zh-CN" dirty="0"/>
          </a:p>
        </p:txBody>
      </p:sp>
      <p:sp>
        <p:nvSpPr>
          <p:cNvPr id="6147" name="灯片编号占位符 1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indent="0" algn="r" eaLnBrk="1" hangingPunct="1"/>
            <a:fld id="{9A0DB2DC-4C9A-4742-B13C-FB6460FD3503}" type="slidenum">
              <a:rPr lang="zh-CN" altLang="en-US" sz="1200" b="0" dirty="0"/>
              <a:t>2</a:t>
            </a:fld>
            <a:endParaRPr lang="zh-CN" altLang="en-US" sz="1200" b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 userDrawn="1"/>
        </p:nvSpPr>
        <p:spPr>
          <a:xfrm>
            <a:off x="611123" y="260604"/>
            <a:ext cx="539750" cy="538480"/>
          </a:xfrm>
          <a:custGeom>
            <a:avLst/>
            <a:gdLst/>
            <a:ahLst/>
            <a:cxnLst/>
            <a:rect l="l" t="t" r="r" b="b"/>
            <a:pathLst>
              <a:path w="539750" h="538480">
                <a:moveTo>
                  <a:pt x="0" y="537972"/>
                </a:moveTo>
                <a:lnTo>
                  <a:pt x="539496" y="537972"/>
                </a:lnTo>
                <a:lnTo>
                  <a:pt x="539496" y="0"/>
                </a:lnTo>
                <a:lnTo>
                  <a:pt x="0" y="0"/>
                </a:lnTo>
                <a:lnTo>
                  <a:pt x="0" y="537972"/>
                </a:lnTo>
                <a:close/>
              </a:path>
            </a:pathLst>
          </a:custGeom>
          <a:solidFill>
            <a:srgbClr val="0053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 userDrawn="1"/>
        </p:nvSpPr>
        <p:spPr>
          <a:xfrm>
            <a:off x="880872" y="530351"/>
            <a:ext cx="396240" cy="394970"/>
          </a:xfrm>
          <a:custGeom>
            <a:avLst/>
            <a:gdLst/>
            <a:ahLst/>
            <a:cxnLst/>
            <a:rect l="l" t="t" r="r" b="b"/>
            <a:pathLst>
              <a:path w="396240" h="394969">
                <a:moveTo>
                  <a:pt x="0" y="394715"/>
                </a:moveTo>
                <a:lnTo>
                  <a:pt x="396240" y="394715"/>
                </a:lnTo>
                <a:lnTo>
                  <a:pt x="396240" y="0"/>
                </a:lnTo>
                <a:lnTo>
                  <a:pt x="0" y="0"/>
                </a:lnTo>
                <a:lnTo>
                  <a:pt x="0" y="39471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98600" y="282575"/>
            <a:ext cx="298196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75184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7915" y="6534785"/>
            <a:ext cx="426720" cy="293370"/>
          </a:xfrm>
        </p:spPr>
        <p:txBody>
          <a:bodyPr wrap="square" lIns="0" tIns="0" rIns="0" bIns="0"/>
          <a:lstStyle>
            <a:lvl1pPr>
              <a:defRPr sz="1200" b="0" i="0">
                <a:solidFill>
                  <a:srgbClr val="FFFF0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57200" y="970280"/>
            <a:ext cx="49879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pPr algn="ctr"/>
            <a:endParaRPr sz="16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35128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1/20/2022</a:t>
            </a:fld>
            <a:endParaRPr lang="en-US"/>
          </a:p>
        </p:txBody>
      </p:sp>
      <p:sp>
        <p:nvSpPr>
          <p:cNvPr id="9" name="Holder 6"/>
          <p:cNvSpPr>
            <a:spLocks noGrp="1"/>
          </p:cNvSpPr>
          <p:nvPr>
            <p:ph type="sldNum" sz="quarter" idx="7"/>
          </p:nvPr>
        </p:nvSpPr>
        <p:spPr>
          <a:xfrm>
            <a:off x="8717915" y="6534785"/>
            <a:ext cx="426720" cy="293370"/>
          </a:xfrm>
        </p:spPr>
        <p:txBody>
          <a:bodyPr wrap="square" lIns="0" tIns="0" rIns="0" bIns="0"/>
          <a:lstStyle>
            <a:lvl1pPr>
              <a:defRPr sz="1200" b="0" i="0">
                <a:solidFill>
                  <a:srgbClr val="FFFF0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061085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45855" y="6612255"/>
            <a:ext cx="361950" cy="153670"/>
          </a:xfr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07061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40775" y="6607175"/>
            <a:ext cx="361950" cy="153670"/>
          </a:xfr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8600" y="282575"/>
            <a:ext cx="3933190" cy="368935"/>
          </a:xfrm>
        </p:spPr>
        <p:txBody>
          <a:bodyPr wrap="square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t>1/20/2022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9A0DB2DC-4C9A-4742-B13C-FB6460FD3503}" type="slidenum">
              <a:rPr/>
              <a:t>‹#›</a:t>
            </a:fld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2022年1月20日11时26分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2022年1月20日11时26分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2022年1月20日11时26分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2022年1月20日11时26分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k object 16"/>
          <p:cNvSpPr/>
          <p:nvPr userDrawn="1"/>
        </p:nvSpPr>
        <p:spPr>
          <a:xfrm>
            <a:off x="611123" y="260604"/>
            <a:ext cx="539750" cy="538480"/>
          </a:xfrm>
          <a:custGeom>
            <a:avLst/>
            <a:gdLst/>
            <a:ahLst/>
            <a:cxnLst/>
            <a:rect l="l" t="t" r="r" b="b"/>
            <a:pathLst>
              <a:path w="539750" h="538480">
                <a:moveTo>
                  <a:pt x="0" y="537972"/>
                </a:moveTo>
                <a:lnTo>
                  <a:pt x="539496" y="537972"/>
                </a:lnTo>
                <a:lnTo>
                  <a:pt x="539496" y="0"/>
                </a:lnTo>
                <a:lnTo>
                  <a:pt x="0" y="0"/>
                </a:lnTo>
                <a:lnTo>
                  <a:pt x="0" y="537972"/>
                </a:lnTo>
                <a:close/>
              </a:path>
            </a:pathLst>
          </a:custGeom>
          <a:solidFill>
            <a:srgbClr val="0053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 userDrawn="1"/>
        </p:nvSpPr>
        <p:spPr>
          <a:xfrm>
            <a:off x="880872" y="530351"/>
            <a:ext cx="396240" cy="394970"/>
          </a:xfrm>
          <a:custGeom>
            <a:avLst/>
            <a:gdLst/>
            <a:ahLst/>
            <a:cxnLst/>
            <a:rect l="l" t="t" r="r" b="b"/>
            <a:pathLst>
              <a:path w="396240" h="394969">
                <a:moveTo>
                  <a:pt x="0" y="394715"/>
                </a:moveTo>
                <a:lnTo>
                  <a:pt x="396240" y="394715"/>
                </a:lnTo>
                <a:lnTo>
                  <a:pt x="396240" y="0"/>
                </a:lnTo>
                <a:lnTo>
                  <a:pt x="0" y="0"/>
                </a:lnTo>
                <a:lnTo>
                  <a:pt x="0" y="39471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8600" y="282575"/>
            <a:ext cx="292481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0930" y="6550660"/>
            <a:ext cx="433070" cy="27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b="1">
                <a:solidFill>
                  <a:srgbClr val="FFFF00"/>
                </a:solidFill>
              </a:defRPr>
            </a:lvl1pPr>
          </a:lstStyle>
          <a:p>
            <a:fld id="{9A0DB2DC-4C9A-4742-B13C-FB6460FD3503}" type="slidenum">
              <a:rPr/>
              <a:t>‹#›</a:t>
            </a:fld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1/20/2022</a:t>
            </a:fld>
            <a:endParaRPr 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67360" y="998855"/>
            <a:ext cx="49879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副标题 12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432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3423285" y="4825365"/>
            <a:ext cx="2866390" cy="3340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2530"/>
              </a:lnSpc>
              <a:spcBef>
                <a:spcPts val="80"/>
              </a:spcBef>
            </a:pPr>
            <a:r>
              <a:rPr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主</a:t>
            </a:r>
            <a:r>
              <a:rPr lang="en-US"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讲</a:t>
            </a:r>
            <a:r>
              <a:rPr lang="en-US"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 :</a:t>
            </a:r>
            <a:r>
              <a:rPr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陈  佩</a:t>
            </a:r>
            <a:endParaRPr lang="zh-CN" altLang="zh-CN" sz="2000" b="1" dirty="0">
              <a:solidFill>
                <a:srgbClr val="006FC0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64880" y="2717292"/>
            <a:ext cx="579120" cy="993775"/>
          </a:xfrm>
          <a:custGeom>
            <a:avLst/>
            <a:gdLst/>
            <a:ahLst/>
            <a:cxnLst/>
            <a:rect l="l" t="t" r="r" b="b"/>
            <a:pathLst>
              <a:path w="579120" h="993775">
                <a:moveTo>
                  <a:pt x="0" y="993648"/>
                </a:moveTo>
                <a:lnTo>
                  <a:pt x="579120" y="993648"/>
                </a:lnTo>
                <a:lnTo>
                  <a:pt x="579120" y="0"/>
                </a:lnTo>
                <a:lnTo>
                  <a:pt x="0" y="0"/>
                </a:lnTo>
                <a:lnTo>
                  <a:pt x="0" y="99364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64880" y="3805428"/>
            <a:ext cx="579120" cy="273050"/>
          </a:xfrm>
          <a:custGeom>
            <a:avLst/>
            <a:gdLst/>
            <a:ahLst/>
            <a:cxnLst/>
            <a:rect l="l" t="t" r="r" b="b"/>
            <a:pathLst>
              <a:path w="579120" h="273050">
                <a:moveTo>
                  <a:pt x="0" y="272796"/>
                </a:moveTo>
                <a:lnTo>
                  <a:pt x="579120" y="272796"/>
                </a:lnTo>
                <a:lnTo>
                  <a:pt x="579120" y="0"/>
                </a:lnTo>
                <a:lnTo>
                  <a:pt x="0" y="0"/>
                </a:lnTo>
                <a:lnTo>
                  <a:pt x="0" y="27279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805428"/>
            <a:ext cx="5991225" cy="273050"/>
          </a:xfrm>
          <a:custGeom>
            <a:avLst/>
            <a:gdLst/>
            <a:ahLst/>
            <a:cxnLst/>
            <a:rect l="l" t="t" r="r" b="b"/>
            <a:pathLst>
              <a:path w="5991225" h="273050">
                <a:moveTo>
                  <a:pt x="0" y="272796"/>
                </a:moveTo>
                <a:lnTo>
                  <a:pt x="5990844" y="272796"/>
                </a:lnTo>
                <a:lnTo>
                  <a:pt x="5990844" y="0"/>
                </a:lnTo>
                <a:lnTo>
                  <a:pt x="0" y="0"/>
                </a:lnTo>
                <a:lnTo>
                  <a:pt x="0" y="27279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2717165"/>
            <a:ext cx="6548755" cy="993775"/>
          </a:xfrm>
          <a:custGeom>
            <a:avLst/>
            <a:gdLst/>
            <a:ahLst/>
            <a:cxnLst/>
            <a:rect l="l" t="t" r="r" b="b"/>
            <a:pathLst>
              <a:path w="5991225" h="993775">
                <a:moveTo>
                  <a:pt x="0" y="993648"/>
                </a:moveTo>
                <a:lnTo>
                  <a:pt x="5990844" y="993648"/>
                </a:lnTo>
                <a:lnTo>
                  <a:pt x="5990844" y="0"/>
                </a:lnTo>
                <a:lnTo>
                  <a:pt x="0" y="0"/>
                </a:lnTo>
                <a:lnTo>
                  <a:pt x="0" y="99364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67025" y="2950210"/>
            <a:ext cx="3628390" cy="534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单片机</a:t>
            </a:r>
            <a:r>
              <a:rPr lang="zh-CN" sz="3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原理及应用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27070" y="3805555"/>
            <a:ext cx="3321685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spc="-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Chang'an university</a:t>
            </a:r>
            <a:endParaRPr lang="en-US"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3265" y="2788157"/>
            <a:ext cx="1224280" cy="1224280"/>
          </a:xfrm>
          <a:custGeom>
            <a:avLst/>
            <a:gdLst/>
            <a:ahLst/>
            <a:cxnLst/>
            <a:rect l="l" t="t" r="r" b="b"/>
            <a:pathLst>
              <a:path w="1224280" h="1224279">
                <a:moveTo>
                  <a:pt x="611886" y="0"/>
                </a:moveTo>
                <a:lnTo>
                  <a:pt x="564067" y="1840"/>
                </a:lnTo>
                <a:lnTo>
                  <a:pt x="517255" y="7272"/>
                </a:lnTo>
                <a:lnTo>
                  <a:pt x="471586" y="16159"/>
                </a:lnTo>
                <a:lnTo>
                  <a:pt x="427195" y="28365"/>
                </a:lnTo>
                <a:lnTo>
                  <a:pt x="384219" y="43754"/>
                </a:lnTo>
                <a:lnTo>
                  <a:pt x="342794" y="62190"/>
                </a:lnTo>
                <a:lnTo>
                  <a:pt x="303055" y="83537"/>
                </a:lnTo>
                <a:lnTo>
                  <a:pt x="265140" y="107659"/>
                </a:lnTo>
                <a:lnTo>
                  <a:pt x="229182" y="134420"/>
                </a:lnTo>
                <a:lnTo>
                  <a:pt x="195320" y="163684"/>
                </a:lnTo>
                <a:lnTo>
                  <a:pt x="163689" y="195315"/>
                </a:lnTo>
                <a:lnTo>
                  <a:pt x="134424" y="229177"/>
                </a:lnTo>
                <a:lnTo>
                  <a:pt x="107663" y="265134"/>
                </a:lnTo>
                <a:lnTo>
                  <a:pt x="83540" y="303050"/>
                </a:lnTo>
                <a:lnTo>
                  <a:pt x="62192" y="342788"/>
                </a:lnTo>
                <a:lnTo>
                  <a:pt x="43756" y="384214"/>
                </a:lnTo>
                <a:lnTo>
                  <a:pt x="28366" y="427191"/>
                </a:lnTo>
                <a:lnTo>
                  <a:pt x="16160" y="471582"/>
                </a:lnTo>
                <a:lnTo>
                  <a:pt x="7273" y="517252"/>
                </a:lnTo>
                <a:lnTo>
                  <a:pt x="1840" y="564065"/>
                </a:lnTo>
                <a:lnTo>
                  <a:pt x="0" y="611886"/>
                </a:lnTo>
                <a:lnTo>
                  <a:pt x="1840" y="659706"/>
                </a:lnTo>
                <a:lnTo>
                  <a:pt x="7273" y="706519"/>
                </a:lnTo>
                <a:lnTo>
                  <a:pt x="16160" y="752189"/>
                </a:lnTo>
                <a:lnTo>
                  <a:pt x="28366" y="796580"/>
                </a:lnTo>
                <a:lnTo>
                  <a:pt x="43756" y="839557"/>
                </a:lnTo>
                <a:lnTo>
                  <a:pt x="62192" y="880983"/>
                </a:lnTo>
                <a:lnTo>
                  <a:pt x="83540" y="920721"/>
                </a:lnTo>
                <a:lnTo>
                  <a:pt x="107663" y="958637"/>
                </a:lnTo>
                <a:lnTo>
                  <a:pt x="134424" y="994594"/>
                </a:lnTo>
                <a:lnTo>
                  <a:pt x="163689" y="1028456"/>
                </a:lnTo>
                <a:lnTo>
                  <a:pt x="195320" y="1060087"/>
                </a:lnTo>
                <a:lnTo>
                  <a:pt x="229182" y="1089351"/>
                </a:lnTo>
                <a:lnTo>
                  <a:pt x="265140" y="1116112"/>
                </a:lnTo>
                <a:lnTo>
                  <a:pt x="303055" y="1140234"/>
                </a:lnTo>
                <a:lnTo>
                  <a:pt x="342794" y="1161581"/>
                </a:lnTo>
                <a:lnTo>
                  <a:pt x="384219" y="1180017"/>
                </a:lnTo>
                <a:lnTo>
                  <a:pt x="427195" y="1195406"/>
                </a:lnTo>
                <a:lnTo>
                  <a:pt x="471586" y="1207612"/>
                </a:lnTo>
                <a:lnTo>
                  <a:pt x="517255" y="1216499"/>
                </a:lnTo>
                <a:lnTo>
                  <a:pt x="564067" y="1221931"/>
                </a:lnTo>
                <a:lnTo>
                  <a:pt x="611886" y="1223771"/>
                </a:lnTo>
                <a:lnTo>
                  <a:pt x="659704" y="1221931"/>
                </a:lnTo>
                <a:lnTo>
                  <a:pt x="706516" y="1216499"/>
                </a:lnTo>
                <a:lnTo>
                  <a:pt x="752185" y="1207612"/>
                </a:lnTo>
                <a:lnTo>
                  <a:pt x="796576" y="1195406"/>
                </a:lnTo>
                <a:lnTo>
                  <a:pt x="839552" y="1180017"/>
                </a:lnTo>
                <a:lnTo>
                  <a:pt x="880977" y="1161581"/>
                </a:lnTo>
                <a:lnTo>
                  <a:pt x="920716" y="1140234"/>
                </a:lnTo>
                <a:lnTo>
                  <a:pt x="958631" y="1116112"/>
                </a:lnTo>
                <a:lnTo>
                  <a:pt x="994589" y="1089351"/>
                </a:lnTo>
                <a:lnTo>
                  <a:pt x="1028451" y="1060087"/>
                </a:lnTo>
                <a:lnTo>
                  <a:pt x="1060082" y="1028456"/>
                </a:lnTo>
                <a:lnTo>
                  <a:pt x="1089347" y="994594"/>
                </a:lnTo>
                <a:lnTo>
                  <a:pt x="1116108" y="958637"/>
                </a:lnTo>
                <a:lnTo>
                  <a:pt x="1140231" y="920721"/>
                </a:lnTo>
                <a:lnTo>
                  <a:pt x="1161579" y="880983"/>
                </a:lnTo>
                <a:lnTo>
                  <a:pt x="1180015" y="839557"/>
                </a:lnTo>
                <a:lnTo>
                  <a:pt x="1195405" y="796580"/>
                </a:lnTo>
                <a:lnTo>
                  <a:pt x="1207611" y="752189"/>
                </a:lnTo>
                <a:lnTo>
                  <a:pt x="1216498" y="706519"/>
                </a:lnTo>
                <a:lnTo>
                  <a:pt x="1221931" y="659706"/>
                </a:lnTo>
                <a:lnTo>
                  <a:pt x="1223772" y="611886"/>
                </a:lnTo>
                <a:lnTo>
                  <a:pt x="1221931" y="564065"/>
                </a:lnTo>
                <a:lnTo>
                  <a:pt x="1216498" y="517252"/>
                </a:lnTo>
                <a:lnTo>
                  <a:pt x="1207611" y="471582"/>
                </a:lnTo>
                <a:lnTo>
                  <a:pt x="1195405" y="427191"/>
                </a:lnTo>
                <a:lnTo>
                  <a:pt x="1180015" y="384214"/>
                </a:lnTo>
                <a:lnTo>
                  <a:pt x="1161579" y="342788"/>
                </a:lnTo>
                <a:lnTo>
                  <a:pt x="1140231" y="303050"/>
                </a:lnTo>
                <a:lnTo>
                  <a:pt x="1116108" y="265134"/>
                </a:lnTo>
                <a:lnTo>
                  <a:pt x="1089347" y="229177"/>
                </a:lnTo>
                <a:lnTo>
                  <a:pt x="1060082" y="195315"/>
                </a:lnTo>
                <a:lnTo>
                  <a:pt x="1028451" y="163684"/>
                </a:lnTo>
                <a:lnTo>
                  <a:pt x="994589" y="134420"/>
                </a:lnTo>
                <a:lnTo>
                  <a:pt x="958631" y="107659"/>
                </a:lnTo>
                <a:lnTo>
                  <a:pt x="920716" y="83537"/>
                </a:lnTo>
                <a:lnTo>
                  <a:pt x="880977" y="62190"/>
                </a:lnTo>
                <a:lnTo>
                  <a:pt x="839552" y="43754"/>
                </a:lnTo>
                <a:lnTo>
                  <a:pt x="796576" y="28365"/>
                </a:lnTo>
                <a:lnTo>
                  <a:pt x="752185" y="16159"/>
                </a:lnTo>
                <a:lnTo>
                  <a:pt x="706516" y="7272"/>
                </a:lnTo>
                <a:lnTo>
                  <a:pt x="659704" y="1840"/>
                </a:lnTo>
                <a:lnTo>
                  <a:pt x="61188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3265" y="2788157"/>
            <a:ext cx="1224280" cy="1224280"/>
          </a:xfrm>
          <a:custGeom>
            <a:avLst/>
            <a:gdLst/>
            <a:ahLst/>
            <a:cxnLst/>
            <a:rect l="l" t="t" r="r" b="b"/>
            <a:pathLst>
              <a:path w="1224280" h="1224279">
                <a:moveTo>
                  <a:pt x="0" y="611886"/>
                </a:moveTo>
                <a:lnTo>
                  <a:pt x="1840" y="564065"/>
                </a:lnTo>
                <a:lnTo>
                  <a:pt x="7273" y="517252"/>
                </a:lnTo>
                <a:lnTo>
                  <a:pt x="16160" y="471582"/>
                </a:lnTo>
                <a:lnTo>
                  <a:pt x="28366" y="427191"/>
                </a:lnTo>
                <a:lnTo>
                  <a:pt x="43756" y="384214"/>
                </a:lnTo>
                <a:lnTo>
                  <a:pt x="62192" y="342788"/>
                </a:lnTo>
                <a:lnTo>
                  <a:pt x="83540" y="303050"/>
                </a:lnTo>
                <a:lnTo>
                  <a:pt x="107663" y="265134"/>
                </a:lnTo>
                <a:lnTo>
                  <a:pt x="134424" y="229177"/>
                </a:lnTo>
                <a:lnTo>
                  <a:pt x="163689" y="195315"/>
                </a:lnTo>
                <a:lnTo>
                  <a:pt x="195320" y="163684"/>
                </a:lnTo>
                <a:lnTo>
                  <a:pt x="229182" y="134420"/>
                </a:lnTo>
                <a:lnTo>
                  <a:pt x="265140" y="107659"/>
                </a:lnTo>
                <a:lnTo>
                  <a:pt x="303055" y="83537"/>
                </a:lnTo>
                <a:lnTo>
                  <a:pt x="342794" y="62190"/>
                </a:lnTo>
                <a:lnTo>
                  <a:pt x="384219" y="43754"/>
                </a:lnTo>
                <a:lnTo>
                  <a:pt x="427195" y="28365"/>
                </a:lnTo>
                <a:lnTo>
                  <a:pt x="471586" y="16159"/>
                </a:lnTo>
                <a:lnTo>
                  <a:pt x="517255" y="7272"/>
                </a:lnTo>
                <a:lnTo>
                  <a:pt x="564067" y="1840"/>
                </a:lnTo>
                <a:lnTo>
                  <a:pt x="611886" y="0"/>
                </a:lnTo>
                <a:lnTo>
                  <a:pt x="659704" y="1840"/>
                </a:lnTo>
                <a:lnTo>
                  <a:pt x="706516" y="7272"/>
                </a:lnTo>
                <a:lnTo>
                  <a:pt x="752185" y="16159"/>
                </a:lnTo>
                <a:lnTo>
                  <a:pt x="796576" y="28365"/>
                </a:lnTo>
                <a:lnTo>
                  <a:pt x="839552" y="43754"/>
                </a:lnTo>
                <a:lnTo>
                  <a:pt x="880977" y="62190"/>
                </a:lnTo>
                <a:lnTo>
                  <a:pt x="920716" y="83537"/>
                </a:lnTo>
                <a:lnTo>
                  <a:pt x="958631" y="107659"/>
                </a:lnTo>
                <a:lnTo>
                  <a:pt x="994589" y="134420"/>
                </a:lnTo>
                <a:lnTo>
                  <a:pt x="1028451" y="163684"/>
                </a:lnTo>
                <a:lnTo>
                  <a:pt x="1060082" y="195315"/>
                </a:lnTo>
                <a:lnTo>
                  <a:pt x="1089347" y="229177"/>
                </a:lnTo>
                <a:lnTo>
                  <a:pt x="1116108" y="265134"/>
                </a:lnTo>
                <a:lnTo>
                  <a:pt x="1140231" y="303050"/>
                </a:lnTo>
                <a:lnTo>
                  <a:pt x="1161579" y="342788"/>
                </a:lnTo>
                <a:lnTo>
                  <a:pt x="1180015" y="384214"/>
                </a:lnTo>
                <a:lnTo>
                  <a:pt x="1195405" y="427191"/>
                </a:lnTo>
                <a:lnTo>
                  <a:pt x="1207611" y="471582"/>
                </a:lnTo>
                <a:lnTo>
                  <a:pt x="1216498" y="517252"/>
                </a:lnTo>
                <a:lnTo>
                  <a:pt x="1221931" y="564065"/>
                </a:lnTo>
                <a:lnTo>
                  <a:pt x="1223772" y="611886"/>
                </a:lnTo>
                <a:lnTo>
                  <a:pt x="1221931" y="659706"/>
                </a:lnTo>
                <a:lnTo>
                  <a:pt x="1216498" y="706519"/>
                </a:lnTo>
                <a:lnTo>
                  <a:pt x="1207611" y="752189"/>
                </a:lnTo>
                <a:lnTo>
                  <a:pt x="1195405" y="796580"/>
                </a:lnTo>
                <a:lnTo>
                  <a:pt x="1180015" y="839557"/>
                </a:lnTo>
                <a:lnTo>
                  <a:pt x="1161579" y="880983"/>
                </a:lnTo>
                <a:lnTo>
                  <a:pt x="1140231" y="920721"/>
                </a:lnTo>
                <a:lnTo>
                  <a:pt x="1116108" y="958637"/>
                </a:lnTo>
                <a:lnTo>
                  <a:pt x="1089347" y="994594"/>
                </a:lnTo>
                <a:lnTo>
                  <a:pt x="1060082" y="1028456"/>
                </a:lnTo>
                <a:lnTo>
                  <a:pt x="1028451" y="1060087"/>
                </a:lnTo>
                <a:lnTo>
                  <a:pt x="994589" y="1089351"/>
                </a:lnTo>
                <a:lnTo>
                  <a:pt x="958631" y="1116112"/>
                </a:lnTo>
                <a:lnTo>
                  <a:pt x="920716" y="1140234"/>
                </a:lnTo>
                <a:lnTo>
                  <a:pt x="880977" y="1161581"/>
                </a:lnTo>
                <a:lnTo>
                  <a:pt x="839552" y="1180017"/>
                </a:lnTo>
                <a:lnTo>
                  <a:pt x="796576" y="1195406"/>
                </a:lnTo>
                <a:lnTo>
                  <a:pt x="752185" y="1207612"/>
                </a:lnTo>
                <a:lnTo>
                  <a:pt x="706516" y="1216499"/>
                </a:lnTo>
                <a:lnTo>
                  <a:pt x="659704" y="1221931"/>
                </a:lnTo>
                <a:lnTo>
                  <a:pt x="611886" y="1223771"/>
                </a:lnTo>
                <a:lnTo>
                  <a:pt x="564067" y="1221931"/>
                </a:lnTo>
                <a:lnTo>
                  <a:pt x="517255" y="1216499"/>
                </a:lnTo>
                <a:lnTo>
                  <a:pt x="471586" y="1207612"/>
                </a:lnTo>
                <a:lnTo>
                  <a:pt x="427195" y="1195406"/>
                </a:lnTo>
                <a:lnTo>
                  <a:pt x="384219" y="1180017"/>
                </a:lnTo>
                <a:lnTo>
                  <a:pt x="342794" y="1161581"/>
                </a:lnTo>
                <a:lnTo>
                  <a:pt x="303055" y="1140234"/>
                </a:lnTo>
                <a:lnTo>
                  <a:pt x="265140" y="1116112"/>
                </a:lnTo>
                <a:lnTo>
                  <a:pt x="229182" y="1089351"/>
                </a:lnTo>
                <a:lnTo>
                  <a:pt x="195320" y="1060087"/>
                </a:lnTo>
                <a:lnTo>
                  <a:pt x="163689" y="1028456"/>
                </a:lnTo>
                <a:lnTo>
                  <a:pt x="134424" y="994594"/>
                </a:lnTo>
                <a:lnTo>
                  <a:pt x="107663" y="958637"/>
                </a:lnTo>
                <a:lnTo>
                  <a:pt x="83540" y="920721"/>
                </a:lnTo>
                <a:lnTo>
                  <a:pt x="62192" y="880983"/>
                </a:lnTo>
                <a:lnTo>
                  <a:pt x="43756" y="839557"/>
                </a:lnTo>
                <a:lnTo>
                  <a:pt x="28366" y="796580"/>
                </a:lnTo>
                <a:lnTo>
                  <a:pt x="16160" y="752189"/>
                </a:lnTo>
                <a:lnTo>
                  <a:pt x="7273" y="706519"/>
                </a:lnTo>
                <a:lnTo>
                  <a:pt x="1840" y="659706"/>
                </a:lnTo>
                <a:lnTo>
                  <a:pt x="0" y="611886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6531" y="3034283"/>
            <a:ext cx="775970" cy="730250"/>
          </a:xfrm>
          <a:custGeom>
            <a:avLst/>
            <a:gdLst/>
            <a:ahLst/>
            <a:cxnLst/>
            <a:rect l="l" t="t" r="r" b="b"/>
            <a:pathLst>
              <a:path w="775969" h="730250">
                <a:moveTo>
                  <a:pt x="143941" y="0"/>
                </a:moveTo>
                <a:lnTo>
                  <a:pt x="111206" y="5772"/>
                </a:lnTo>
                <a:lnTo>
                  <a:pt x="85969" y="22082"/>
                </a:lnTo>
                <a:lnTo>
                  <a:pt x="69728" y="47416"/>
                </a:lnTo>
                <a:lnTo>
                  <a:pt x="63982" y="80263"/>
                </a:lnTo>
                <a:lnTo>
                  <a:pt x="69728" y="113091"/>
                </a:lnTo>
                <a:lnTo>
                  <a:pt x="85969" y="138382"/>
                </a:lnTo>
                <a:lnTo>
                  <a:pt x="111206" y="154648"/>
                </a:lnTo>
                <a:lnTo>
                  <a:pt x="143941" y="160400"/>
                </a:lnTo>
                <a:lnTo>
                  <a:pt x="176684" y="154648"/>
                </a:lnTo>
                <a:lnTo>
                  <a:pt x="201925" y="138382"/>
                </a:lnTo>
                <a:lnTo>
                  <a:pt x="218167" y="113091"/>
                </a:lnTo>
                <a:lnTo>
                  <a:pt x="223913" y="80263"/>
                </a:lnTo>
                <a:lnTo>
                  <a:pt x="218167" y="47416"/>
                </a:lnTo>
                <a:lnTo>
                  <a:pt x="201925" y="22082"/>
                </a:lnTo>
                <a:lnTo>
                  <a:pt x="176684" y="5772"/>
                </a:lnTo>
                <a:lnTo>
                  <a:pt x="143941" y="0"/>
                </a:lnTo>
                <a:close/>
              </a:path>
              <a:path w="775969" h="730250">
                <a:moveTo>
                  <a:pt x="127952" y="184530"/>
                </a:moveTo>
                <a:lnTo>
                  <a:pt x="39979" y="184530"/>
                </a:lnTo>
                <a:lnTo>
                  <a:pt x="0" y="401065"/>
                </a:lnTo>
                <a:lnTo>
                  <a:pt x="55981" y="441198"/>
                </a:lnTo>
                <a:lnTo>
                  <a:pt x="39979" y="729995"/>
                </a:lnTo>
                <a:lnTo>
                  <a:pt x="111963" y="729995"/>
                </a:lnTo>
                <a:lnTo>
                  <a:pt x="127952" y="481329"/>
                </a:lnTo>
                <a:lnTo>
                  <a:pt x="234136" y="481329"/>
                </a:lnTo>
                <a:lnTo>
                  <a:pt x="231914" y="441198"/>
                </a:lnTo>
                <a:lnTo>
                  <a:pt x="229007" y="377063"/>
                </a:lnTo>
                <a:lnTo>
                  <a:pt x="143941" y="377063"/>
                </a:lnTo>
                <a:lnTo>
                  <a:pt x="111963" y="344931"/>
                </a:lnTo>
                <a:lnTo>
                  <a:pt x="127952" y="216535"/>
                </a:lnTo>
                <a:lnTo>
                  <a:pt x="119951" y="192531"/>
                </a:lnTo>
                <a:lnTo>
                  <a:pt x="127952" y="184530"/>
                </a:lnTo>
                <a:close/>
              </a:path>
              <a:path w="775969" h="730250">
                <a:moveTo>
                  <a:pt x="234136" y="481329"/>
                </a:moveTo>
                <a:lnTo>
                  <a:pt x="159943" y="481329"/>
                </a:lnTo>
                <a:lnTo>
                  <a:pt x="175933" y="729995"/>
                </a:lnTo>
                <a:lnTo>
                  <a:pt x="247904" y="729995"/>
                </a:lnTo>
                <a:lnTo>
                  <a:pt x="234136" y="481329"/>
                </a:lnTo>
                <a:close/>
              </a:path>
              <a:path w="775969" h="730250">
                <a:moveTo>
                  <a:pt x="591781" y="689863"/>
                </a:moveTo>
                <a:lnTo>
                  <a:pt x="343877" y="689863"/>
                </a:lnTo>
                <a:lnTo>
                  <a:pt x="343877" y="729995"/>
                </a:lnTo>
                <a:lnTo>
                  <a:pt x="591781" y="729995"/>
                </a:lnTo>
                <a:lnTo>
                  <a:pt x="591781" y="689863"/>
                </a:lnTo>
                <a:close/>
              </a:path>
              <a:path w="775969" h="730250">
                <a:moveTo>
                  <a:pt x="503821" y="545464"/>
                </a:moveTo>
                <a:lnTo>
                  <a:pt x="431838" y="545464"/>
                </a:lnTo>
                <a:lnTo>
                  <a:pt x="431838" y="673861"/>
                </a:lnTo>
                <a:lnTo>
                  <a:pt x="503821" y="673861"/>
                </a:lnTo>
                <a:lnTo>
                  <a:pt x="503821" y="545464"/>
                </a:lnTo>
                <a:close/>
              </a:path>
              <a:path w="775969" h="730250">
                <a:moveTo>
                  <a:pt x="775716" y="24002"/>
                </a:moveTo>
                <a:lnTo>
                  <a:pt x="271894" y="24002"/>
                </a:lnTo>
                <a:lnTo>
                  <a:pt x="271894" y="72136"/>
                </a:lnTo>
                <a:lnTo>
                  <a:pt x="719734" y="72136"/>
                </a:lnTo>
                <a:lnTo>
                  <a:pt x="719734" y="489330"/>
                </a:lnTo>
                <a:lnTo>
                  <a:pt x="287896" y="489330"/>
                </a:lnTo>
                <a:lnTo>
                  <a:pt x="287896" y="545464"/>
                </a:lnTo>
                <a:lnTo>
                  <a:pt x="775716" y="545464"/>
                </a:lnTo>
                <a:lnTo>
                  <a:pt x="775716" y="24002"/>
                </a:lnTo>
                <a:close/>
              </a:path>
              <a:path w="775969" h="730250">
                <a:moveTo>
                  <a:pt x="457669" y="360933"/>
                </a:moveTo>
                <a:lnTo>
                  <a:pt x="407847" y="360933"/>
                </a:lnTo>
                <a:lnTo>
                  <a:pt x="471830" y="401065"/>
                </a:lnTo>
                <a:lnTo>
                  <a:pt x="487819" y="409066"/>
                </a:lnTo>
                <a:lnTo>
                  <a:pt x="487819" y="393064"/>
                </a:lnTo>
                <a:lnTo>
                  <a:pt x="496789" y="369062"/>
                </a:lnTo>
                <a:lnTo>
                  <a:pt x="471830" y="369062"/>
                </a:lnTo>
                <a:lnTo>
                  <a:pt x="457669" y="360933"/>
                </a:lnTo>
                <a:close/>
              </a:path>
              <a:path w="775969" h="730250">
                <a:moveTo>
                  <a:pt x="407847" y="328929"/>
                </a:moveTo>
                <a:lnTo>
                  <a:pt x="399859" y="336930"/>
                </a:lnTo>
                <a:lnTo>
                  <a:pt x="327875" y="360933"/>
                </a:lnTo>
                <a:lnTo>
                  <a:pt x="335876" y="385063"/>
                </a:lnTo>
                <a:lnTo>
                  <a:pt x="407847" y="360933"/>
                </a:lnTo>
                <a:lnTo>
                  <a:pt x="457669" y="360933"/>
                </a:lnTo>
                <a:lnTo>
                  <a:pt x="415848" y="336930"/>
                </a:lnTo>
                <a:lnTo>
                  <a:pt x="407847" y="328929"/>
                </a:lnTo>
                <a:close/>
              </a:path>
              <a:path w="775969" h="730250">
                <a:moveTo>
                  <a:pt x="239915" y="184530"/>
                </a:moveTo>
                <a:lnTo>
                  <a:pt x="159943" y="184530"/>
                </a:lnTo>
                <a:lnTo>
                  <a:pt x="159943" y="192531"/>
                </a:lnTo>
                <a:lnTo>
                  <a:pt x="151942" y="216535"/>
                </a:lnTo>
                <a:lnTo>
                  <a:pt x="175933" y="344931"/>
                </a:lnTo>
                <a:lnTo>
                  <a:pt x="143941" y="377063"/>
                </a:lnTo>
                <a:lnTo>
                  <a:pt x="229007" y="377063"/>
                </a:lnTo>
                <a:lnTo>
                  <a:pt x="223913" y="264667"/>
                </a:lnTo>
                <a:lnTo>
                  <a:pt x="399859" y="256666"/>
                </a:lnTo>
                <a:lnTo>
                  <a:pt x="439839" y="192531"/>
                </a:lnTo>
                <a:lnTo>
                  <a:pt x="239915" y="184530"/>
                </a:lnTo>
                <a:close/>
              </a:path>
              <a:path w="775969" h="730250">
                <a:moveTo>
                  <a:pt x="527812" y="216535"/>
                </a:moveTo>
                <a:lnTo>
                  <a:pt x="519811" y="232663"/>
                </a:lnTo>
                <a:lnTo>
                  <a:pt x="471830" y="369062"/>
                </a:lnTo>
                <a:lnTo>
                  <a:pt x="496789" y="369062"/>
                </a:lnTo>
                <a:lnTo>
                  <a:pt x="535800" y="264667"/>
                </a:lnTo>
                <a:lnTo>
                  <a:pt x="574063" y="264667"/>
                </a:lnTo>
                <a:lnTo>
                  <a:pt x="535800" y="232663"/>
                </a:lnTo>
                <a:lnTo>
                  <a:pt x="527812" y="216535"/>
                </a:lnTo>
                <a:close/>
              </a:path>
              <a:path w="775969" h="730250">
                <a:moveTo>
                  <a:pt x="574063" y="264667"/>
                </a:moveTo>
                <a:lnTo>
                  <a:pt x="535800" y="264667"/>
                </a:lnTo>
                <a:lnTo>
                  <a:pt x="575792" y="304800"/>
                </a:lnTo>
                <a:lnTo>
                  <a:pt x="583780" y="320928"/>
                </a:lnTo>
                <a:lnTo>
                  <a:pt x="599782" y="304800"/>
                </a:lnTo>
                <a:lnTo>
                  <a:pt x="616805" y="272795"/>
                </a:lnTo>
                <a:lnTo>
                  <a:pt x="583780" y="272795"/>
                </a:lnTo>
                <a:lnTo>
                  <a:pt x="574063" y="264667"/>
                </a:lnTo>
                <a:close/>
              </a:path>
              <a:path w="775969" h="730250">
                <a:moveTo>
                  <a:pt x="647763" y="168401"/>
                </a:moveTo>
                <a:lnTo>
                  <a:pt x="583780" y="272795"/>
                </a:lnTo>
                <a:lnTo>
                  <a:pt x="616805" y="272795"/>
                </a:lnTo>
                <a:lnTo>
                  <a:pt x="663752" y="184530"/>
                </a:lnTo>
                <a:lnTo>
                  <a:pt x="647763" y="1684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238593"/>
          <p:cNvSpPr>
            <a:spLocks noGrp="1"/>
          </p:cNvSpPr>
          <p:nvPr>
            <p:ph type="title"/>
          </p:nvPr>
        </p:nvSpPr>
        <p:spPr>
          <a:xfrm>
            <a:off x="1557973" y="230188"/>
            <a:ext cx="7219950" cy="738505"/>
          </a:xfrm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zh-CN" altLang="en-US" sz="60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目  录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5122" name="文本占位符 238594"/>
          <p:cNvSpPr>
            <a:spLocks noGrp="1"/>
          </p:cNvSpPr>
          <p:nvPr>
            <p:ph idx="1"/>
          </p:nvPr>
        </p:nvSpPr>
        <p:spPr>
          <a:xfrm>
            <a:off x="971550" y="1628775"/>
            <a:ext cx="7696200" cy="4679950"/>
          </a:xfrm>
        </p:spPr>
        <p:txBody>
          <a:bodyPr anchor="t"/>
          <a:lstStyle/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600" b="1" dirty="0">
                <a:latin typeface="宋体" panose="02010600030101010101" pitchFamily="2" charset="-122"/>
              </a:rPr>
              <a:t>第一章   微机基础知识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</a:rPr>
              <a:t>第二章   </a:t>
            </a: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</a:rPr>
              <a:t>单片机的结构和原理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第三章   </a:t>
            </a:r>
            <a:r>
              <a:rPr lang="en-US" altLang="zh-CN" sz="2600" b="1" dirty="0"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latin typeface="宋体" panose="02010600030101010101" pitchFamily="2" charset="-122"/>
              </a:rPr>
              <a:t>指令系统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第四章   汇编语言程序设计知识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第五章   中断系统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第六章   定时器及应用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第七章   </a:t>
            </a:r>
            <a:r>
              <a:rPr lang="en-US" altLang="zh-CN" sz="2600" b="1" dirty="0"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latin typeface="宋体" panose="02010600030101010101" pitchFamily="2" charset="-122"/>
              </a:rPr>
              <a:t>串行口及通信技术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第八章   单片机小系统片外扩展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第九章   应用系统配置及接口技术</a:t>
            </a:r>
            <a:endParaRPr lang="zh-CN" altLang="en-US" sz="2600" b="1">
              <a:latin typeface="宋体" panose="02010600030101010101" pitchFamily="2" charset="-122"/>
            </a:endParaRPr>
          </a:p>
        </p:txBody>
      </p:sp>
      <p:sp>
        <p:nvSpPr>
          <p:cNvPr id="5125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239000" y="6492875"/>
            <a:ext cx="1905000" cy="36512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/>
              <a:t>2</a:t>
            </a:fld>
            <a:endParaRPr lang="zh-CN" altLang="en-US" sz="1400" b="0" dirty="0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矩形 58372"/>
          <p:cNvSpPr/>
          <p:nvPr/>
        </p:nvSpPr>
        <p:spPr>
          <a:xfrm>
            <a:off x="685800" y="1184275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eaLnBrk="0" hangingPunct="0">
              <a:lnSpc>
                <a:spcPct val="140000"/>
              </a:lnSpc>
              <a:buClr>
                <a:srgbClr val="FF7C80"/>
              </a:buClr>
              <a:buFont typeface="Wingdings" panose="05000000000000000000" pitchFamily="2" charset="2"/>
              <a:buChar char="4"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§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2.1	MCS-51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单片机的结构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8377" name="矩形 58376"/>
          <p:cNvSpPr/>
          <p:nvPr/>
        </p:nvSpPr>
        <p:spPr>
          <a:xfrm>
            <a:off x="685800" y="1793875"/>
            <a:ext cx="6478588" cy="690563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eaLnBrk="0" hangingPunct="0">
              <a:lnSpc>
                <a:spcPct val="140000"/>
              </a:lnSpc>
              <a:buClr>
                <a:srgbClr val="FF7C80"/>
              </a:buClr>
              <a:buFont typeface="Wingdings" panose="05000000000000000000" pitchFamily="2" charset="2"/>
              <a:buChar char="4"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§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2.2	MCS-51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单片机引脚及其功能</a:t>
            </a:r>
            <a:endParaRPr lang="zh-CN" altLang="en-US" sz="28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8378" name="矩形 58377"/>
          <p:cNvSpPr/>
          <p:nvPr/>
        </p:nvSpPr>
        <p:spPr>
          <a:xfrm>
            <a:off x="663575" y="2403475"/>
            <a:ext cx="4759325" cy="690563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eaLnBrk="0" hangingPunct="0">
              <a:lnSpc>
                <a:spcPct val="140000"/>
              </a:lnSpc>
              <a:buClr>
                <a:srgbClr val="FF7C80"/>
              </a:buClr>
              <a:buFont typeface="Wingdings" panose="05000000000000000000" pitchFamily="2" charset="2"/>
              <a:buChar char="4"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§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2.3	89C51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存储器配置</a:t>
            </a:r>
            <a:endParaRPr lang="zh-CN" altLang="en-US" sz="28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8379" name="矩形 58378"/>
          <p:cNvSpPr/>
          <p:nvPr/>
        </p:nvSpPr>
        <p:spPr>
          <a:xfrm>
            <a:off x="685800" y="3084513"/>
            <a:ext cx="3455988" cy="690562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eaLnBrk="0" hangingPunct="0">
              <a:lnSpc>
                <a:spcPct val="140000"/>
              </a:lnSpc>
              <a:buClr>
                <a:srgbClr val="FF7C80"/>
              </a:buClr>
              <a:buFont typeface="Wingdings" panose="05000000000000000000" pitchFamily="2" charset="2"/>
              <a:buChar char="4"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§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2.4	CPU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时序</a:t>
            </a:r>
            <a:endParaRPr lang="zh-CN" altLang="en-US" sz="28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8380" name="矩形 58379"/>
          <p:cNvSpPr/>
          <p:nvPr/>
        </p:nvSpPr>
        <p:spPr>
          <a:xfrm>
            <a:off x="685800" y="3770313"/>
            <a:ext cx="4502150" cy="690562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eaLnBrk="0" hangingPunct="0">
              <a:lnSpc>
                <a:spcPct val="140000"/>
              </a:lnSpc>
              <a:buClr>
                <a:srgbClr val="FF7C80"/>
              </a:buClr>
              <a:buFont typeface="Wingdings" panose="05000000000000000000" pitchFamily="2" charset="2"/>
              <a:buChar char="4"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§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2.5	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复位及复位电路</a:t>
            </a:r>
            <a:endParaRPr lang="zh-CN" altLang="en-US" sz="28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8383" name="矩形 58382"/>
          <p:cNvSpPr/>
          <p:nvPr/>
        </p:nvSpPr>
        <p:spPr>
          <a:xfrm>
            <a:off x="685800" y="4551363"/>
            <a:ext cx="6892925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buClr>
                <a:srgbClr val="FF7C80"/>
              </a:buClr>
              <a:buFont typeface="Wingdings" panose="05000000000000000000" pitchFamily="2" charset="2"/>
              <a:buChar char="4"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§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2.6	89C51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单片机的低功耗工作方式</a:t>
            </a:r>
            <a:endParaRPr lang="zh-CN" altLang="en-US" sz="28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176" name="标题 58385"/>
          <p:cNvSpPr>
            <a:spLocks noGrp="1"/>
          </p:cNvSpPr>
          <p:nvPr>
            <p:ph type="title"/>
          </p:nvPr>
        </p:nvSpPr>
        <p:spPr>
          <a:xfrm>
            <a:off x="1344930" y="413385"/>
            <a:ext cx="6008370" cy="368935"/>
          </a:xfrm>
        </p:spPr>
        <p:txBody>
          <a:bodyPr wrap="square" anchor="ctr"/>
          <a:lstStyle/>
          <a:p>
            <a:r>
              <a:rPr lang="zh-CN" altLang="en-US" b="1" dirty="0"/>
              <a:t>第二章 </a:t>
            </a:r>
            <a:r>
              <a:rPr lang="en-US" altLang="zh-CN" b="1" dirty="0"/>
              <a:t>MCS-51</a:t>
            </a:r>
            <a:r>
              <a:rPr lang="zh-CN" altLang="en-US" b="1" dirty="0"/>
              <a:t>单片机的结构和原理</a:t>
            </a:r>
            <a:endParaRPr lang="zh-CN" altLang="en-US"/>
          </a:p>
        </p:txBody>
      </p:sp>
      <p:sp>
        <p:nvSpPr>
          <p:cNvPr id="58387" name="矩形 58386"/>
          <p:cNvSpPr/>
          <p:nvPr/>
        </p:nvSpPr>
        <p:spPr>
          <a:xfrm>
            <a:off x="684213" y="5102225"/>
            <a:ext cx="4956175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buClr>
                <a:srgbClr val="FF7C80"/>
              </a:buClr>
              <a:buFont typeface="Wingdings" panose="05000000000000000000" pitchFamily="2" charset="2"/>
              <a:buChar char="4"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§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2.7	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输出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输入端口结构</a:t>
            </a:r>
            <a:endParaRPr lang="zh-CN" altLang="en-US" sz="28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180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239000" y="6492875"/>
            <a:ext cx="1905000" cy="36512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/>
              <a:t>3</a:t>
            </a:fld>
            <a:endParaRPr lang="zh-CN" altLang="en-US" sz="1400" b="0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8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8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8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8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8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8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8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8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/>
      <p:bldP spid="58377" grpId="0"/>
      <p:bldP spid="58378" grpId="0"/>
      <p:bldP spid="58379" grpId="0"/>
      <p:bldP spid="58380" grpId="0"/>
      <p:bldP spid="5838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1285" y="541655"/>
            <a:ext cx="406209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8770" algn="l"/>
              </a:tabLst>
            </a:pPr>
            <a:r>
              <a:rPr lang="en-US" sz="2000" b="1" spc="155" dirty="0">
                <a:latin typeface="Microsoft JhengHei" panose="020B0604030504040204" charset="-120"/>
                <a:cs typeface="Microsoft JhengHei" panose="020B0604030504040204" charset="-120"/>
              </a:rPr>
              <a:t>2.1.1</a:t>
            </a:r>
            <a:r>
              <a:rPr sz="2400" b="1" spc="155" dirty="0">
                <a:latin typeface="Microsoft JhengHei" panose="020B0604030504040204" charset="-120"/>
                <a:cs typeface="Microsoft JhengHei" panose="020B0604030504040204" charset="-120"/>
              </a:rPr>
              <a:t>	</a:t>
            </a:r>
            <a:r>
              <a:rPr sz="2000" b="1" spc="-215" dirty="0">
                <a:latin typeface="Microsoft JhengHei" panose="020B0604030504040204" charset="-120"/>
                <a:cs typeface="Microsoft JhengHei" panose="020B0604030504040204" charset="-120"/>
              </a:rPr>
              <a:t>89</a:t>
            </a:r>
            <a:r>
              <a:rPr lang="en-US" sz="2000" b="1" spc="-215" dirty="0">
                <a:latin typeface="Microsoft JhengHei" panose="020B0604030504040204" charset="-120"/>
                <a:cs typeface="Microsoft JhengHei" panose="020B0604030504040204" charset="-120"/>
              </a:rPr>
              <a:t>C</a:t>
            </a:r>
            <a:r>
              <a:rPr sz="2000" b="1" spc="-215" dirty="0">
                <a:latin typeface="Microsoft JhengHei" panose="020B0604030504040204" charset="-120"/>
                <a:cs typeface="Microsoft JhengHei" panose="020B0604030504040204" charset="-120"/>
              </a:rPr>
              <a:t>51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单片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机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lang="zh-CN"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基本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组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成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1965" y="1131570"/>
            <a:ext cx="4609465" cy="1151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10" dirty="0">
                <a:latin typeface="Microsoft JhengHei" panose="020B0604030504040204" charset="-120"/>
                <a:cs typeface="Microsoft JhengHei" panose="020B0604030504040204" charset="-120"/>
              </a:rPr>
              <a:t>AT89S51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单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片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机硬件结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构见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下图。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把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控制应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用所必</a:t>
            </a: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需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的基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本功能</a:t>
            </a: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部</a:t>
            </a:r>
            <a:r>
              <a:rPr sz="2000" b="1" spc="3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件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集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成在一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个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电路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芯片上。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1285" y="6199123"/>
            <a:ext cx="18313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AT89S51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片内组成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12866" y="733044"/>
            <a:ext cx="2921507" cy="1510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pic>
        <p:nvPicPr>
          <p:cNvPr id="9" name="图片 8" descr="微信图片_202002041553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85" y="2242820"/>
            <a:ext cx="5363845" cy="4256405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1351915" y="137160"/>
            <a:ext cx="4793615" cy="368935"/>
          </a:xfrm>
        </p:spPr>
        <p:txBody>
          <a:bodyPr wrap="square"/>
          <a:lstStyle/>
          <a:p>
            <a:r>
              <a:rPr lang="en-US" spc="-254" dirty="0">
                <a:sym typeface="+mn-ea"/>
              </a:rPr>
              <a:t>2.1 </a:t>
            </a:r>
            <a:r>
              <a:rPr spc="-254" dirty="0">
                <a:sym typeface="+mn-ea"/>
              </a:rPr>
              <a:t>89</a:t>
            </a:r>
            <a:r>
              <a:rPr lang="en-US" spc="-254" dirty="0">
                <a:sym typeface="+mn-ea"/>
              </a:rPr>
              <a:t>C</a:t>
            </a:r>
            <a:r>
              <a:rPr spc="-254" dirty="0">
                <a:sym typeface="+mn-ea"/>
              </a:rPr>
              <a:t>51</a:t>
            </a:r>
            <a:r>
              <a:rPr spc="5" dirty="0">
                <a:sym typeface="+mn-ea"/>
              </a:rPr>
              <a:t>单片机的</a:t>
            </a:r>
            <a:r>
              <a:rPr lang="zh-CN" spc="5" dirty="0">
                <a:sym typeface="+mn-ea"/>
              </a:rPr>
              <a:t>内部结构及特点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4800" y="1143000"/>
            <a:ext cx="6811645" cy="45582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片内功能</a:t>
            </a:r>
            <a:r>
              <a:rPr sz="160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部件</a:t>
            </a:r>
            <a:r>
              <a:rPr sz="1600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组成</a:t>
            </a:r>
            <a:r>
              <a:rPr sz="160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endParaRPr sz="16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600" kern="0" dirty="0">
                <a:solidFill>
                  <a:schemeClr val="tx1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（1）8位微处理器（CPU）；</a:t>
            </a:r>
          </a:p>
          <a:p>
            <a:pPr marL="12065" indent="0">
              <a:lnSpc>
                <a:spcPct val="100000"/>
              </a:lnSpc>
              <a:spcBef>
                <a:spcPts val="1680"/>
              </a:spcBef>
              <a:buSzPct val="95000"/>
              <a:buNone/>
              <a:tabLst>
                <a:tab pos="652780" algn="l"/>
                <a:tab pos="2828290" algn="l"/>
              </a:tabLst>
            </a:pPr>
            <a:r>
              <a:rPr sz="1600" kern="0" dirty="0">
                <a:uFillTx/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（</a:t>
            </a:r>
            <a:r>
              <a:rPr lang="en-US" sz="1600" kern="0" dirty="0">
                <a:uFillTx/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2</a:t>
            </a:r>
            <a:r>
              <a:rPr sz="1600" kern="0" dirty="0">
                <a:uFillTx/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）</a:t>
            </a:r>
            <a:r>
              <a:rPr sz="1600" kern="0" dirty="0">
                <a:solidFill>
                  <a:schemeClr val="tx1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数据存储器（128B</a:t>
            </a:r>
            <a:r>
              <a:rPr lang="en-US" altLang="zh-CN" sz="1600" kern="0" dirty="0">
                <a:solidFill>
                  <a:schemeClr val="tx1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/256B</a:t>
            </a:r>
            <a:r>
              <a:rPr sz="1600" kern="0" dirty="0">
                <a:solidFill>
                  <a:schemeClr val="tx1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  RAM）；</a:t>
            </a:r>
          </a:p>
          <a:p>
            <a:pPr marL="12065" indent="0">
              <a:lnSpc>
                <a:spcPct val="100000"/>
              </a:lnSpc>
              <a:spcBef>
                <a:spcPts val="1680"/>
              </a:spcBef>
              <a:buSzPct val="95000"/>
              <a:buNone/>
              <a:tabLst>
                <a:tab pos="652780" algn="l"/>
                <a:tab pos="2700020" algn="l"/>
                <a:tab pos="3470910" algn="l"/>
              </a:tabLst>
            </a:pPr>
            <a:r>
              <a:rPr sz="1600" kern="0" dirty="0">
                <a:uFillTx/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（</a:t>
            </a:r>
            <a:r>
              <a:rPr lang="en-US" sz="1600" kern="0" dirty="0">
                <a:uFillTx/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3</a:t>
            </a:r>
            <a:r>
              <a:rPr sz="1600" kern="0" dirty="0">
                <a:uFillTx/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）</a:t>
            </a:r>
            <a:r>
              <a:rPr sz="1600" kern="0" dirty="0">
                <a:solidFill>
                  <a:schemeClr val="tx1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程序存储器（4KB	Flash	ROM）；</a:t>
            </a: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600" kern="0" dirty="0">
                <a:solidFill>
                  <a:schemeClr val="tx1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（4）4个8位并行I/O口（P0口~P3口）</a:t>
            </a:r>
            <a:r>
              <a:rPr lang="zh-CN" sz="1600" kern="0" dirty="0">
                <a:solidFill>
                  <a:schemeClr val="tx1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600" kern="0" dirty="0">
              <a:solidFill>
                <a:schemeClr val="tx1"/>
              </a:solidFill>
              <a:uFillTx/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1600" kern="0" dirty="0">
                <a:solidFill>
                  <a:schemeClr val="tx1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（5）1个全双工异步串口；</a:t>
            </a: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600" spc="-9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（6）2</a:t>
            </a:r>
            <a:r>
              <a:rPr sz="1600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个</a:t>
            </a:r>
            <a:r>
              <a:rPr sz="1600" spc="-18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16</a:t>
            </a:r>
            <a:r>
              <a:rPr sz="160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位</a:t>
            </a:r>
            <a:r>
              <a:rPr sz="1600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定时</a:t>
            </a:r>
            <a:r>
              <a:rPr sz="1600" spc="15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器</a:t>
            </a:r>
            <a:r>
              <a:rPr sz="1600" spc="12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/</a:t>
            </a:r>
            <a:r>
              <a:rPr sz="1600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计</a:t>
            </a:r>
            <a:r>
              <a:rPr sz="160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数</a:t>
            </a:r>
            <a:r>
              <a:rPr sz="1600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器</a:t>
            </a:r>
            <a:r>
              <a:rPr sz="160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；</a:t>
            </a:r>
            <a:endParaRPr sz="16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600" spc="-9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（7）</a:t>
            </a:r>
            <a:r>
              <a:rPr lang="zh-CN" sz="1600" spc="-9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片内振荡器和时钟产生的线路，最高</a:t>
            </a:r>
            <a:r>
              <a:rPr lang="en-US" altLang="zh-CN" sz="1600" spc="-9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24MHz</a:t>
            </a:r>
            <a:r>
              <a:rPr sz="1600" spc="5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；</a:t>
            </a:r>
            <a:endParaRPr sz="1600" spc="5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lang="zh-CN" sz="1600" spc="5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（</a:t>
            </a:r>
            <a:r>
              <a:rPr lang="en-US" altLang="zh-CN" sz="1600" spc="5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8</a:t>
            </a:r>
            <a:r>
              <a:rPr lang="zh-CN" sz="1600" spc="5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）</a:t>
            </a:r>
            <a:r>
              <a:rPr sz="1600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中断</a:t>
            </a:r>
            <a:r>
              <a:rPr sz="160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系</a:t>
            </a:r>
            <a:r>
              <a:rPr sz="1600" spc="2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统</a:t>
            </a:r>
            <a:r>
              <a:rPr sz="1600" spc="-9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：5</a:t>
            </a:r>
            <a:r>
              <a:rPr sz="1600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个中</a:t>
            </a:r>
            <a:r>
              <a:rPr sz="160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断</a:t>
            </a:r>
            <a:r>
              <a:rPr sz="1600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源</a:t>
            </a:r>
            <a:r>
              <a:rPr sz="1600" spc="15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、</a:t>
            </a:r>
            <a:r>
              <a:rPr sz="1600" spc="-185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5</a:t>
            </a:r>
            <a:r>
              <a:rPr sz="1600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个中</a:t>
            </a:r>
            <a:r>
              <a:rPr sz="160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断</a:t>
            </a:r>
            <a:r>
              <a:rPr sz="1600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向量</a:t>
            </a:r>
            <a:r>
              <a:rPr sz="160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；</a:t>
            </a:r>
            <a:endParaRPr sz="16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lang="zh-CN" sz="160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（</a:t>
            </a:r>
            <a:r>
              <a:rPr lang="en-US" altLang="zh-CN" sz="160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9</a:t>
            </a:r>
            <a:r>
              <a:rPr lang="zh-CN" sz="160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）节电工作方式</a:t>
            </a:r>
            <a:r>
              <a:rPr lang="zh-CN" sz="1600" dirty="0" smtClean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：</a:t>
            </a:r>
            <a:r>
              <a:rPr lang="zh-CN" altLang="en-US" sz="1600" dirty="0" smtClean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空</a:t>
            </a:r>
            <a:r>
              <a:rPr lang="zh-CN" sz="1600" dirty="0" smtClean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闲</a:t>
            </a:r>
            <a:r>
              <a:rPr lang="zh-CN" sz="160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方式及掉电方式。</a:t>
            </a:r>
            <a:endParaRPr sz="1600" kern="0" dirty="0">
              <a:solidFill>
                <a:schemeClr val="tx1"/>
              </a:solidFill>
              <a:uFillTx/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pic>
        <p:nvPicPr>
          <p:cNvPr id="9" name="图片 8" descr="微信图片_202002041553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295400"/>
            <a:ext cx="4648200" cy="3803015"/>
          </a:xfrm>
          <a:prstGeom prst="rect">
            <a:avLst/>
          </a:prstGeom>
        </p:spPr>
      </p:pic>
      <p:sp>
        <p:nvSpPr>
          <p:cNvPr id="7" name="object 3"/>
          <p:cNvSpPr txBox="1"/>
          <p:nvPr/>
        </p:nvSpPr>
        <p:spPr>
          <a:xfrm>
            <a:off x="1557020" y="539750"/>
            <a:ext cx="406209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8770" algn="l"/>
              </a:tabLst>
            </a:pPr>
            <a:r>
              <a:rPr lang="en-US" sz="2000" b="1" spc="155" dirty="0">
                <a:latin typeface="Microsoft JhengHei" panose="020B0604030504040204" charset="-120"/>
                <a:cs typeface="Microsoft JhengHei" panose="020B0604030504040204" charset="-120"/>
              </a:rPr>
              <a:t>2.1.1</a:t>
            </a:r>
            <a:r>
              <a:rPr sz="2400" b="1" spc="155" dirty="0">
                <a:latin typeface="Microsoft JhengHei" panose="020B0604030504040204" charset="-120"/>
                <a:cs typeface="Microsoft JhengHei" panose="020B0604030504040204" charset="-120"/>
              </a:rPr>
              <a:t>	</a:t>
            </a:r>
            <a:r>
              <a:rPr sz="2000" b="1" spc="-215" dirty="0">
                <a:latin typeface="Microsoft JhengHei" panose="020B0604030504040204" charset="-120"/>
                <a:cs typeface="Microsoft JhengHei" panose="020B0604030504040204" charset="-120"/>
              </a:rPr>
              <a:t>89</a:t>
            </a:r>
            <a:r>
              <a:rPr lang="en-US" sz="2000" b="1" spc="-215" dirty="0">
                <a:latin typeface="Microsoft JhengHei" panose="020B0604030504040204" charset="-120"/>
                <a:cs typeface="Microsoft JhengHei" panose="020B0604030504040204" charset="-120"/>
              </a:rPr>
              <a:t>C</a:t>
            </a:r>
            <a:r>
              <a:rPr sz="2000" b="1" spc="-215" dirty="0">
                <a:latin typeface="Microsoft JhengHei" panose="020B0604030504040204" charset="-120"/>
                <a:cs typeface="Microsoft JhengHei" panose="020B0604030504040204" charset="-120"/>
              </a:rPr>
              <a:t>51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单片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机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lang="zh-CN"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基本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组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成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标题 10"/>
          <p:cNvSpPr/>
          <p:nvPr/>
        </p:nvSpPr>
        <p:spPr>
          <a:xfrm>
            <a:off x="1477010" y="131445"/>
            <a:ext cx="4793615" cy="36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r>
              <a:rPr lang="en-US" spc="-254" dirty="0">
                <a:sym typeface="+mn-ea"/>
              </a:rPr>
              <a:t>2.1 </a:t>
            </a:r>
            <a:r>
              <a:rPr spc="-254" dirty="0">
                <a:sym typeface="+mn-ea"/>
              </a:rPr>
              <a:t>89</a:t>
            </a:r>
            <a:r>
              <a:rPr lang="en-US" spc="-254" dirty="0">
                <a:sym typeface="+mn-ea"/>
              </a:rPr>
              <a:t>C</a:t>
            </a:r>
            <a:r>
              <a:rPr spc="-254" dirty="0">
                <a:sym typeface="+mn-ea"/>
              </a:rPr>
              <a:t>51</a:t>
            </a:r>
            <a:r>
              <a:rPr spc="5" dirty="0">
                <a:sym typeface="+mn-ea"/>
              </a:rPr>
              <a:t>单片机的</a:t>
            </a:r>
            <a:r>
              <a:rPr lang="zh-CN" spc="5" dirty="0">
                <a:sym typeface="+mn-ea"/>
              </a:rPr>
              <a:t>内部结构及特点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8890" y="129540"/>
            <a:ext cx="466407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54" dirty="0"/>
              <a:t>2.1 </a:t>
            </a:r>
            <a:r>
              <a:rPr spc="-254" dirty="0"/>
              <a:t>89</a:t>
            </a:r>
            <a:r>
              <a:rPr lang="en-US" spc="-254" dirty="0"/>
              <a:t>C</a:t>
            </a:r>
            <a:r>
              <a:rPr spc="-254" dirty="0"/>
              <a:t>51</a:t>
            </a:r>
            <a:r>
              <a:rPr spc="5" dirty="0"/>
              <a:t>单片机的</a:t>
            </a:r>
            <a:r>
              <a:rPr lang="zh-CN" spc="5" dirty="0"/>
              <a:t>内部结构及特点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1945" y="541655"/>
            <a:ext cx="3861435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8770" algn="l"/>
              </a:tabLst>
            </a:pPr>
            <a:r>
              <a:rPr lang="en-US" b="1" spc="155" dirty="0">
                <a:latin typeface="Microsoft JhengHei" panose="020B0604030504040204" charset="-120"/>
                <a:cs typeface="Microsoft JhengHei" panose="020B0604030504040204" charset="-120"/>
              </a:rPr>
              <a:t>2.1.2</a:t>
            </a:r>
            <a:r>
              <a:rPr sz="2000" b="1" spc="-215" dirty="0">
                <a:latin typeface="Microsoft JhengHei" panose="020B0604030504040204" charset="-120"/>
                <a:cs typeface="Microsoft JhengHei" panose="020B0604030504040204" charset="-120"/>
              </a:rPr>
              <a:t>AT89S51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单片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机</a:t>
            </a:r>
            <a:r>
              <a:rPr lang="zh-CN"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内部结构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6629400" y="129794"/>
            <a:ext cx="2293238" cy="9370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图片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838065" y="69633"/>
            <a:ext cx="5803787" cy="76511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文本框 151557"/>
          <p:cNvSpPr txBox="1"/>
          <p:nvPr/>
        </p:nvSpPr>
        <p:spPr>
          <a:xfrm>
            <a:off x="822325" y="-2286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/>
          <a:p>
            <a:pPr algn="ctr"/>
            <a:endParaRPr lang="zh-CN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45065" name="图片 151568" descr="E:\单片机\北航\0203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24000"/>
            <a:ext cx="7923213" cy="4413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8100" y="487045"/>
            <a:ext cx="466407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54" dirty="0"/>
              <a:t>2.2 </a:t>
            </a:r>
            <a:r>
              <a:rPr spc="-254" dirty="0"/>
              <a:t>89</a:t>
            </a:r>
            <a:r>
              <a:rPr lang="en-US" spc="-254" dirty="0"/>
              <a:t>C</a:t>
            </a:r>
            <a:r>
              <a:rPr spc="-254" dirty="0"/>
              <a:t>51</a:t>
            </a:r>
            <a:r>
              <a:rPr spc="5" dirty="0"/>
              <a:t>单片机的</a:t>
            </a:r>
            <a:r>
              <a:rPr lang="zh-CN" spc="5" dirty="0"/>
              <a:t>引脚及功能</a:t>
            </a:r>
            <a:endParaRPr lang="zh-CN" altLang="zh-CN" spc="5" dirty="0"/>
          </a:p>
        </p:txBody>
      </p:sp>
      <p:sp>
        <p:nvSpPr>
          <p:cNvPr id="7" name="object 7"/>
          <p:cNvSpPr/>
          <p:nvPr/>
        </p:nvSpPr>
        <p:spPr>
          <a:xfrm>
            <a:off x="6001131" y="129794"/>
            <a:ext cx="2921507" cy="15102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31747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1143000"/>
          </a:xfrm>
        </p:spPr>
        <p:txBody>
          <a:bodyPr anchor="ctr"/>
          <a:lstStyle/>
          <a:p>
            <a:r>
              <a:rPr lang="zh-CN" altLang="en-US" b="1" dirty="0"/>
              <a:t>§</a:t>
            </a:r>
            <a:r>
              <a:rPr lang="en-US" altLang="zh-CN" b="1" dirty="0"/>
              <a:t>2.2.2   89C51</a:t>
            </a:r>
            <a:r>
              <a:rPr lang="zh-CN" altLang="en-US" b="1" dirty="0"/>
              <a:t>单片机引脚功能</a:t>
            </a:r>
            <a:endParaRPr lang="zh-CN" altLang="en-US"/>
          </a:p>
        </p:txBody>
      </p:sp>
      <p:sp>
        <p:nvSpPr>
          <p:cNvPr id="46082" name="文本占位符 31748"/>
          <p:cNvSpPr>
            <a:spLocks noGrp="1"/>
          </p:cNvSpPr>
          <p:nvPr>
            <p:ph idx="1"/>
          </p:nvPr>
        </p:nvSpPr>
        <p:spPr>
          <a:xfrm>
            <a:off x="685800" y="1981200"/>
            <a:ext cx="8458200" cy="1438275"/>
          </a:xfrm>
        </p:spPr>
        <p:txBody>
          <a:bodyPr anchor="t"/>
          <a:lstStyle/>
          <a:p>
            <a:pPr>
              <a:lnSpc>
                <a:spcPct val="130000"/>
              </a:lnSpc>
            </a:pPr>
            <a:r>
              <a:rPr lang="zh-CN" altLang="en-US" b="1" dirty="0"/>
              <a:t>一、电源引脚：</a:t>
            </a:r>
            <a:r>
              <a:rPr lang="en-US" altLang="zh-CN" b="1" dirty="0" err="1"/>
              <a:t>Vcc</a:t>
            </a:r>
            <a:r>
              <a:rPr lang="zh-CN" altLang="en-US" b="1" dirty="0"/>
              <a:t>和</a:t>
            </a:r>
            <a:r>
              <a:rPr lang="en-US" altLang="zh-CN" b="1" dirty="0"/>
              <a:t>GND</a:t>
            </a:r>
          </a:p>
          <a:p>
            <a:pPr>
              <a:lnSpc>
                <a:spcPct val="130000"/>
              </a:lnSpc>
            </a:pPr>
            <a:r>
              <a:rPr lang="zh-CN" altLang="en-US" b="1" dirty="0"/>
              <a:t>二、时钟电路引脚：</a:t>
            </a:r>
            <a:r>
              <a:rPr lang="en-US" altLang="zh-CN" b="1" dirty="0"/>
              <a:t>XTAL1</a:t>
            </a:r>
            <a:r>
              <a:rPr lang="zh-CN" altLang="en-US" b="1" dirty="0"/>
              <a:t>和</a:t>
            </a:r>
            <a:r>
              <a:rPr lang="en-US" altLang="zh-CN" b="1" dirty="0"/>
              <a:t>XTAL2</a:t>
            </a:r>
          </a:p>
          <a:p>
            <a:pPr>
              <a:lnSpc>
                <a:spcPct val="130000"/>
              </a:lnSpc>
            </a:pPr>
            <a:r>
              <a:rPr lang="zh-CN" altLang="en-US" b="1" dirty="0"/>
              <a:t>三、控制信号引脚</a:t>
            </a:r>
            <a:r>
              <a:rPr lang="en-US" altLang="zh-CN" b="1" dirty="0"/>
              <a:t>RST</a:t>
            </a:r>
            <a:r>
              <a:rPr lang="zh-CN" altLang="en-US" b="1" dirty="0"/>
              <a:t>、</a:t>
            </a:r>
            <a:r>
              <a:rPr lang="en-US" altLang="zh-CN" b="1" dirty="0"/>
              <a:t>ALE</a:t>
            </a:r>
            <a:r>
              <a:rPr lang="zh-CN" altLang="en-US" b="1" dirty="0"/>
              <a:t>、</a:t>
            </a:r>
            <a:r>
              <a:rPr lang="en-US" altLang="zh-CN" b="1" dirty="0"/>
              <a:t>PSEN</a:t>
            </a:r>
            <a:r>
              <a:rPr lang="zh-CN" altLang="en-US" b="1" dirty="0"/>
              <a:t>和</a:t>
            </a:r>
            <a:r>
              <a:rPr lang="en-US" altLang="zh-CN" b="1" dirty="0"/>
              <a:t>EA</a:t>
            </a:r>
          </a:p>
          <a:p>
            <a:pPr>
              <a:lnSpc>
                <a:spcPct val="130000"/>
              </a:lnSpc>
            </a:pPr>
            <a:r>
              <a:rPr lang="zh-CN" altLang="en-US" b="1" dirty="0"/>
              <a:t>四、</a:t>
            </a:r>
            <a:r>
              <a:rPr lang="en-US" altLang="zh-CN" b="1" dirty="0"/>
              <a:t>I/O</a:t>
            </a:r>
            <a:r>
              <a:rPr lang="zh-CN" altLang="en-US" b="1" dirty="0"/>
              <a:t>端口</a:t>
            </a:r>
            <a:r>
              <a:rPr lang="en-US" altLang="zh-CN" b="1" dirty="0"/>
              <a:t>P0</a:t>
            </a:r>
            <a:r>
              <a:rPr lang="zh-CN" altLang="en-US" b="1" dirty="0"/>
              <a:t>、</a:t>
            </a:r>
            <a:r>
              <a:rPr lang="en-US" altLang="zh-CN" b="1" dirty="0"/>
              <a:t>P1</a:t>
            </a:r>
            <a:r>
              <a:rPr lang="zh-CN" altLang="en-US" b="1" dirty="0"/>
              <a:t>、</a:t>
            </a:r>
            <a:r>
              <a:rPr lang="en-US" altLang="zh-CN" b="1" dirty="0"/>
              <a:t>P2</a:t>
            </a:r>
            <a:r>
              <a:rPr lang="zh-CN" altLang="en-US" b="1" dirty="0"/>
              <a:t>和</a:t>
            </a:r>
            <a:r>
              <a:rPr lang="en-US" altLang="zh-CN" b="1" dirty="0"/>
              <a:t>P3</a:t>
            </a:r>
          </a:p>
        </p:txBody>
      </p:sp>
      <p:sp>
        <p:nvSpPr>
          <p:cNvPr id="46087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696325" y="6583680"/>
            <a:ext cx="373380" cy="237490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/>
              <a:t>8</a:t>
            </a:fld>
            <a:endParaRPr lang="zh-CN" altLang="en-US" sz="1400" b="0" dirty="0"/>
          </a:p>
        </p:txBody>
      </p:sp>
      <p:pic>
        <p:nvPicPr>
          <p:cNvPr id="45065" name="图片 151568" descr="E:\单片机\北航\0203.tif"/>
          <p:cNvPicPr>
            <a:picLocks noChangeAspect="1"/>
          </p:cNvPicPr>
          <p:nvPr/>
        </p:nvPicPr>
        <p:blipFill>
          <a:blip r:embed="rId3"/>
          <a:srcRect l="62670" t="-2417"/>
          <a:stretch>
            <a:fillRect/>
          </a:stretch>
        </p:blipFill>
        <p:spPr>
          <a:xfrm>
            <a:off x="4948427" y="1066800"/>
            <a:ext cx="3747897" cy="57272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4513351" y="2819400"/>
            <a:ext cx="216000" cy="3699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733800" y="2819400"/>
            <a:ext cx="5040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标题 206849"/>
          <p:cNvSpPr>
            <a:spLocks noGrp="1"/>
          </p:cNvSpPr>
          <p:nvPr>
            <p:ph type="title"/>
          </p:nvPr>
        </p:nvSpPr>
        <p:spPr>
          <a:xfrm>
            <a:off x="1420495" y="403225"/>
            <a:ext cx="5132070" cy="368935"/>
          </a:xfrm>
        </p:spPr>
        <p:txBody>
          <a:bodyPr wrap="square" anchor="ctr"/>
          <a:lstStyle/>
          <a:p>
            <a:pPr algn="just"/>
            <a:r>
              <a:rPr lang="en-US" altLang="zh-CN" b="1" dirty="0">
                <a:sym typeface="EuroRoman" panose="00000400000000000000" pitchFamily="2" charset="2"/>
              </a:rPr>
              <a:t>4. I/O</a:t>
            </a:r>
            <a:r>
              <a:rPr lang="zh-CN" altLang="en-US" b="1" dirty="0">
                <a:sym typeface="EuroRoman" panose="00000400000000000000" pitchFamily="2" charset="2"/>
              </a:rPr>
              <a:t>端口</a:t>
            </a:r>
            <a:r>
              <a:rPr lang="en-US" altLang="zh-CN" b="1" dirty="0">
                <a:sym typeface="EuroRoman" panose="00000400000000000000" pitchFamily="2" charset="2"/>
              </a:rPr>
              <a:t>P</a:t>
            </a:r>
            <a:r>
              <a:rPr lang="en-US" altLang="zh-CN" b="1" baseline="-25000" dirty="0">
                <a:sym typeface="EuroRoman" panose="00000400000000000000" pitchFamily="2" charset="2"/>
              </a:rPr>
              <a:t>0</a:t>
            </a:r>
            <a:r>
              <a:rPr lang="en-US" altLang="zh-CN" b="1" dirty="0">
                <a:sym typeface="EuroRoman" panose="00000400000000000000" pitchFamily="2" charset="2"/>
              </a:rPr>
              <a:t> P</a:t>
            </a:r>
            <a:r>
              <a:rPr lang="en-US" altLang="zh-CN" b="1" baseline="-25000" dirty="0">
                <a:sym typeface="EuroRoman" panose="00000400000000000000" pitchFamily="2" charset="2"/>
              </a:rPr>
              <a:t>1</a:t>
            </a:r>
            <a:r>
              <a:rPr lang="en-US" altLang="zh-CN" b="1" dirty="0">
                <a:sym typeface="EuroRoman" panose="00000400000000000000" pitchFamily="2" charset="2"/>
              </a:rPr>
              <a:t> P</a:t>
            </a:r>
            <a:r>
              <a:rPr lang="en-US" altLang="zh-CN" b="1" baseline="-25000" dirty="0">
                <a:sym typeface="EuroRoman" panose="00000400000000000000" pitchFamily="2" charset="2"/>
              </a:rPr>
              <a:t>2</a:t>
            </a:r>
            <a:r>
              <a:rPr lang="en-US" altLang="zh-CN" b="1" dirty="0">
                <a:sym typeface="EuroRoman" panose="00000400000000000000" pitchFamily="2" charset="2"/>
              </a:rPr>
              <a:t> P</a:t>
            </a:r>
            <a:r>
              <a:rPr lang="en-US" altLang="zh-CN" b="1" baseline="-25000" dirty="0">
                <a:sym typeface="EuroRoman" panose="00000400000000000000" pitchFamily="2" charset="2"/>
              </a:rPr>
              <a:t>3</a:t>
            </a:r>
            <a:endParaRPr lang="en-US" altLang="zh-CN" baseline="-25000" dirty="0">
              <a:sym typeface="EuroRoman" panose="00000400000000000000" pitchFamily="2" charset="2"/>
            </a:endParaRPr>
          </a:p>
        </p:txBody>
      </p:sp>
      <p:sp>
        <p:nvSpPr>
          <p:cNvPr id="57347" name="文本占位符 206851"/>
          <p:cNvSpPr>
            <a:spLocks noGrp="1"/>
          </p:cNvSpPr>
          <p:nvPr>
            <p:ph idx="1"/>
          </p:nvPr>
        </p:nvSpPr>
        <p:spPr>
          <a:xfrm>
            <a:off x="602615" y="1213485"/>
            <a:ext cx="8229600" cy="3962400"/>
          </a:xfrm>
          <a:noFill/>
        </p:spPr>
        <p:txBody>
          <a:bodyPr anchor="t"/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9900FF"/>
                </a:solidFill>
              </a:rPr>
              <a:t>1</a:t>
            </a:r>
            <a:r>
              <a:rPr lang="zh-CN" altLang="en-US" sz="2400" b="1" dirty="0">
                <a:solidFill>
                  <a:srgbClr val="9900FF"/>
                </a:solidFill>
              </a:rPr>
              <a:t>．</a:t>
            </a:r>
            <a:r>
              <a:rPr lang="en-US" altLang="zh-CN" sz="2400" b="1" dirty="0">
                <a:solidFill>
                  <a:srgbClr val="9900FF"/>
                </a:solidFill>
              </a:rPr>
              <a:t>89C51</a:t>
            </a:r>
            <a:r>
              <a:rPr lang="zh-CN" altLang="en-US" sz="2400" b="1" dirty="0">
                <a:solidFill>
                  <a:srgbClr val="9900FF"/>
                </a:solidFill>
              </a:rPr>
              <a:t>单片机有四个</a:t>
            </a:r>
            <a:r>
              <a:rPr lang="en-US" altLang="zh-CN" sz="2400" b="1" dirty="0">
                <a:solidFill>
                  <a:srgbClr val="9900FF"/>
                </a:solidFill>
              </a:rPr>
              <a:t>8</a:t>
            </a:r>
            <a:r>
              <a:rPr lang="zh-CN" altLang="en-US" sz="2400" b="1" dirty="0">
                <a:solidFill>
                  <a:srgbClr val="9900FF"/>
                </a:solidFill>
              </a:rPr>
              <a:t>位并行</a:t>
            </a:r>
            <a:r>
              <a:rPr lang="en-US" altLang="zh-CN" sz="2400" b="1" dirty="0">
                <a:solidFill>
                  <a:srgbClr val="9900FF"/>
                </a:solidFill>
              </a:rPr>
              <a:t>I/O</a:t>
            </a:r>
            <a:r>
              <a:rPr lang="zh-CN" altLang="en-US" sz="2400" b="1" dirty="0">
                <a:solidFill>
                  <a:srgbClr val="9900FF"/>
                </a:solidFill>
              </a:rPr>
              <a:t>端口：</a:t>
            </a:r>
            <a:r>
              <a:rPr lang="en-US" altLang="zh-CN" sz="2400" b="1">
                <a:solidFill>
                  <a:srgbClr val="9900FF"/>
                </a:solidFill>
              </a:rPr>
              <a:t>P0</a:t>
            </a:r>
            <a:r>
              <a:rPr lang="zh-CN" altLang="en-US" sz="2400" b="1">
                <a:solidFill>
                  <a:srgbClr val="9900FF"/>
                </a:solidFill>
              </a:rPr>
              <a:t>、</a:t>
            </a:r>
            <a:r>
              <a:rPr lang="en-US" altLang="zh-CN" sz="2400" b="1">
                <a:solidFill>
                  <a:srgbClr val="9900FF"/>
                </a:solidFill>
              </a:rPr>
              <a:t>P1</a:t>
            </a:r>
            <a:r>
              <a:rPr lang="zh-CN" altLang="en-US" sz="2400" b="1">
                <a:solidFill>
                  <a:srgbClr val="9900FF"/>
                </a:solidFill>
              </a:rPr>
              <a:t>、</a:t>
            </a:r>
            <a:r>
              <a:rPr lang="en-US" altLang="zh-CN" sz="2400" b="1">
                <a:solidFill>
                  <a:srgbClr val="9900FF"/>
                </a:solidFill>
              </a:rPr>
              <a:t>P2</a:t>
            </a:r>
            <a:r>
              <a:rPr lang="zh-CN" altLang="en-US" sz="2400" b="1">
                <a:solidFill>
                  <a:srgbClr val="9900FF"/>
                </a:solidFill>
              </a:rPr>
              <a:t>和</a:t>
            </a:r>
            <a:r>
              <a:rPr lang="en-US" altLang="zh-CN" sz="2400" b="1">
                <a:solidFill>
                  <a:srgbClr val="9900FF"/>
                </a:solidFill>
              </a:rPr>
              <a:t>P3</a:t>
            </a:r>
            <a:r>
              <a:rPr lang="zh-CN" altLang="en-US" sz="2400" b="1">
                <a:solidFill>
                  <a:srgbClr val="9900FF"/>
                </a:solidFill>
              </a:rPr>
              <a:t>。</a:t>
            </a:r>
            <a:endParaRPr lang="zh-CN" altLang="en-US" sz="2400" b="1"/>
          </a:p>
          <a:p>
            <a:pPr algn="just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009900"/>
                </a:solidFill>
              </a:rPr>
              <a:t>2</a:t>
            </a:r>
            <a:r>
              <a:rPr lang="zh-CN" altLang="en-US" sz="2400" b="1" dirty="0">
                <a:solidFill>
                  <a:srgbClr val="009900"/>
                </a:solidFill>
              </a:rPr>
              <a:t>．每个端口都是</a:t>
            </a:r>
            <a:r>
              <a:rPr lang="en-US" altLang="zh-CN" sz="2400" b="1" dirty="0">
                <a:solidFill>
                  <a:srgbClr val="009900"/>
                </a:solidFill>
              </a:rPr>
              <a:t>8</a:t>
            </a:r>
            <a:r>
              <a:rPr lang="zh-CN" altLang="en-US" sz="2400" b="1" dirty="0">
                <a:solidFill>
                  <a:srgbClr val="009900"/>
                </a:solidFill>
              </a:rPr>
              <a:t>位准双向口，共占</a:t>
            </a:r>
            <a:r>
              <a:rPr lang="en-US" altLang="zh-CN" sz="2400" b="1" dirty="0">
                <a:solidFill>
                  <a:srgbClr val="009900"/>
                </a:solidFill>
              </a:rPr>
              <a:t>32</a:t>
            </a:r>
            <a:r>
              <a:rPr lang="zh-CN" altLang="en-US" sz="2400" b="1" dirty="0">
                <a:solidFill>
                  <a:srgbClr val="009900"/>
                </a:solidFill>
              </a:rPr>
              <a:t>根引脚。</a:t>
            </a:r>
            <a:endParaRPr lang="zh-CN" altLang="en-US" sz="2400" dirty="0"/>
          </a:p>
          <a:p>
            <a:pPr algn="just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FF6600"/>
                </a:solidFill>
              </a:rPr>
              <a:t>3</a:t>
            </a:r>
            <a:r>
              <a:rPr lang="zh-CN" altLang="en-US" sz="2400" b="1" dirty="0">
                <a:solidFill>
                  <a:srgbClr val="FF6600"/>
                </a:solidFill>
              </a:rPr>
              <a:t>．每一条</a:t>
            </a:r>
            <a:r>
              <a:rPr lang="en-US" altLang="zh-CN" sz="2400" b="1" dirty="0">
                <a:solidFill>
                  <a:srgbClr val="FF6600"/>
                </a:solidFill>
              </a:rPr>
              <a:t>I/O</a:t>
            </a:r>
            <a:r>
              <a:rPr lang="zh-CN" altLang="en-US" sz="2400" b="1" dirty="0">
                <a:solidFill>
                  <a:srgbClr val="FF6600"/>
                </a:solidFill>
              </a:rPr>
              <a:t>线都能独立地用作输入或输出。</a:t>
            </a:r>
            <a:endParaRPr lang="zh-CN" altLang="en-US" sz="2400" dirty="0"/>
          </a:p>
          <a:p>
            <a:pPr algn="just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4</a:t>
            </a:r>
            <a:r>
              <a:rPr lang="zh-CN" altLang="en-US" sz="2400" b="1" dirty="0">
                <a:solidFill>
                  <a:srgbClr val="3333FF"/>
                </a:solidFill>
              </a:rPr>
              <a:t>．每个端口都包括一个锁存器（即特殊功能寄存器</a:t>
            </a:r>
            <a:r>
              <a:rPr lang="en-US" altLang="zh-CN" sz="2400" b="1" dirty="0">
                <a:solidFill>
                  <a:srgbClr val="3333FF"/>
                </a:solidFill>
              </a:rPr>
              <a:t>P0~P3</a:t>
            </a:r>
            <a:r>
              <a:rPr lang="zh-CN" altLang="en-US" sz="2400" b="1" dirty="0">
                <a:solidFill>
                  <a:srgbClr val="3333FF"/>
                </a:solidFill>
              </a:rPr>
              <a:t>），一个输出驱动器和输入缓冲器，作输出是数据可以锁存，作输入时数据可以缓冲。</a:t>
            </a:r>
            <a:endParaRPr lang="zh-CN" altLang="en-US" b="1">
              <a:solidFill>
                <a:srgbClr val="3333FF"/>
              </a:solidFill>
              <a:sym typeface="EuroRoman" panose="00000400000000000000" pitchFamily="2" charset="2"/>
            </a:endParaRPr>
          </a:p>
        </p:txBody>
      </p:sp>
      <p:sp>
        <p:nvSpPr>
          <p:cNvPr id="57349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40775" y="6513195"/>
            <a:ext cx="403225" cy="34480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9</a:t>
            </a:fld>
            <a:endParaRPr lang="zh-CN" altLang="en-US" sz="1400" b="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304800"/>
            <a:ext cx="1867535" cy="531556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400" b="1" spc="-26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P0</a:t>
            </a:r>
            <a:r>
              <a:rPr lang="zh-CN" altLang="en-US" sz="2400" b="1" spc="-26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端</a:t>
            </a:r>
            <a:r>
              <a:rPr sz="2400" b="1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口</a:t>
            </a:r>
            <a:endParaRPr sz="24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7400" y="1367351"/>
            <a:ext cx="5527358" cy="7649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215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P0</a:t>
            </a:r>
            <a:r>
              <a:rPr lang="zh-CN" altLang="en-US" sz="2400" b="1" spc="-215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端口</a:t>
            </a:r>
            <a:r>
              <a:rPr lang="zh-CN" altLang="en-US" sz="2400" b="1" spc="10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（</a:t>
            </a:r>
            <a:r>
              <a:rPr lang="en-US" altLang="zh-CN" sz="2400" b="1" spc="10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P0.0~P0.7</a:t>
            </a:r>
            <a:r>
              <a:rPr lang="zh-CN" altLang="en-US" sz="2400" b="1" spc="10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，</a:t>
            </a:r>
            <a:r>
              <a:rPr lang="en-US" altLang="zh-CN" sz="2400" b="1" spc="10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39~32</a:t>
            </a:r>
            <a:r>
              <a:rPr lang="zh-CN" altLang="en-US" sz="2400" b="1" spc="10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引脚）</a:t>
            </a:r>
            <a:endParaRPr lang="en-US" altLang="zh-CN" sz="2400" b="1" spc="10" dirty="0" smtClean="0">
              <a:solidFill>
                <a:srgbClr val="3333CC"/>
              </a:solidFill>
              <a:latin typeface="楷体" panose="02010609060101010101" pitchFamily="49" charset="-122"/>
              <a:ea typeface="楷体" panose="02010609060101010101" pitchFamily="49" charset="-122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2400" b="1" spc="10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是一个漏极开路的</a:t>
            </a:r>
            <a:r>
              <a:rPr lang="en-US" altLang="zh-CN" sz="2400" b="1" spc="10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8</a:t>
            </a:r>
            <a:r>
              <a:rPr lang="zh-CN" altLang="en-US" sz="2400" b="1" spc="10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位准双向</a:t>
            </a:r>
            <a:r>
              <a:rPr lang="en-US" altLang="zh-CN" sz="2400" b="1" spc="10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I/O</a:t>
            </a:r>
            <a:r>
              <a:rPr lang="zh-CN" altLang="en-US" sz="2400" b="1" spc="10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端口</a:t>
            </a:r>
            <a:endParaRPr sz="2400" dirty="0">
              <a:latin typeface="楷体" panose="02010609060101010101" pitchFamily="49" charset="-122"/>
              <a:ea typeface="楷体" panose="02010609060101010101" pitchFamily="49" charset="-122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590800"/>
            <a:ext cx="5334000" cy="3485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65" y="2426284"/>
            <a:ext cx="8201659" cy="3583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P0</a:t>
            </a:r>
            <a:r>
              <a:rPr sz="1800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口工作过程分析</a:t>
            </a:r>
            <a:endParaRPr sz="18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800" b="1" spc="-105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（1）</a:t>
            </a:r>
            <a:r>
              <a:rPr sz="1800" b="1" spc="-10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P0</a:t>
            </a:r>
            <a:r>
              <a:rPr sz="18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口</a:t>
            </a:r>
            <a:r>
              <a:rPr sz="18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用作</a:t>
            </a:r>
            <a:r>
              <a:rPr sz="18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复用的</a:t>
            </a:r>
            <a:r>
              <a:rPr sz="18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地址</a:t>
            </a:r>
            <a:r>
              <a:rPr sz="1800" b="1" spc="1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8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</a:t>
            </a:r>
            <a:r>
              <a:rPr sz="18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总线</a:t>
            </a:r>
            <a:r>
              <a:rPr sz="18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用</a:t>
            </a:r>
            <a:endParaRPr sz="18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360045">
              <a:lnSpc>
                <a:spcPct val="100000"/>
              </a:lnSpc>
              <a:spcBef>
                <a:spcPts val="1175"/>
              </a:spcBef>
            </a:pP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当作为</a:t>
            </a:r>
            <a:r>
              <a:rPr sz="1800" b="1" spc="10" dirty="0">
                <a:solidFill>
                  <a:srgbClr val="A4002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地址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或</a:t>
            </a:r>
            <a:r>
              <a:rPr sz="1800" b="1" spc="10" dirty="0">
                <a:solidFill>
                  <a:srgbClr val="A4002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数据输出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时，</a:t>
            </a:r>
            <a:r>
              <a:rPr sz="18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“控制”信号为</a:t>
            </a:r>
            <a:r>
              <a:rPr sz="1800" b="1" spc="-8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800" b="1" spc="-80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硬件自动使转接开关</a:t>
            </a:r>
            <a:r>
              <a:rPr sz="1800" b="1" spc="-540" dirty="0">
                <a:latin typeface="Microsoft JhengHei" panose="020B0604030504040204" charset="-120"/>
                <a:cs typeface="Microsoft JhengHei" panose="020B0604030504040204" charset="-120"/>
              </a:rPr>
              <a:t>MUX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打向上</a:t>
            </a:r>
            <a:endParaRPr sz="18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355600">
              <a:lnSpc>
                <a:spcPct val="100000"/>
              </a:lnSpc>
              <a:spcBef>
                <a:spcPts val="865"/>
              </a:spcBef>
            </a:pPr>
            <a:r>
              <a:rPr sz="1800" b="1" spc="5" dirty="0">
                <a:latin typeface="Microsoft JhengHei" panose="020B0604030504040204" charset="-120"/>
                <a:cs typeface="Microsoft JhengHei" panose="020B0604030504040204" charset="-120"/>
              </a:rPr>
              <a:t>面，接通反相器的输出，同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18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使“与门</a:t>
            </a:r>
            <a:r>
              <a:rPr sz="18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”</a:t>
            </a:r>
            <a:r>
              <a:rPr sz="18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8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开启。</a:t>
            </a:r>
            <a:endParaRPr sz="18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355600" marR="5080" indent="4445">
              <a:lnSpc>
                <a:spcPct val="140000"/>
              </a:lnSpc>
            </a:pP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当</a:t>
            </a:r>
            <a:r>
              <a:rPr sz="18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输出的地</a:t>
            </a:r>
            <a:r>
              <a:rPr sz="1800" b="1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址</a:t>
            </a:r>
            <a:r>
              <a:rPr sz="1800" b="1" spc="114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8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数据信</a:t>
            </a:r>
            <a:r>
              <a:rPr sz="1800" b="1" spc="15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息</a:t>
            </a:r>
            <a:r>
              <a:rPr sz="1800" b="1" spc="-44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=</a:t>
            </a:r>
            <a:r>
              <a:rPr sz="1800" b="1" spc="-16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，“与门”输出为</a:t>
            </a:r>
            <a:r>
              <a:rPr sz="1800" b="1" spc="-165" dirty="0"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，上方场效应管导通，下方场效 应管截止</a:t>
            </a:r>
            <a:r>
              <a:rPr sz="1800" b="1" spc="5" dirty="0">
                <a:latin typeface="Microsoft JhengHei" panose="020B0604030504040204" charset="-120"/>
                <a:cs typeface="Microsoft JhengHei" panose="020B0604030504040204" charset="-120"/>
              </a:rPr>
              <a:t>，P0.x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引脚输出</a:t>
            </a:r>
            <a:r>
              <a:rPr sz="1800" b="1" spc="15" dirty="0">
                <a:latin typeface="Microsoft JhengHei" panose="020B0604030504040204" charset="-120"/>
                <a:cs typeface="Microsoft JhengHei" panose="020B0604030504040204" charset="-120"/>
              </a:rPr>
              <a:t>为</a:t>
            </a:r>
            <a:r>
              <a:rPr sz="1800" b="1" spc="-165" dirty="0"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8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8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355600" marR="119380" indent="4445">
              <a:lnSpc>
                <a:spcPct val="140000"/>
              </a:lnSpc>
            </a:pPr>
            <a:r>
              <a:rPr sz="18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当输出的地址</a:t>
            </a:r>
            <a:r>
              <a:rPr sz="1800" b="1" spc="114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8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数据信</a:t>
            </a:r>
            <a:r>
              <a:rPr sz="1800" b="1" spc="15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息</a:t>
            </a:r>
            <a:r>
              <a:rPr sz="1800" b="1" spc="-44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=</a:t>
            </a:r>
            <a:r>
              <a:rPr sz="1800" b="1" spc="-16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0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8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上方场效应管</a:t>
            </a:r>
            <a:r>
              <a:rPr sz="18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截止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8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下方场效应管</a:t>
            </a:r>
            <a:r>
              <a:rPr sz="18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导通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800" b="1" spc="5" dirty="0">
                <a:latin typeface="Microsoft JhengHei" panose="020B0604030504040204" charset="-120"/>
                <a:cs typeface="Microsoft JhengHei" panose="020B0604030504040204" charset="-120"/>
              </a:rPr>
              <a:t>P0.x</a:t>
            </a:r>
            <a:r>
              <a:rPr sz="1800" b="1" dirty="0">
                <a:latin typeface="Microsoft JhengHei" panose="020B0604030504040204" charset="-120"/>
                <a:cs typeface="Microsoft JhengHei" panose="020B0604030504040204" charset="-120"/>
              </a:rPr>
              <a:t>引 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脚输出为</a:t>
            </a:r>
            <a:r>
              <a:rPr sz="1800" b="1" spc="-165" dirty="0">
                <a:latin typeface="Microsoft JhengHei" panose="020B0604030504040204" charset="-120"/>
                <a:cs typeface="Microsoft JhengHei" panose="020B0604030504040204" charset="-120"/>
              </a:rPr>
              <a:t>0</a:t>
            </a:r>
            <a:r>
              <a:rPr sz="18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8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4741" y="29667"/>
            <a:ext cx="6388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4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P0</a:t>
            </a:r>
            <a:r>
              <a:rPr sz="24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口</a:t>
            </a:r>
            <a:endParaRPr sz="24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72590" y="519430"/>
            <a:ext cx="2174240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9875" algn="l"/>
              </a:tabLst>
            </a:pPr>
            <a:r>
              <a:rPr spc="130" dirty="0"/>
              <a:t>-	</a:t>
            </a:r>
            <a:r>
              <a:rPr spc="10" dirty="0"/>
              <a:t>工作</a:t>
            </a:r>
            <a:r>
              <a:rPr dirty="0"/>
              <a:t>原理</a:t>
            </a:r>
          </a:p>
        </p:txBody>
      </p:sp>
      <p:sp>
        <p:nvSpPr>
          <p:cNvPr id="5" name="object 5"/>
          <p:cNvSpPr/>
          <p:nvPr/>
        </p:nvSpPr>
        <p:spPr>
          <a:xfrm>
            <a:off x="3928871" y="356615"/>
            <a:ext cx="4143755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6248400" y="1568557"/>
            <a:ext cx="304800" cy="15240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36369" y="44322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6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P0</a:t>
            </a:r>
            <a:r>
              <a:rPr sz="24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口</a:t>
            </a:r>
            <a:endParaRPr sz="24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98015" y="533400"/>
            <a:ext cx="1915160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9875" algn="l"/>
              </a:tabLst>
            </a:pPr>
            <a:r>
              <a:rPr spc="135" dirty="0"/>
              <a:t>-	</a:t>
            </a:r>
            <a:r>
              <a:rPr spc="10" dirty="0"/>
              <a:t>工作</a:t>
            </a:r>
            <a:r>
              <a:rPr spc="5" dirty="0"/>
              <a:t>原理</a:t>
            </a:r>
          </a:p>
        </p:txBody>
      </p:sp>
      <p:sp>
        <p:nvSpPr>
          <p:cNvPr id="5" name="object 5"/>
          <p:cNvSpPr/>
          <p:nvPr/>
        </p:nvSpPr>
        <p:spPr>
          <a:xfrm>
            <a:off x="4000500" y="284988"/>
            <a:ext cx="3965448" cy="2374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grpSp>
        <p:nvGrpSpPr>
          <p:cNvPr id="9" name="组合 8"/>
          <p:cNvGrpSpPr/>
          <p:nvPr/>
        </p:nvGrpSpPr>
        <p:grpSpPr>
          <a:xfrm>
            <a:off x="493395" y="2781712"/>
            <a:ext cx="8224520" cy="2745740"/>
            <a:chOff x="570687" y="3039008"/>
            <a:chExt cx="8224520" cy="2745740"/>
          </a:xfrm>
        </p:grpSpPr>
        <p:sp>
          <p:nvSpPr>
            <p:cNvPr id="2" name="object 2"/>
            <p:cNvSpPr txBox="1"/>
            <p:nvPr/>
          </p:nvSpPr>
          <p:spPr>
            <a:xfrm>
              <a:off x="570687" y="3039008"/>
              <a:ext cx="8224520" cy="27457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45720" marR="10795" indent="-33655">
                <a:lnSpc>
                  <a:spcPct val="150000"/>
                </a:lnSpc>
                <a:spcBef>
                  <a:spcPts val="100"/>
                </a:spcBef>
              </a:pP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由</a:t>
              </a:r>
              <a:r>
                <a:rPr sz="1600" b="1" spc="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上</a:t>
              </a:r>
              <a:r>
                <a:rPr sz="1600" b="1" spc="20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、</a:t>
              </a:r>
              <a:r>
                <a:rPr sz="1600" b="1" spc="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下两个</a:t>
              </a:r>
              <a:r>
                <a:rPr sz="1600" b="1" spc="20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场</a:t>
              </a:r>
              <a:r>
                <a:rPr sz="1600" b="1" spc="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效应</a:t>
              </a:r>
              <a:r>
                <a:rPr sz="1600" b="1" spc="20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管</a:t>
              </a:r>
              <a:r>
                <a:rPr sz="1600" b="1" spc="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形</a:t>
              </a:r>
              <a:r>
                <a:rPr sz="1600" b="1" spc="20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成</a:t>
              </a:r>
              <a:r>
                <a:rPr sz="1600" b="1" spc="-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的</a:t>
              </a:r>
              <a:r>
                <a:rPr sz="1600" b="1" spc="1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推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拉式</a:t>
              </a:r>
              <a:r>
                <a:rPr sz="1600" b="1" spc="1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结</a:t>
              </a:r>
              <a:r>
                <a:rPr sz="1600" b="1" spc="10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构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大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大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提高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负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载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能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力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上方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的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场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效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应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管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这时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起</a:t>
              </a:r>
              <a:r>
                <a:rPr sz="1600" b="1" spc="35" dirty="0">
                  <a:latin typeface="Microsoft JhengHei" panose="020B0604030504040204" charset="-120"/>
                  <a:cs typeface="Microsoft JhengHei" panose="020B0604030504040204" charset="-120"/>
                </a:rPr>
                <a:t>到</a:t>
              </a:r>
              <a:r>
                <a:rPr sz="1600" b="1" spc="-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内 </a:t>
              </a:r>
              <a:r>
                <a:rPr sz="1600" b="1" spc="1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部</a:t>
              </a:r>
              <a:r>
                <a:rPr sz="1600" b="1" spc="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上拉</a:t>
              </a:r>
              <a:r>
                <a:rPr sz="1600" b="1" spc="1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电</a:t>
              </a:r>
              <a:r>
                <a:rPr sz="1600" b="1" spc="10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阻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的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作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用</a:t>
              </a:r>
              <a:r>
                <a:rPr sz="1600" b="1" spc="-5" dirty="0">
                  <a:latin typeface="Microsoft JhengHei" panose="020B0604030504040204" charset="-120"/>
                  <a:cs typeface="Microsoft JhengHei" panose="020B0604030504040204" charset="-120"/>
                </a:rPr>
                <a:t>。</a:t>
              </a:r>
              <a:endParaRPr sz="1600" dirty="0">
                <a:latin typeface="Microsoft JhengHei" panose="020B0604030504040204" charset="-120"/>
                <a:cs typeface="Microsoft JhengHei" panose="020B0604030504040204" charset="-120"/>
              </a:endParaRPr>
            </a:p>
            <a:p>
              <a:pPr marL="13970" marR="5080" indent="-1905">
                <a:lnSpc>
                  <a:spcPct val="255000"/>
                </a:lnSpc>
              </a:pP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当</a:t>
              </a:r>
              <a:r>
                <a:rPr sz="1600" b="1" spc="-170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P0</a:t>
              </a:r>
              <a:r>
                <a:rPr sz="1600" b="1" spc="20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口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作为</a:t>
              </a:r>
              <a:r>
                <a:rPr sz="1600" b="1" spc="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数</a:t>
              </a:r>
              <a:r>
                <a:rPr sz="1600" b="1" spc="1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据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输入</a:t>
              </a:r>
              <a:r>
                <a:rPr sz="1600" b="1" spc="1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时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仅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从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外</a:t>
              </a:r>
              <a:r>
                <a:rPr sz="1600" b="1" spc="10" dirty="0">
                  <a:latin typeface="Microsoft JhengHei" panose="020B0604030504040204" charset="-120"/>
                  <a:cs typeface="Microsoft JhengHei" panose="020B0604030504040204" charset="-120"/>
                </a:rPr>
                <a:t>部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引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脚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读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入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信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息</a:t>
              </a:r>
              <a:r>
                <a:rPr sz="1600" b="1" spc="10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r>
                <a:rPr sz="1600" b="1" spc="10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“</a:t>
              </a:r>
              <a:r>
                <a:rPr sz="1600" b="1" spc="1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控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制</a:t>
              </a:r>
              <a:r>
                <a:rPr sz="1600" b="1" spc="20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”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信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号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为</a:t>
              </a:r>
              <a:r>
                <a:rPr sz="1600" b="1" spc="-315" dirty="0">
                  <a:latin typeface="Microsoft JhengHei" panose="020B0604030504040204" charset="-120"/>
                  <a:cs typeface="Microsoft JhengHei" panose="020B0604030504040204" charset="-120"/>
                </a:rPr>
                <a:t>0，</a:t>
              </a:r>
              <a:r>
                <a:rPr sz="1600" b="1" spc="-31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MUX</a:t>
              </a:r>
              <a:r>
                <a:rPr sz="1600" b="1" spc="1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接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通</a:t>
              </a:r>
              <a:r>
                <a:rPr sz="1600" b="1" spc="1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锁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存</a:t>
              </a:r>
              <a:r>
                <a:rPr sz="1600" b="1" spc="20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器</a:t>
              </a:r>
              <a:r>
                <a:rPr sz="1600" b="1" spc="-220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Q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端</a:t>
              </a:r>
              <a:r>
                <a:rPr sz="1600" b="1" spc="-5" dirty="0">
                  <a:latin typeface="Microsoft JhengHei" panose="020B0604030504040204" charset="-120"/>
                  <a:cs typeface="Microsoft JhengHei" panose="020B0604030504040204" charset="-120"/>
                </a:rPr>
                <a:t>。 </a:t>
              </a:r>
              <a:r>
                <a:rPr sz="1600" b="1" spc="-170" dirty="0">
                  <a:latin typeface="Microsoft JhengHei" panose="020B0604030504040204" charset="-120"/>
                  <a:cs typeface="Microsoft JhengHei" panose="020B0604030504040204" charset="-120"/>
                </a:rPr>
                <a:t>P0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口</a:t>
              </a:r>
              <a:r>
                <a:rPr sz="1600" b="1" spc="20" dirty="0">
                  <a:latin typeface="Microsoft JhengHei" panose="020B0604030504040204" charset="-120"/>
                  <a:cs typeface="Microsoft JhengHei" panose="020B0604030504040204" charset="-120"/>
                </a:rPr>
                <a:t>作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为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地址</a:t>
              </a:r>
              <a:r>
                <a:rPr sz="1600" b="1" spc="10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/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数</a:t>
              </a:r>
              <a:r>
                <a:rPr sz="1600" b="1" spc="1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据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复</a:t>
              </a:r>
              <a:r>
                <a:rPr sz="1600" b="1" spc="1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用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方</a:t>
              </a:r>
              <a:r>
                <a:rPr sz="1600" b="1" spc="10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式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访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问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外部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存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储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器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时</a:t>
              </a:r>
              <a:r>
                <a:rPr sz="1600" b="1" spc="-210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r>
                <a:rPr sz="1600" b="1" spc="-210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CPU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自</a:t>
              </a:r>
              <a:r>
                <a:rPr sz="1600" b="1" spc="1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动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向</a:t>
              </a:r>
              <a:r>
                <a:rPr sz="1600" b="1" spc="-170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P0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口</a:t>
              </a:r>
              <a:r>
                <a:rPr sz="1600" b="1" spc="1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写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入</a:t>
              </a:r>
              <a:r>
                <a:rPr sz="1600" b="1" spc="-140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FFH</a:t>
              </a:r>
              <a:r>
                <a:rPr sz="1600" b="1" spc="-140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使下方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场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效应</a:t>
              </a:r>
              <a:r>
                <a:rPr sz="1600" b="1" spc="-5" dirty="0">
                  <a:latin typeface="Microsoft JhengHei" panose="020B0604030504040204" charset="-120"/>
                  <a:cs typeface="Microsoft JhengHei" panose="020B0604030504040204" charset="-120"/>
                </a:rPr>
                <a:t>管</a:t>
              </a:r>
              <a:endParaRPr sz="1600" dirty="0">
                <a:latin typeface="Microsoft JhengHei" panose="020B0604030504040204" charset="-120"/>
                <a:cs typeface="Microsoft JhengHei" panose="020B0604030504040204" charset="-120"/>
              </a:endParaRPr>
            </a:p>
            <a:p>
              <a:pPr marL="45720">
                <a:lnSpc>
                  <a:spcPct val="100000"/>
                </a:lnSpc>
                <a:spcBef>
                  <a:spcPts val="960"/>
                </a:spcBef>
              </a:pP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截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止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r>
                <a:rPr sz="1600" b="1" spc="1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上</a:t>
              </a:r>
              <a:r>
                <a:rPr sz="1600" b="1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方</a:t>
              </a:r>
              <a:r>
                <a:rPr sz="1600" b="1" spc="1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场</a:t>
              </a:r>
              <a:r>
                <a:rPr sz="1600" b="1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效</a:t>
              </a:r>
              <a:r>
                <a:rPr sz="1600" b="1" spc="1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应</a:t>
              </a:r>
              <a:r>
                <a:rPr sz="1600" b="1" spc="10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管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由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于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控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制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信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号</a:t>
              </a:r>
              <a:r>
                <a:rPr sz="1600" b="1" spc="10" dirty="0">
                  <a:latin typeface="Microsoft JhengHei" panose="020B0604030504040204" charset="-120"/>
                  <a:cs typeface="Microsoft JhengHei" panose="020B0604030504040204" charset="-120"/>
                </a:rPr>
                <a:t>为</a:t>
              </a:r>
              <a:r>
                <a:rPr sz="1600" b="1" spc="-140" dirty="0">
                  <a:latin typeface="Microsoft JhengHei" panose="020B0604030504040204" charset="-120"/>
                  <a:cs typeface="Microsoft JhengHei" panose="020B0604030504040204" charset="-120"/>
                </a:rPr>
                <a:t>0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也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截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止，从</a:t>
              </a:r>
              <a:r>
                <a:rPr sz="1600" b="1" spc="25" dirty="0">
                  <a:latin typeface="Microsoft JhengHei" panose="020B0604030504040204" charset="-120"/>
                  <a:cs typeface="Microsoft JhengHei" panose="020B0604030504040204" charset="-120"/>
                </a:rPr>
                <a:t>而</a:t>
              </a:r>
              <a:r>
                <a:rPr sz="1600" b="1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保证</a:t>
              </a:r>
              <a:r>
                <a:rPr sz="1600" b="1" spc="1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数</a:t>
              </a:r>
              <a:r>
                <a:rPr sz="1600" b="1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据</a:t>
              </a:r>
              <a:r>
                <a:rPr sz="1600" b="1" spc="1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信</a:t>
              </a:r>
              <a:r>
                <a:rPr sz="1600" b="1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息</a:t>
              </a:r>
              <a:r>
                <a:rPr sz="1600" b="1" spc="20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的</a:t>
              </a:r>
              <a:r>
                <a:rPr sz="1600" b="1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高阻</a:t>
              </a:r>
              <a:r>
                <a:rPr sz="1600" b="1" spc="1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抗</a:t>
              </a:r>
              <a:r>
                <a:rPr sz="1600" b="1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输</a:t>
              </a:r>
              <a:r>
                <a:rPr sz="1600" b="1" spc="1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入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从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外部</a:t>
              </a:r>
              <a:r>
                <a:rPr sz="1600" b="1" spc="-5" dirty="0">
                  <a:latin typeface="Microsoft JhengHei" panose="020B0604030504040204" charset="-120"/>
                  <a:cs typeface="Microsoft JhengHei" panose="020B0604030504040204" charset="-120"/>
                </a:rPr>
                <a:t>输</a:t>
              </a:r>
              <a:endParaRPr sz="1600" dirty="0">
                <a:latin typeface="Microsoft JhengHei" panose="020B0604030504040204" charset="-120"/>
                <a:cs typeface="Microsoft JhengHei" panose="020B0604030504040204" charset="-120"/>
              </a:endParaRPr>
            </a:p>
            <a:p>
              <a:pPr marL="45720">
                <a:lnSpc>
                  <a:spcPct val="100000"/>
                </a:lnSpc>
                <a:spcBef>
                  <a:spcPts val="965"/>
                </a:spcBef>
              </a:pP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入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的数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据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直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接由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P0.x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引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脚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通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过输入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缓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冲</a:t>
              </a:r>
              <a:r>
                <a:rPr sz="1600" b="1" spc="30" dirty="0">
                  <a:latin typeface="Microsoft JhengHei" panose="020B0604030504040204" charset="-120"/>
                  <a:cs typeface="Microsoft JhengHei" panose="020B0604030504040204" charset="-120"/>
                </a:rPr>
                <a:t>器</a:t>
              </a:r>
              <a:r>
                <a:rPr sz="1600" b="1" spc="-210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BUF2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进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入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内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部总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线</a:t>
              </a:r>
              <a:r>
                <a:rPr sz="1600" b="1" spc="-5" dirty="0">
                  <a:latin typeface="Microsoft JhengHei" panose="020B0604030504040204" charset="-120"/>
                  <a:cs typeface="Microsoft JhengHei" panose="020B0604030504040204" charset="-120"/>
                </a:rPr>
                <a:t>。</a:t>
              </a:r>
              <a:endParaRPr sz="1600" dirty="0">
                <a:latin typeface="Microsoft JhengHei" panose="020B0604030504040204" charset="-120"/>
                <a:cs typeface="Microsoft JhengHei" panose="020B0604030504040204" charset="-12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8153400" y="4038600"/>
              <a:ext cx="152400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380999" y="5715000"/>
            <a:ext cx="8336915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7955" marR="314960" indent="-33655">
              <a:lnSpc>
                <a:spcPct val="140000"/>
              </a:lnSpc>
              <a:spcBef>
                <a:spcPts val="100"/>
              </a:spcBef>
            </a:pPr>
            <a:r>
              <a:rPr lang="zh-CN" altLang="en-US" b="1" spc="20" dirty="0">
                <a:latin typeface="Microsoft JhengHei" panose="020B0604030504040204" charset="-120"/>
                <a:cs typeface="Microsoft JhengHei" panose="020B0604030504040204" charset="-120"/>
              </a:rPr>
              <a:t>具</a:t>
            </a:r>
            <a:r>
              <a:rPr lang="zh-CN" altLang="en-US" b="1" spc="5" dirty="0">
                <a:latin typeface="Microsoft JhengHei" panose="020B0604030504040204" charset="-120"/>
                <a:cs typeface="Microsoft JhengHei" panose="020B0604030504040204" charset="-120"/>
              </a:rPr>
              <a:t>有</a:t>
            </a:r>
            <a:r>
              <a:rPr lang="zh-CN" altLang="en-US" b="1" spc="1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高</a:t>
            </a:r>
            <a:r>
              <a:rPr lang="zh-CN" altLang="en-US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阻抗输</a:t>
            </a:r>
            <a:r>
              <a:rPr lang="zh-CN" altLang="en-US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入</a:t>
            </a:r>
            <a:r>
              <a:rPr lang="zh-CN" altLang="en-US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lang="en-US" altLang="zh-CN" b="1" spc="-2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I/O</a:t>
            </a:r>
            <a:r>
              <a:rPr lang="zh-CN" altLang="en-US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口</a:t>
            </a:r>
            <a:r>
              <a:rPr lang="zh-CN" altLang="en-US" b="1" spc="5" dirty="0">
                <a:latin typeface="Microsoft JhengHei" panose="020B0604030504040204" charset="-120"/>
                <a:cs typeface="Microsoft JhengHei" panose="020B0604030504040204" charset="-120"/>
              </a:rPr>
              <a:t>应具有</a:t>
            </a:r>
            <a:r>
              <a:rPr lang="zh-CN" altLang="en-US" b="1" spc="15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高</a:t>
            </a:r>
            <a:r>
              <a:rPr lang="zh-CN" altLang="en-US" b="1" spc="5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电平</a:t>
            </a:r>
            <a:r>
              <a:rPr lang="zh-CN" altLang="en-US" b="1" spc="15" dirty="0"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lang="zh-CN" altLang="en-US" b="1" spc="5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低</a:t>
            </a:r>
            <a:r>
              <a:rPr lang="zh-CN" altLang="en-US" b="1" spc="15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lang="zh-CN" altLang="en-US" b="1" spc="5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平</a:t>
            </a:r>
            <a:r>
              <a:rPr lang="zh-CN" altLang="en-US" b="1" spc="20" dirty="0"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r>
              <a:rPr lang="zh-CN" altLang="en-US" b="1" spc="5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高阻</a:t>
            </a:r>
            <a:r>
              <a:rPr lang="zh-CN" altLang="en-US" b="1" spc="15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抗</a:t>
            </a:r>
            <a:r>
              <a:rPr lang="en-US" altLang="zh-CN" b="1" spc="-14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lang="zh-CN" altLang="en-US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种状态</a:t>
            </a:r>
            <a:r>
              <a:rPr lang="zh-CN" altLang="en-US" b="1" spc="15" dirty="0"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lang="zh-CN" altLang="en-US" b="1" spc="5" dirty="0">
                <a:latin typeface="Microsoft JhengHei" panose="020B0604030504040204" charset="-120"/>
                <a:cs typeface="Microsoft JhengHei" panose="020B0604030504040204" charset="-120"/>
              </a:rPr>
              <a:t>端</a:t>
            </a:r>
            <a:r>
              <a:rPr lang="zh-CN" altLang="en-US" b="1" spc="10" dirty="0">
                <a:latin typeface="Microsoft JhengHei" panose="020B0604030504040204" charset="-120"/>
                <a:cs typeface="Microsoft JhengHei" panose="020B0604030504040204" charset="-120"/>
              </a:rPr>
              <a:t>口</a:t>
            </a:r>
            <a:r>
              <a:rPr lang="zh-CN" altLang="en-US" b="1" spc="15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lang="zh-CN" altLang="en-US" b="1" spc="5" dirty="0">
                <a:latin typeface="Microsoft JhengHei" panose="020B0604030504040204" charset="-120"/>
                <a:cs typeface="Microsoft JhengHei" panose="020B0604030504040204" charset="-120"/>
              </a:rPr>
              <a:t>是</a:t>
            </a:r>
            <a:r>
              <a:rPr lang="zh-CN" altLang="en-US" b="1" spc="15" dirty="0">
                <a:latin typeface="Microsoft JhengHei" panose="020B0604030504040204" charset="-120"/>
                <a:cs typeface="Microsoft JhengHei" panose="020B0604030504040204" charset="-120"/>
              </a:rPr>
              <a:t>真</a:t>
            </a:r>
            <a:r>
              <a:rPr lang="zh-CN" altLang="en-US" b="1" spc="5" dirty="0">
                <a:latin typeface="Microsoft JhengHei" panose="020B0604030504040204" charset="-120"/>
                <a:cs typeface="Microsoft JhengHei" panose="020B0604030504040204" charset="-120"/>
              </a:rPr>
              <a:t>正</a:t>
            </a:r>
            <a:r>
              <a:rPr lang="zh-CN" altLang="en-US" b="1" spc="15" dirty="0"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lang="zh-CN" altLang="en-US" b="1" spc="5" dirty="0">
                <a:latin typeface="Microsoft JhengHei" panose="020B0604030504040204" charset="-120"/>
                <a:cs typeface="Microsoft JhengHei" panose="020B0604030504040204" charset="-120"/>
              </a:rPr>
              <a:t>双</a:t>
            </a:r>
            <a:r>
              <a:rPr lang="zh-CN" altLang="en-US" b="1" spc="-5" dirty="0">
                <a:latin typeface="Microsoft JhengHei" panose="020B0604030504040204" charset="-120"/>
                <a:cs typeface="Microsoft JhengHei" panose="020B0604030504040204" charset="-120"/>
              </a:rPr>
              <a:t>向 </a:t>
            </a:r>
            <a:r>
              <a:rPr lang="zh-CN" altLang="en-US" b="1" spc="20" dirty="0">
                <a:latin typeface="Microsoft JhengHei" panose="020B0604030504040204" charset="-120"/>
                <a:cs typeface="Microsoft JhengHei" panose="020B0604030504040204" charset="-120"/>
              </a:rPr>
              <a:t>端</a:t>
            </a:r>
            <a:r>
              <a:rPr lang="zh-CN" altLang="en-US" b="1" spc="5" dirty="0">
                <a:latin typeface="Microsoft JhengHei" panose="020B0604030504040204" charset="-120"/>
                <a:cs typeface="Microsoft JhengHei" panose="020B0604030504040204" charset="-120"/>
              </a:rPr>
              <a:t>口，</a:t>
            </a:r>
            <a:r>
              <a:rPr lang="zh-CN" altLang="en-US" b="1" spc="20" dirty="0">
                <a:latin typeface="Microsoft JhengHei" panose="020B0604030504040204" charset="-120"/>
                <a:cs typeface="Microsoft JhengHei" panose="020B0604030504040204" charset="-120"/>
              </a:rPr>
              <a:t>简</a:t>
            </a:r>
            <a:r>
              <a:rPr lang="zh-CN" altLang="en-US" b="1" dirty="0">
                <a:latin typeface="Microsoft JhengHei" panose="020B0604030504040204" charset="-120"/>
                <a:cs typeface="Microsoft JhengHei" panose="020B0604030504040204" charset="-120"/>
              </a:rPr>
              <a:t>称</a:t>
            </a:r>
            <a:r>
              <a:rPr lang="zh-CN" altLang="en-US" b="1" spc="1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双</a:t>
            </a:r>
            <a:r>
              <a:rPr lang="zh-CN" altLang="en-US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向</a:t>
            </a:r>
            <a:r>
              <a:rPr lang="zh-CN" altLang="en-US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口</a:t>
            </a:r>
            <a:r>
              <a:rPr lang="zh-CN" altLang="en-US" b="1" spc="-5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lang="zh-CN" altLang="en-US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36369" y="29667"/>
            <a:ext cx="6388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4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P0</a:t>
            </a:r>
            <a:r>
              <a:rPr sz="24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口</a:t>
            </a:r>
            <a:endParaRPr sz="24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98015" y="519430"/>
            <a:ext cx="2110740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9875" algn="l"/>
              </a:tabLst>
            </a:pPr>
            <a:r>
              <a:rPr spc="130" dirty="0"/>
              <a:t>-	</a:t>
            </a:r>
            <a:r>
              <a:rPr spc="10" dirty="0"/>
              <a:t>工作</a:t>
            </a:r>
            <a:r>
              <a:rPr dirty="0"/>
              <a:t>原理</a:t>
            </a:r>
          </a:p>
        </p:txBody>
      </p:sp>
      <p:sp>
        <p:nvSpPr>
          <p:cNvPr id="5" name="object 5"/>
          <p:cNvSpPr/>
          <p:nvPr/>
        </p:nvSpPr>
        <p:spPr>
          <a:xfrm>
            <a:off x="4428744" y="499872"/>
            <a:ext cx="3680459" cy="23728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grpSp>
        <p:nvGrpSpPr>
          <p:cNvPr id="8" name="组合 7"/>
          <p:cNvGrpSpPr/>
          <p:nvPr/>
        </p:nvGrpSpPr>
        <p:grpSpPr>
          <a:xfrm>
            <a:off x="833729" y="3037738"/>
            <a:ext cx="8221345" cy="2302682"/>
            <a:chOff x="833729" y="3037738"/>
            <a:chExt cx="8221345" cy="2302682"/>
          </a:xfrm>
        </p:grpSpPr>
        <p:sp>
          <p:nvSpPr>
            <p:cNvPr id="2" name="object 2"/>
            <p:cNvSpPr txBox="1"/>
            <p:nvPr/>
          </p:nvSpPr>
          <p:spPr>
            <a:xfrm>
              <a:off x="833729" y="3037738"/>
              <a:ext cx="8221345" cy="230268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40"/>
                </a:spcBef>
              </a:pPr>
              <a:endParaRPr sz="2300" dirty="0">
                <a:latin typeface="Times New Roman" panose="02020603050405020304"/>
                <a:cs typeface="Times New Roman" panose="02020603050405020304"/>
              </a:endParaRPr>
            </a:p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1600" b="1" spc="-9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（2）P0</a:t>
              </a:r>
              <a:r>
                <a:rPr sz="1600" b="1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口用作</a:t>
              </a:r>
              <a:r>
                <a:rPr sz="1600" b="1" spc="1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通</a:t>
              </a:r>
              <a:r>
                <a:rPr sz="1600" b="1" spc="10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用</a:t>
              </a:r>
              <a:r>
                <a:rPr sz="1600" b="1" spc="-2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I/O</a:t>
              </a:r>
              <a:r>
                <a:rPr sz="1600" b="1" spc="-5" dirty="0">
                  <a:solidFill>
                    <a:srgbClr val="3333CC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口</a:t>
              </a:r>
              <a:endParaRPr sz="1600" dirty="0">
                <a:latin typeface="Microsoft JhengHei" panose="020B0604030504040204" charset="-120"/>
                <a:cs typeface="Microsoft JhengHei" panose="020B0604030504040204" charset="-120"/>
              </a:endParaRPr>
            </a:p>
            <a:p>
              <a:pPr marL="147955" marR="311150" indent="-33655">
                <a:lnSpc>
                  <a:spcPct val="140000"/>
                </a:lnSpc>
                <a:spcBef>
                  <a:spcPts val="385"/>
                </a:spcBef>
              </a:pPr>
              <a:r>
                <a:rPr sz="1600" b="1" spc="20" dirty="0">
                  <a:latin typeface="Microsoft JhengHei" panose="020B0604030504040204" charset="-120"/>
                  <a:cs typeface="Microsoft JhengHei" panose="020B0604030504040204" charset="-120"/>
                </a:rPr>
                <a:t>对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应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的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“控制</a:t>
              </a:r>
              <a:r>
                <a:rPr sz="1600" b="1" spc="1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”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信</a:t>
              </a:r>
              <a:r>
                <a:rPr sz="1600" b="1" spc="20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号</a:t>
              </a:r>
              <a:r>
                <a:rPr sz="1600" b="1" spc="-330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=0</a:t>
              </a:r>
              <a:r>
                <a:rPr sz="1600" b="1" spc="-330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r>
                <a:rPr sz="1600" b="1" spc="-330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MUX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打</a:t>
              </a:r>
              <a:r>
                <a:rPr sz="1600" b="1" spc="1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向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下</a:t>
              </a:r>
              <a:r>
                <a:rPr sz="1600" b="1" spc="10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面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接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通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锁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存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器</a:t>
              </a:r>
              <a:r>
                <a:rPr sz="1600" b="1" spc="25" dirty="0">
                  <a:latin typeface="Microsoft JhengHei" panose="020B0604030504040204" charset="-120"/>
                  <a:cs typeface="Microsoft JhengHei" panose="020B0604030504040204" charset="-120"/>
                </a:rPr>
                <a:t>的</a:t>
              </a:r>
              <a:r>
                <a:rPr sz="1600" b="1" spc="-220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Q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端</a:t>
              </a:r>
              <a:r>
                <a:rPr sz="1600" b="1" spc="10" dirty="0">
                  <a:latin typeface="Microsoft JhengHei" panose="020B0604030504040204" charset="-120"/>
                  <a:cs typeface="Microsoft JhengHei" panose="020B0604030504040204" charset="-120"/>
                </a:rPr>
                <a:t>，“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与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门”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输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出</a:t>
              </a:r>
              <a:r>
                <a:rPr sz="1600" b="1" spc="25" dirty="0">
                  <a:latin typeface="Microsoft JhengHei" panose="020B0604030504040204" charset="-120"/>
                  <a:cs typeface="Microsoft JhengHei" panose="020B0604030504040204" charset="-120"/>
                </a:rPr>
                <a:t>为</a:t>
              </a:r>
              <a:r>
                <a:rPr sz="1600" b="1" spc="-75" dirty="0">
                  <a:latin typeface="Microsoft JhengHei" panose="020B0604030504040204" charset="-120"/>
                  <a:cs typeface="Microsoft JhengHei" panose="020B0604030504040204" charset="-120"/>
                </a:rPr>
                <a:t>0，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上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方</a:t>
              </a:r>
              <a:r>
                <a:rPr sz="1600" b="1" spc="-5" dirty="0">
                  <a:latin typeface="Microsoft JhengHei" panose="020B0604030504040204" charset="-120"/>
                  <a:cs typeface="Microsoft JhengHei" panose="020B0604030504040204" charset="-120"/>
                </a:rPr>
                <a:t>场 </a:t>
              </a:r>
              <a:r>
                <a:rPr sz="1600" b="1" spc="20" dirty="0">
                  <a:latin typeface="Microsoft JhengHei" panose="020B0604030504040204" charset="-120"/>
                  <a:cs typeface="Microsoft JhengHei" panose="020B0604030504040204" charset="-120"/>
                </a:rPr>
                <a:t>效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应管</a:t>
              </a:r>
              <a:r>
                <a:rPr sz="1600" b="1" spc="20" dirty="0">
                  <a:latin typeface="Microsoft JhengHei" panose="020B0604030504040204" charset="-120"/>
                  <a:cs typeface="Microsoft JhengHei" panose="020B0604030504040204" charset="-120"/>
                </a:rPr>
                <a:t>截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止</a:t>
              </a:r>
              <a:r>
                <a:rPr sz="1600" b="1" spc="20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形</a:t>
              </a:r>
              <a:r>
                <a:rPr sz="1600" b="1" spc="20" dirty="0">
                  <a:latin typeface="Microsoft JhengHei" panose="020B0604030504040204" charset="-120"/>
                  <a:cs typeface="Microsoft JhengHei" panose="020B0604030504040204" charset="-120"/>
                </a:rPr>
                <a:t>成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的</a:t>
              </a:r>
              <a:r>
                <a:rPr sz="1600" b="1" spc="-165" dirty="0">
                  <a:latin typeface="Microsoft JhengHei" panose="020B0604030504040204" charset="-120"/>
                  <a:cs typeface="Microsoft JhengHei" panose="020B0604030504040204" charset="-120"/>
                </a:rPr>
                <a:t>P0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口输</a:t>
              </a:r>
              <a:r>
                <a:rPr sz="1600" b="1" spc="20" dirty="0">
                  <a:latin typeface="Microsoft JhengHei" panose="020B0604030504040204" charset="-120"/>
                  <a:cs typeface="Microsoft JhengHei" panose="020B0604030504040204" charset="-120"/>
                </a:rPr>
                <a:t>出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电</a:t>
              </a:r>
              <a:r>
                <a:rPr sz="1600" b="1" spc="20" dirty="0">
                  <a:latin typeface="Microsoft JhengHei" panose="020B0604030504040204" charset="-120"/>
                  <a:cs typeface="Microsoft JhengHei" panose="020B0604030504040204" charset="-120"/>
                </a:rPr>
                <a:t>路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为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漏</a:t>
              </a:r>
              <a:r>
                <a:rPr sz="1600" b="1" spc="1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极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开</a:t>
              </a:r>
              <a:r>
                <a:rPr sz="1600" b="1" spc="1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路</a:t>
              </a:r>
              <a:r>
                <a:rPr sz="1600" b="1" spc="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输</a:t>
              </a:r>
              <a:r>
                <a:rPr sz="1600" b="1" spc="2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出</a:t>
              </a:r>
              <a:r>
                <a:rPr lang="en-US" sz="1600" b="1" spc="2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(</a:t>
              </a:r>
              <a:r>
                <a:rPr lang="zh-CN" altLang="en-US" sz="1600" b="1" spc="2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高阻状态</a:t>
              </a:r>
              <a:r>
                <a:rPr lang="en-US" sz="1600" b="1" spc="25" dirty="0">
                  <a:solidFill>
                    <a:srgbClr val="0000FF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)</a:t>
              </a:r>
              <a:r>
                <a:rPr sz="1600" b="1" spc="-5" dirty="0">
                  <a:latin typeface="Microsoft JhengHei" panose="020B0604030504040204" charset="-120"/>
                  <a:cs typeface="Microsoft JhengHei" panose="020B0604030504040204" charset="-120"/>
                </a:rPr>
                <a:t>。</a:t>
              </a:r>
              <a:endParaRPr sz="1600" dirty="0">
                <a:latin typeface="Microsoft JhengHei" panose="020B0604030504040204" charset="-120"/>
                <a:cs typeface="Microsoft JhengHei" panose="020B0604030504040204" charset="-120"/>
              </a:endParaRPr>
            </a:p>
            <a:p>
              <a:pPr>
                <a:lnSpc>
                  <a:spcPct val="100000"/>
                </a:lnSpc>
                <a:spcBef>
                  <a:spcPts val="40"/>
                </a:spcBef>
              </a:pPr>
              <a:endParaRPr sz="2300" dirty="0">
                <a:latin typeface="Times New Roman" panose="02020603050405020304"/>
                <a:cs typeface="Times New Roman" panose="02020603050405020304"/>
              </a:endParaRPr>
            </a:p>
            <a:p>
              <a:pPr marL="116205">
                <a:lnSpc>
                  <a:spcPct val="100000"/>
                </a:lnSpc>
              </a:pPr>
              <a:r>
                <a:rPr sz="1600" b="1" spc="-17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P0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口</a:t>
              </a:r>
              <a:r>
                <a:rPr sz="1600" b="1" spc="1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作</a:t>
              </a:r>
              <a:r>
                <a:rPr sz="1600" b="1" spc="5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输出</a:t>
              </a:r>
              <a:r>
                <a:rPr sz="1600" b="1" dirty="0">
                  <a:solidFill>
                    <a:srgbClr val="FF0000"/>
                  </a:solidFill>
                  <a:latin typeface="Microsoft JhengHei" panose="020B0604030504040204" charset="-120"/>
                  <a:cs typeface="Microsoft JhengHei" panose="020B0604030504040204" charset="-120"/>
                </a:rPr>
                <a:t>口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时</a:t>
              </a:r>
              <a:r>
                <a:rPr sz="1600" b="1" spc="-215" dirty="0">
                  <a:latin typeface="Microsoft JhengHei" panose="020B0604030504040204" charset="-120"/>
                  <a:cs typeface="Microsoft JhengHei" panose="020B0604030504040204" charset="-120"/>
                </a:rPr>
                <a:t>，CPU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的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“写”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脉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冲加</a:t>
              </a:r>
              <a:r>
                <a:rPr sz="1600" b="1" spc="25" dirty="0">
                  <a:latin typeface="Microsoft JhengHei" panose="020B0604030504040204" charset="-120"/>
                  <a:cs typeface="Microsoft JhengHei" panose="020B0604030504040204" charset="-120"/>
                </a:rPr>
                <a:t>在</a:t>
              </a:r>
              <a:r>
                <a:rPr sz="1600" b="1" spc="-420" dirty="0">
                  <a:latin typeface="Microsoft JhengHei" panose="020B0604030504040204" charset="-120"/>
                  <a:cs typeface="Microsoft JhengHei" panose="020B0604030504040204" charset="-120"/>
                </a:rPr>
                <a:t>D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锁存器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的</a:t>
              </a:r>
              <a:r>
                <a:rPr sz="1600" b="1" spc="-229" dirty="0">
                  <a:latin typeface="Microsoft JhengHei" panose="020B0604030504040204" charset="-120"/>
                  <a:cs typeface="Microsoft JhengHei" panose="020B0604030504040204" charset="-120"/>
                </a:rPr>
                <a:t>CP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端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，内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部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总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线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上的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数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据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写</a:t>
              </a:r>
              <a:r>
                <a:rPr sz="1600" b="1" spc="20" dirty="0">
                  <a:latin typeface="Microsoft JhengHei" panose="020B0604030504040204" charset="-120"/>
                  <a:cs typeface="Microsoft JhengHei" panose="020B0604030504040204" charset="-120"/>
                </a:rPr>
                <a:t>入</a:t>
              </a:r>
              <a:r>
                <a:rPr sz="1600" b="1" spc="-434" dirty="0">
                  <a:latin typeface="Microsoft JhengHei" panose="020B0604030504040204" charset="-120"/>
                  <a:cs typeface="Microsoft JhengHei" panose="020B0604030504040204" charset="-120"/>
                </a:rPr>
                <a:t>D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锁</a:t>
              </a:r>
              <a:r>
                <a:rPr sz="1600" b="1" dirty="0">
                  <a:latin typeface="Microsoft JhengHei" panose="020B0604030504040204" charset="-120"/>
                  <a:cs typeface="Microsoft JhengHei" panose="020B0604030504040204" charset="-120"/>
                </a:rPr>
                <a:t>存器</a:t>
              </a:r>
              <a:r>
                <a:rPr sz="1600" b="1" spc="-5" dirty="0">
                  <a:latin typeface="Microsoft JhengHei" panose="020B0604030504040204" charset="-120"/>
                  <a:cs typeface="Microsoft JhengHei" panose="020B0604030504040204" charset="-120"/>
                </a:rPr>
                <a:t>，</a:t>
              </a:r>
              <a:endParaRPr sz="1600" dirty="0">
                <a:latin typeface="Microsoft JhengHei" panose="020B0604030504040204" charset="-120"/>
                <a:cs typeface="Microsoft JhengHei" panose="020B0604030504040204" charset="-120"/>
              </a:endParaRPr>
            </a:p>
            <a:p>
              <a:pPr marL="147955">
                <a:lnSpc>
                  <a:spcPct val="100000"/>
                </a:lnSpc>
                <a:spcBef>
                  <a:spcPts val="775"/>
                </a:spcBef>
              </a:pPr>
              <a:r>
                <a:rPr sz="1600" b="1" spc="20" dirty="0">
                  <a:latin typeface="Microsoft JhengHei" panose="020B0604030504040204" charset="-120"/>
                  <a:cs typeface="Microsoft JhengHei" panose="020B0604030504040204" charset="-120"/>
                </a:rPr>
                <a:t>并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由引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脚</a:t>
              </a:r>
              <a:r>
                <a:rPr sz="1600" b="1" spc="5" dirty="0">
                  <a:latin typeface="Microsoft JhengHei" panose="020B0604030504040204" charset="-120"/>
                  <a:cs typeface="Microsoft JhengHei" panose="020B0604030504040204" charset="-120"/>
                </a:rPr>
                <a:t>P0.x输</a:t>
              </a:r>
              <a:r>
                <a:rPr sz="1600" b="1" spc="15" dirty="0">
                  <a:latin typeface="Microsoft JhengHei" panose="020B0604030504040204" charset="-120"/>
                  <a:cs typeface="Microsoft JhengHei" panose="020B0604030504040204" charset="-120"/>
                </a:rPr>
                <a:t>出</a:t>
              </a:r>
              <a:r>
                <a:rPr sz="1600" b="1" spc="-5" dirty="0">
                  <a:latin typeface="Microsoft JhengHei" panose="020B0604030504040204" charset="-120"/>
                  <a:cs typeface="Microsoft JhengHei" panose="020B0604030504040204" charset="-120"/>
                </a:rPr>
                <a:t>。</a:t>
              </a:r>
              <a:endParaRPr sz="1600" dirty="0">
                <a:latin typeface="Microsoft JhengHei" panose="020B0604030504040204" charset="-120"/>
                <a:cs typeface="Microsoft JhengHei" panose="020B0604030504040204" charset="-12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5715000" y="3733800"/>
              <a:ext cx="152400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408305" y="3147060"/>
            <a:ext cx="8229600" cy="32238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3020">
              <a:lnSpc>
                <a:spcPct val="150000"/>
              </a:lnSpc>
              <a:spcBef>
                <a:spcPts val="865"/>
              </a:spcBef>
            </a:pPr>
            <a:r>
              <a:rPr b="1" dirty="0">
                <a:ea typeface="华文楷体" panose="02010600040101010101" charset="-122"/>
                <a:cs typeface="+mn-lt"/>
              </a:rPr>
              <a:t>当</a:t>
            </a:r>
            <a:r>
              <a:rPr b="1" dirty="0">
                <a:solidFill>
                  <a:srgbClr val="FF0000"/>
                </a:solidFill>
                <a:ea typeface="华文楷体" panose="02010600040101010101" charset="-122"/>
                <a:cs typeface="+mn-lt"/>
              </a:rPr>
              <a:t>D锁存器为1</a:t>
            </a:r>
            <a:r>
              <a:rPr b="1" dirty="0">
                <a:ea typeface="华文楷体" panose="02010600040101010101" charset="-122"/>
                <a:cs typeface="+mn-lt"/>
              </a:rPr>
              <a:t>时， </a:t>
            </a:r>
            <a:r>
              <a:rPr b="1" dirty="0">
                <a:solidFill>
                  <a:srgbClr val="FF0000"/>
                </a:solidFill>
                <a:ea typeface="华文楷体" panose="02010600040101010101" charset="-122"/>
                <a:cs typeface="+mn-lt"/>
              </a:rPr>
              <a:t>Q</a:t>
            </a:r>
            <a:r>
              <a:rPr b="1" dirty="0">
                <a:solidFill>
                  <a:srgbClr val="0000FF"/>
                </a:solidFill>
                <a:ea typeface="华文楷体" panose="02010600040101010101" charset="-122"/>
                <a:cs typeface="+mn-lt"/>
              </a:rPr>
              <a:t>端</a:t>
            </a:r>
            <a:r>
              <a:rPr b="1" dirty="0">
                <a:ea typeface="华文楷体" panose="02010600040101010101" charset="-122"/>
                <a:cs typeface="+mn-lt"/>
              </a:rPr>
              <a:t>为0，下方场效应管截止，输出为漏极开路，此时，</a:t>
            </a:r>
            <a:r>
              <a:rPr b="1" dirty="0">
                <a:solidFill>
                  <a:srgbClr val="0000FF"/>
                </a:solidFill>
                <a:ea typeface="华文楷体" panose="02010600040101010101" charset="-122"/>
                <a:cs typeface="+mn-lt"/>
              </a:rPr>
              <a:t>必须外接上拉电阻</a:t>
            </a:r>
            <a:r>
              <a:rPr b="1" dirty="0">
                <a:ea typeface="华文楷体" panose="02010600040101010101" charset="-122"/>
                <a:cs typeface="+mn-lt"/>
              </a:rPr>
              <a:t>才能有</a:t>
            </a:r>
            <a:r>
              <a:rPr b="1" dirty="0">
                <a:solidFill>
                  <a:srgbClr val="0000FF"/>
                </a:solidFill>
                <a:ea typeface="华文楷体" panose="02010600040101010101" charset="-122"/>
                <a:cs typeface="+mn-lt"/>
              </a:rPr>
              <a:t>高电平输出</a:t>
            </a:r>
            <a:r>
              <a:rPr b="1" dirty="0">
                <a:ea typeface="华文楷体" panose="02010600040101010101" charset="-122"/>
                <a:cs typeface="+mn-lt"/>
              </a:rPr>
              <a:t>；</a:t>
            </a:r>
          </a:p>
          <a:p>
            <a:pPr marL="33020">
              <a:lnSpc>
                <a:spcPct val="150000"/>
              </a:lnSpc>
              <a:spcBef>
                <a:spcPts val="1155"/>
              </a:spcBef>
            </a:pPr>
            <a:r>
              <a:rPr b="1" dirty="0">
                <a:ea typeface="华文楷体" panose="02010600040101010101" charset="-122"/>
                <a:cs typeface="+mn-lt"/>
              </a:rPr>
              <a:t>当</a:t>
            </a:r>
            <a:r>
              <a:rPr b="1" dirty="0">
                <a:solidFill>
                  <a:srgbClr val="FF0000"/>
                </a:solidFill>
                <a:ea typeface="华文楷体" panose="02010600040101010101" charset="-122"/>
                <a:cs typeface="+mn-lt"/>
              </a:rPr>
              <a:t>D锁存器为0</a:t>
            </a:r>
            <a:r>
              <a:rPr b="1" dirty="0">
                <a:ea typeface="华文楷体" panose="02010600040101010101" charset="-122"/>
                <a:cs typeface="+mn-lt"/>
              </a:rPr>
              <a:t>时，下方场效应管导通，P0口输出为低电平。</a:t>
            </a:r>
            <a:endParaRPr sz="2050" b="1" dirty="0">
              <a:ea typeface="华文楷体" panose="02010600040101010101" charset="-122"/>
              <a:cs typeface="+mn-lt"/>
            </a:endParaRPr>
          </a:p>
          <a:p>
            <a:pPr marL="33020">
              <a:lnSpc>
                <a:spcPct val="150000"/>
              </a:lnSpc>
            </a:pPr>
            <a:r>
              <a:rPr b="1" dirty="0">
                <a:solidFill>
                  <a:srgbClr val="FF0000"/>
                </a:solidFill>
                <a:ea typeface="华文楷体" panose="02010600040101010101" charset="-122"/>
                <a:cs typeface="+mn-lt"/>
              </a:rPr>
              <a:t>P0口作</a:t>
            </a:r>
            <a:r>
              <a:rPr b="1" dirty="0">
                <a:solidFill>
                  <a:srgbClr val="0000FF"/>
                </a:solidFill>
                <a:ea typeface="华文楷体" panose="02010600040101010101" charset="-122"/>
                <a:cs typeface="+mn-lt"/>
              </a:rPr>
              <a:t>I/O输入</a:t>
            </a:r>
            <a:r>
              <a:rPr b="1" dirty="0">
                <a:ea typeface="华文楷体" panose="02010600040101010101" charset="-122"/>
                <a:cs typeface="+mn-lt"/>
              </a:rPr>
              <a:t>使用时，</a:t>
            </a:r>
            <a:r>
              <a:rPr b="1" dirty="0">
                <a:solidFill>
                  <a:srgbClr val="3333CC"/>
                </a:solidFill>
                <a:ea typeface="华文楷体" panose="02010600040101010101" charset="-122"/>
                <a:cs typeface="+mn-lt"/>
              </a:rPr>
              <a:t>两种读入方式</a:t>
            </a:r>
            <a:r>
              <a:rPr b="1" dirty="0">
                <a:ea typeface="华文楷体" panose="02010600040101010101" charset="-122"/>
                <a:cs typeface="+mn-lt"/>
              </a:rPr>
              <a:t>：</a:t>
            </a:r>
            <a:r>
              <a:rPr b="1" dirty="0">
                <a:solidFill>
                  <a:srgbClr val="FF0000"/>
                </a:solidFill>
                <a:ea typeface="华文楷体" panose="02010600040101010101" charset="-122"/>
                <a:cs typeface="+mn-lt"/>
              </a:rPr>
              <a:t>“读锁存器”</a:t>
            </a:r>
            <a:r>
              <a:rPr b="1" dirty="0">
                <a:ea typeface="华文楷体" panose="02010600040101010101" charset="-122"/>
                <a:cs typeface="+mn-lt"/>
              </a:rPr>
              <a:t>和</a:t>
            </a:r>
            <a:r>
              <a:rPr b="1" dirty="0">
                <a:solidFill>
                  <a:srgbClr val="FF0000"/>
                </a:solidFill>
                <a:ea typeface="华文楷体" panose="02010600040101010101" charset="-122"/>
                <a:cs typeface="+mn-lt"/>
              </a:rPr>
              <a:t>“读引脚”</a:t>
            </a:r>
            <a:r>
              <a:rPr b="1" dirty="0">
                <a:ea typeface="华文楷体" panose="02010600040101010101" charset="-122"/>
                <a:cs typeface="+mn-lt"/>
              </a:rPr>
              <a:t>。</a:t>
            </a:r>
          </a:p>
          <a:p>
            <a:pPr marL="33020">
              <a:lnSpc>
                <a:spcPct val="150000"/>
              </a:lnSpc>
            </a:pPr>
            <a:r>
              <a:rPr b="1" dirty="0">
                <a:ea typeface="华文楷体" panose="02010600040101010101" charset="-122"/>
                <a:cs typeface="+mn-lt"/>
              </a:rPr>
              <a:t>当</a:t>
            </a:r>
            <a:r>
              <a:rPr b="1" dirty="0">
                <a:solidFill>
                  <a:srgbClr val="3333CC"/>
                </a:solidFill>
                <a:ea typeface="华文楷体" panose="02010600040101010101" charset="-122"/>
                <a:cs typeface="+mn-lt"/>
              </a:rPr>
              <a:t>CPU发出</a:t>
            </a:r>
            <a:r>
              <a:rPr b="1" dirty="0">
                <a:solidFill>
                  <a:srgbClr val="FF0000"/>
                </a:solidFill>
                <a:ea typeface="华文楷体" panose="02010600040101010101" charset="-122"/>
                <a:cs typeface="+mn-lt"/>
              </a:rPr>
              <a:t>“读锁存器”</a:t>
            </a:r>
            <a:r>
              <a:rPr b="1" dirty="0">
                <a:ea typeface="华文楷体" panose="02010600040101010101" charset="-122"/>
                <a:cs typeface="+mn-lt"/>
              </a:rPr>
              <a:t>指令时，</a:t>
            </a:r>
            <a:r>
              <a:rPr b="1" dirty="0">
                <a:solidFill>
                  <a:srgbClr val="0000FF"/>
                </a:solidFill>
                <a:ea typeface="华文楷体" panose="02010600040101010101" charset="-122"/>
                <a:cs typeface="+mn-lt"/>
              </a:rPr>
              <a:t>锁存器的状态</a:t>
            </a:r>
            <a:r>
              <a:rPr b="1" dirty="0">
                <a:ea typeface="华文楷体" panose="02010600040101010101" charset="-122"/>
                <a:cs typeface="+mn-lt"/>
              </a:rPr>
              <a:t>由Q端经上方的三态缓冲器</a:t>
            </a:r>
            <a:r>
              <a:rPr b="1" dirty="0">
                <a:solidFill>
                  <a:srgbClr val="0000FF"/>
                </a:solidFill>
                <a:ea typeface="华文楷体" panose="02010600040101010101" charset="-122"/>
                <a:cs typeface="+mn-lt"/>
              </a:rPr>
              <a:t>BUF1</a:t>
            </a:r>
            <a:r>
              <a:rPr b="1" dirty="0">
                <a:ea typeface="华文楷体" panose="02010600040101010101" charset="-122"/>
                <a:cs typeface="+mn-lt"/>
              </a:rPr>
              <a:t>进入内部总线。 当CPU发出</a:t>
            </a:r>
            <a:r>
              <a:rPr b="1" dirty="0">
                <a:solidFill>
                  <a:srgbClr val="FF0000"/>
                </a:solidFill>
                <a:ea typeface="华文楷体" panose="02010600040101010101" charset="-122"/>
                <a:cs typeface="+mn-lt"/>
              </a:rPr>
              <a:t>“读引脚”指令</a:t>
            </a:r>
            <a:r>
              <a:rPr b="1" dirty="0">
                <a:ea typeface="华文楷体" panose="02010600040101010101" charset="-122"/>
                <a:cs typeface="+mn-lt"/>
              </a:rPr>
              <a:t>时，锁存器的输出状态</a:t>
            </a:r>
            <a:r>
              <a:rPr b="1" dirty="0">
                <a:solidFill>
                  <a:srgbClr val="0000FF"/>
                </a:solidFill>
                <a:ea typeface="华文楷体" panose="02010600040101010101" charset="-122"/>
                <a:cs typeface="+mn-lt"/>
              </a:rPr>
              <a:t>Q</a:t>
            </a:r>
            <a:r>
              <a:rPr b="1" dirty="0">
                <a:ea typeface="华文楷体" panose="02010600040101010101" charset="-122"/>
                <a:cs typeface="+mn-lt"/>
              </a:rPr>
              <a:t>=1（</a:t>
            </a:r>
            <a:r>
              <a:rPr b="1" dirty="0">
                <a:solidFill>
                  <a:srgbClr val="0000FF"/>
                </a:solidFill>
                <a:ea typeface="华文楷体" panose="02010600040101010101" charset="-122"/>
                <a:cs typeface="+mn-lt"/>
              </a:rPr>
              <a:t>Q*端</a:t>
            </a:r>
            <a:r>
              <a:rPr b="1" dirty="0">
                <a:ea typeface="华文楷体" panose="02010600040101010101" charset="-122"/>
                <a:cs typeface="+mn-lt"/>
              </a:rPr>
              <a:t>为0），而使下方场效应管截止，</a:t>
            </a:r>
            <a:r>
              <a:rPr b="1" dirty="0">
                <a:solidFill>
                  <a:srgbClr val="3333CC"/>
                </a:solidFill>
                <a:ea typeface="华文楷体" panose="02010600040101010101" charset="-122"/>
                <a:cs typeface="+mn-lt"/>
              </a:rPr>
              <a:t>引脚的状态</a:t>
            </a:r>
            <a:r>
              <a:rPr b="1" dirty="0">
                <a:ea typeface="华文楷体" panose="02010600040101010101" charset="-122"/>
                <a:cs typeface="+mn-lt"/>
              </a:rPr>
              <a:t>经下方的三态缓冲器</a:t>
            </a:r>
            <a:r>
              <a:rPr b="1" dirty="0">
                <a:solidFill>
                  <a:srgbClr val="0000FF"/>
                </a:solidFill>
                <a:ea typeface="华文楷体" panose="02010600040101010101" charset="-122"/>
                <a:cs typeface="+mn-lt"/>
              </a:rPr>
              <a:t>BUF2</a:t>
            </a:r>
            <a:r>
              <a:rPr b="1" dirty="0">
                <a:ea typeface="华文楷体" panose="02010600040101010101" charset="-122"/>
                <a:cs typeface="+mn-lt"/>
              </a:rPr>
              <a:t>进入内部总线。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2019" y="44322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6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P0</a:t>
            </a:r>
            <a:r>
              <a:rPr sz="24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口</a:t>
            </a:r>
            <a:endParaRPr sz="24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29740" y="533400"/>
            <a:ext cx="2381250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9875" algn="l"/>
              </a:tabLst>
            </a:pPr>
            <a:r>
              <a:rPr spc="135" dirty="0"/>
              <a:t>-	</a:t>
            </a:r>
            <a:r>
              <a:rPr spc="15" dirty="0"/>
              <a:t>工作</a:t>
            </a:r>
            <a:r>
              <a:rPr spc="5" dirty="0"/>
              <a:t>原理</a:t>
            </a:r>
          </a:p>
        </p:txBody>
      </p:sp>
      <p:sp>
        <p:nvSpPr>
          <p:cNvPr id="5" name="object 5"/>
          <p:cNvSpPr/>
          <p:nvPr/>
        </p:nvSpPr>
        <p:spPr>
          <a:xfrm>
            <a:off x="4154170" y="427990"/>
            <a:ext cx="3954780" cy="27654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2362200" y="3352800"/>
            <a:ext cx="152400" cy="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9168" y="2963037"/>
            <a:ext cx="8477885" cy="25346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2000" spc="10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双功能口</a:t>
            </a:r>
            <a:r>
              <a:rPr sz="2000" spc="-16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——</a:t>
            </a:r>
            <a:r>
              <a:rPr sz="2000" spc="1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地</a:t>
            </a:r>
            <a:r>
              <a:rPr sz="2000" spc="15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址</a:t>
            </a:r>
            <a:r>
              <a:rPr sz="2000" spc="12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/</a:t>
            </a:r>
            <a:r>
              <a:rPr sz="2000" spc="1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数据</a:t>
            </a:r>
            <a:r>
              <a:rPr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复</a:t>
            </a:r>
            <a:r>
              <a:rPr sz="2000" spc="15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用</a:t>
            </a:r>
            <a:r>
              <a:rPr sz="2000" spc="1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口和</a:t>
            </a:r>
            <a:r>
              <a:rPr sz="2000" spc="1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通用</a:t>
            </a:r>
            <a:r>
              <a:rPr sz="2000" spc="-4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I/O</a:t>
            </a:r>
            <a:r>
              <a:rPr sz="2000" spc="1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口。</a:t>
            </a:r>
            <a:endParaRPr sz="2000" dirty="0">
              <a:latin typeface="楷体" panose="02010609060101010101" pitchFamily="49" charset="-122"/>
              <a:ea typeface="楷体" panose="02010609060101010101" pitchFamily="49" charset="-122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/>
            </a:endParaRPr>
          </a:p>
          <a:p>
            <a:pPr marL="24130">
              <a:lnSpc>
                <a:spcPct val="100000"/>
              </a:lnSpc>
              <a:buClr>
                <a:srgbClr val="FF0000"/>
              </a:buClr>
              <a:buSzPct val="95000"/>
              <a:tabLst>
                <a:tab pos="665480" algn="l"/>
              </a:tabLst>
            </a:pPr>
            <a:r>
              <a:rPr lang="en-US" sz="2000" spc="10" dirty="0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1.</a:t>
            </a:r>
            <a:r>
              <a:rPr sz="2000" spc="10" dirty="0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当用</a:t>
            </a:r>
            <a:r>
              <a:rPr sz="2000" spc="-5" dirty="0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作</a:t>
            </a:r>
            <a:r>
              <a:rPr sz="2000" spc="10" dirty="0" smtClean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地址</a:t>
            </a:r>
            <a:r>
              <a:rPr sz="2000" spc="120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/</a:t>
            </a:r>
            <a:r>
              <a:rPr sz="2000" spc="10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数据</a:t>
            </a:r>
            <a:r>
              <a:rPr sz="2000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复</a:t>
            </a:r>
            <a:r>
              <a:rPr sz="2000" spc="15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用</a:t>
            </a:r>
            <a:r>
              <a:rPr sz="2000" spc="1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口时，</a:t>
            </a:r>
            <a:r>
              <a:rPr sz="200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为</a:t>
            </a:r>
            <a:r>
              <a:rPr sz="2000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真</a:t>
            </a:r>
            <a:r>
              <a:rPr sz="2000" spc="10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正双向</a:t>
            </a:r>
            <a:r>
              <a:rPr sz="2000" spc="15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口</a:t>
            </a:r>
            <a:r>
              <a:rPr sz="200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，</a:t>
            </a:r>
          </a:p>
          <a:p>
            <a:pPr marL="24130">
              <a:lnSpc>
                <a:spcPct val="100000"/>
              </a:lnSpc>
              <a:spcBef>
                <a:spcPts val="1680"/>
              </a:spcBef>
              <a:buClr>
                <a:srgbClr val="FF0000"/>
              </a:buClr>
              <a:buSzPct val="95000"/>
              <a:tabLst>
                <a:tab pos="665480" algn="l"/>
              </a:tabLst>
            </a:pPr>
            <a:r>
              <a:rPr lang="en-US" sz="2000" spc="10" dirty="0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2.</a:t>
            </a:r>
            <a:r>
              <a:rPr sz="2000" spc="10" dirty="0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当</a:t>
            </a:r>
            <a:r>
              <a:rPr sz="2000" spc="-22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P0</a:t>
            </a:r>
            <a:r>
              <a:rPr sz="2000" spc="1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口用作</a:t>
            </a:r>
            <a:r>
              <a:rPr sz="2000" spc="15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通用</a:t>
            </a:r>
            <a:r>
              <a:rPr sz="2000" spc="-40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I/</a:t>
            </a:r>
            <a:r>
              <a:rPr sz="2000" spc="-40" dirty="0" err="1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O</a:t>
            </a:r>
            <a:r>
              <a:rPr sz="2000" spc="10" dirty="0" err="1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口时，</a:t>
            </a:r>
            <a:r>
              <a:rPr sz="2000" spc="10" dirty="0" err="1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需</a:t>
            </a:r>
            <a:r>
              <a:rPr sz="2000" dirty="0" err="1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在</a:t>
            </a:r>
            <a:r>
              <a:rPr sz="2000" spc="5" dirty="0" err="1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片</a:t>
            </a:r>
            <a:r>
              <a:rPr sz="2000" spc="10" dirty="0" err="1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外接上拉</a:t>
            </a:r>
            <a:r>
              <a:rPr sz="2000" spc="5" dirty="0" err="1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电阻</a:t>
            </a:r>
            <a:r>
              <a:rPr sz="2000" dirty="0" err="1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，</a:t>
            </a:r>
            <a:r>
              <a:rPr sz="2000" dirty="0" err="1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是</a:t>
            </a:r>
            <a:r>
              <a:rPr sz="2000" spc="15" dirty="0" err="1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一</a:t>
            </a:r>
            <a:r>
              <a:rPr sz="2000" spc="10" dirty="0" err="1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准双向</a:t>
            </a:r>
            <a:r>
              <a:rPr sz="2000" spc="-5" dirty="0" err="1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口</a:t>
            </a:r>
            <a:r>
              <a:rPr sz="200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。</a:t>
            </a:r>
          </a:p>
          <a:p>
            <a:pPr marL="24130" indent="0">
              <a:lnSpc>
                <a:spcPct val="100000"/>
              </a:lnSpc>
              <a:spcBef>
                <a:spcPts val="1680"/>
              </a:spcBef>
              <a:buClr>
                <a:srgbClr val="FF0000"/>
              </a:buClr>
              <a:buSzPct val="95000"/>
              <a:buNone/>
              <a:tabLst>
                <a:tab pos="665480" algn="l"/>
              </a:tabLst>
            </a:pPr>
            <a:endParaRPr sz="2000" dirty="0">
              <a:latin typeface="楷体" panose="02010609060101010101" pitchFamily="49" charset="-122"/>
              <a:ea typeface="楷体" panose="02010609060101010101" pitchFamily="49" charset="-122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</a:pPr>
            <a:r>
              <a:rPr sz="2000" spc="1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    </a:t>
            </a:r>
            <a:r>
              <a:rPr sz="2000" spc="1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单片机</a:t>
            </a:r>
            <a:r>
              <a:rPr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复位</a:t>
            </a:r>
            <a:r>
              <a:rPr sz="2000" spc="1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后</a:t>
            </a:r>
            <a:r>
              <a:rPr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，</a:t>
            </a:r>
            <a:r>
              <a:rPr sz="2000" spc="-210" dirty="0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P0</a:t>
            </a:r>
            <a:r>
              <a:rPr sz="2000" spc="1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口</a:t>
            </a:r>
            <a:r>
              <a:rPr sz="200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各</a:t>
            </a:r>
            <a:r>
              <a:rPr sz="2000" spc="1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锁存器自</a:t>
            </a:r>
            <a:r>
              <a:rPr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动被</a:t>
            </a:r>
            <a:r>
              <a:rPr sz="2000" spc="2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置</a:t>
            </a:r>
            <a:r>
              <a:rPr sz="2000" spc="-9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1，</a:t>
            </a:r>
            <a:r>
              <a:rPr sz="2000" spc="1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下面</a:t>
            </a:r>
            <a:r>
              <a:rPr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的</a:t>
            </a:r>
            <a:r>
              <a:rPr sz="2000" spc="1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场效应管</a:t>
            </a:r>
            <a:r>
              <a:rPr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截</a:t>
            </a:r>
            <a:r>
              <a:rPr sz="2000" spc="15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止</a:t>
            </a:r>
            <a:r>
              <a:rPr sz="2000" dirty="0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；</a:t>
            </a:r>
            <a:r>
              <a:rPr sz="2000" spc="-215" dirty="0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P0</a:t>
            </a:r>
            <a:r>
              <a:rPr sz="2000" spc="10" dirty="0" smtClean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口</a:t>
            </a:r>
            <a:r>
              <a:rPr sz="2000" spc="10" dirty="0" smtClea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如</a:t>
            </a:r>
            <a:endParaRPr lang="en-US" sz="2000" spc="10" dirty="0" smtClean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</a:pPr>
            <a:r>
              <a:rPr sz="2000" spc="10" dirty="0" err="1" smtClea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用</a:t>
            </a:r>
            <a:r>
              <a:rPr sz="2000" dirty="0" err="1" smtClea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作</a:t>
            </a:r>
            <a:r>
              <a:rPr sz="2000" spc="10" dirty="0" err="1" smtClea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地</a:t>
            </a:r>
            <a:r>
              <a:rPr sz="2000" spc="15" dirty="0" err="1" smtClea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址</a:t>
            </a:r>
            <a:r>
              <a:rPr sz="2000" spc="12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/</a:t>
            </a:r>
            <a:r>
              <a:rPr sz="2000" spc="1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数据</a:t>
            </a:r>
            <a:r>
              <a:rPr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复</a:t>
            </a:r>
            <a:r>
              <a:rPr sz="2000" spc="15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用</a:t>
            </a:r>
            <a:r>
              <a:rPr sz="2000" spc="1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的总线</a:t>
            </a:r>
            <a:r>
              <a:rPr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口</a:t>
            </a:r>
            <a:r>
              <a:rPr sz="200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，</a:t>
            </a:r>
            <a:r>
              <a:rPr sz="2000" spc="1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就不</a:t>
            </a:r>
            <a:r>
              <a:rPr sz="2000" spc="15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能</a:t>
            </a:r>
            <a:r>
              <a:rPr sz="2000" spc="1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再</a:t>
            </a:r>
            <a:r>
              <a:rPr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作通</a:t>
            </a:r>
            <a:r>
              <a:rPr sz="2000" spc="15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用</a:t>
            </a:r>
            <a:r>
              <a:rPr sz="2000" spc="-35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I/O</a:t>
            </a:r>
            <a:r>
              <a:rPr sz="2000" spc="1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口使</a:t>
            </a:r>
            <a:r>
              <a:rPr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用</a:t>
            </a:r>
            <a:r>
              <a:rPr sz="2000" dirty="0">
                <a:latin typeface="楷体" panose="02010609060101010101" pitchFamily="49" charset="-122"/>
                <a:ea typeface="楷体" panose="02010609060101010101" pitchFamily="49" charset="-122"/>
                <a:cs typeface="Microsoft JhengHei" panose="020B0604030504040204" charset="-120"/>
              </a:rPr>
              <a:t>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7616" y="0"/>
            <a:ext cx="1257300" cy="887094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b="1" spc="-26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P0</a:t>
            </a:r>
            <a:r>
              <a:rPr sz="24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口</a:t>
            </a:r>
            <a:endParaRPr sz="2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474345">
              <a:lnSpc>
                <a:spcPct val="100000"/>
              </a:lnSpc>
              <a:spcBef>
                <a:spcPts val="685"/>
              </a:spcBef>
              <a:tabLst>
                <a:tab pos="732155" algn="l"/>
              </a:tabLst>
            </a:pPr>
            <a:r>
              <a:rPr sz="2000" b="1" spc="135" dirty="0">
                <a:solidFill>
                  <a:srgbClr val="A40020"/>
                </a:solidFill>
                <a:latin typeface="Microsoft JhengHei" panose="020B0604030504040204" charset="-120"/>
                <a:cs typeface="Microsoft JhengHei" panose="020B0604030504040204" charset="-120"/>
              </a:rPr>
              <a:t>-	</a:t>
            </a:r>
            <a:r>
              <a:rPr sz="2000" b="1" spc="10" dirty="0">
                <a:solidFill>
                  <a:srgbClr val="A4002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总结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72128" y="284988"/>
            <a:ext cx="3678935" cy="2374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216065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/>
            <a:r>
              <a:rPr lang="en-US" altLang="zh-CN" b="1" dirty="0">
                <a:sym typeface="EuroRoman" panose="00000400000000000000" pitchFamily="2" charset="2"/>
              </a:rPr>
              <a:t> P1</a:t>
            </a:r>
            <a:r>
              <a:rPr lang="zh-CN" altLang="en-US" b="1" dirty="0">
                <a:sym typeface="EuroRoman" panose="00000400000000000000" pitchFamily="2" charset="2"/>
              </a:rPr>
              <a:t>口</a:t>
            </a:r>
          </a:p>
        </p:txBody>
      </p:sp>
      <p:sp>
        <p:nvSpPr>
          <p:cNvPr id="60418" name="文本占位符 216066"/>
          <p:cNvSpPr>
            <a:spLocks noGrp="1"/>
          </p:cNvSpPr>
          <p:nvPr>
            <p:ph idx="1"/>
          </p:nvPr>
        </p:nvSpPr>
        <p:spPr>
          <a:xfrm>
            <a:off x="685800" y="1184910"/>
            <a:ext cx="7772400" cy="638175"/>
          </a:xfrm>
        </p:spPr>
        <p:txBody>
          <a:bodyPr anchor="t"/>
          <a:lstStyle/>
          <a:p>
            <a:pPr algn="just">
              <a:buNone/>
            </a:pPr>
            <a:r>
              <a:rPr lang="en-US" altLang="zh-CN" b="1" dirty="0" smtClean="0">
                <a:solidFill>
                  <a:schemeClr val="hlink"/>
                </a:solidFill>
              </a:rPr>
              <a:t>P1</a:t>
            </a:r>
            <a:r>
              <a:rPr lang="zh-CN" altLang="en-US" b="1" dirty="0" smtClean="0">
                <a:solidFill>
                  <a:schemeClr val="hlink"/>
                </a:solidFill>
              </a:rPr>
              <a:t>是一个带有内部上拉电阻的</a:t>
            </a:r>
            <a:r>
              <a:rPr lang="en-US" altLang="zh-CN" b="1" dirty="0" smtClean="0">
                <a:solidFill>
                  <a:schemeClr val="hlink"/>
                </a:solidFill>
              </a:rPr>
              <a:t>8</a:t>
            </a:r>
            <a:r>
              <a:rPr lang="zh-CN" altLang="en-US" b="1" dirty="0" smtClean="0">
                <a:solidFill>
                  <a:schemeClr val="hlink"/>
                </a:solidFill>
              </a:rPr>
              <a:t>位双向</a:t>
            </a:r>
            <a:r>
              <a:rPr lang="en-US" altLang="zh-CN" b="1" dirty="0" smtClean="0">
                <a:solidFill>
                  <a:schemeClr val="hlink"/>
                </a:solidFill>
              </a:rPr>
              <a:t>I/O</a:t>
            </a:r>
            <a:r>
              <a:rPr lang="zh-CN" altLang="en-US" b="1" dirty="0" smtClean="0">
                <a:solidFill>
                  <a:schemeClr val="hlink"/>
                </a:solidFill>
              </a:rPr>
              <a:t>口</a:t>
            </a:r>
            <a:endParaRPr lang="en-US" altLang="zh-CN" b="1" dirty="0"/>
          </a:p>
        </p:txBody>
      </p:sp>
      <p:sp>
        <p:nvSpPr>
          <p:cNvPr id="60421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31250" y="6536690"/>
            <a:ext cx="412750" cy="26733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16</a:t>
            </a:fld>
            <a:endParaRPr lang="zh-CN" altLang="en-US" sz="1400" b="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351522"/>
            <a:ext cx="4885714" cy="321904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216065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/>
            <a:r>
              <a:rPr lang="en-US" altLang="zh-CN" b="1" dirty="0">
                <a:sym typeface="EuroRoman" panose="00000400000000000000" pitchFamily="2" charset="2"/>
              </a:rPr>
              <a:t> P1</a:t>
            </a:r>
            <a:r>
              <a:rPr lang="zh-CN" altLang="en-US" b="1" dirty="0">
                <a:sym typeface="EuroRoman" panose="00000400000000000000" pitchFamily="2" charset="2"/>
              </a:rPr>
              <a:t>口</a:t>
            </a:r>
          </a:p>
        </p:txBody>
      </p:sp>
      <p:sp>
        <p:nvSpPr>
          <p:cNvPr id="60421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731250" y="6536690"/>
            <a:ext cx="412750" cy="26733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17</a:t>
            </a:fld>
            <a:endParaRPr lang="zh-CN" altLang="en-US" sz="1400" b="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28800"/>
            <a:ext cx="8433743" cy="307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630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标题 22016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/>
            <a:r>
              <a:rPr lang="en-US" altLang="zh-CN" b="1" dirty="0">
                <a:sym typeface="EuroRoman" panose="00000400000000000000" pitchFamily="2" charset="2"/>
              </a:rPr>
              <a:t> P2</a:t>
            </a:r>
            <a:r>
              <a:rPr lang="zh-CN" altLang="en-US" b="1" dirty="0">
                <a:sym typeface="EuroRoman" panose="00000400000000000000" pitchFamily="2" charset="2"/>
              </a:rPr>
              <a:t>口</a:t>
            </a:r>
          </a:p>
        </p:txBody>
      </p:sp>
      <p:sp>
        <p:nvSpPr>
          <p:cNvPr id="61442" name="文本占位符 220162"/>
          <p:cNvSpPr>
            <a:spLocks noGrp="1"/>
          </p:cNvSpPr>
          <p:nvPr>
            <p:ph idx="1"/>
          </p:nvPr>
        </p:nvSpPr>
        <p:spPr>
          <a:xfrm>
            <a:off x="1066800" y="1531937"/>
            <a:ext cx="7162800" cy="1211263"/>
          </a:xfrm>
        </p:spPr>
        <p:txBody>
          <a:bodyPr anchor="t"/>
          <a:lstStyle/>
          <a:p>
            <a:pPr algn="just">
              <a:buNone/>
            </a:pPr>
            <a:r>
              <a:rPr lang="zh-CN" altLang="en-US" sz="2400" b="1" dirty="0"/>
              <a:t>一、</a:t>
            </a:r>
            <a:r>
              <a:rPr lang="en-US" altLang="zh-CN" sz="2400" b="1" dirty="0"/>
              <a:t>P2</a:t>
            </a:r>
            <a:r>
              <a:rPr lang="zh-CN" altLang="en-US" sz="2400" b="1" dirty="0"/>
              <a:t>口用作一般</a:t>
            </a:r>
            <a:r>
              <a:rPr lang="en-US" altLang="zh-CN" sz="2400" b="1" dirty="0"/>
              <a:t>I/O</a:t>
            </a:r>
            <a:r>
              <a:rPr lang="zh-CN" altLang="en-US" sz="2400" b="1" dirty="0"/>
              <a:t>口</a:t>
            </a:r>
          </a:p>
          <a:p>
            <a:pPr algn="just">
              <a:buNone/>
            </a:pPr>
            <a:r>
              <a:rPr lang="zh-CN" altLang="en-US" sz="2400" b="1" dirty="0"/>
              <a:t>二、</a:t>
            </a:r>
            <a:r>
              <a:rPr lang="en-US" altLang="zh-CN" sz="2400" b="1" dirty="0"/>
              <a:t>P2</a:t>
            </a:r>
            <a:r>
              <a:rPr lang="zh-CN" altLang="en-US" sz="2400" b="1" dirty="0"/>
              <a:t>口用作高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位地址总线</a:t>
            </a:r>
          </a:p>
        </p:txBody>
      </p:sp>
      <p:sp>
        <p:nvSpPr>
          <p:cNvPr id="61445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00135" y="6576695"/>
            <a:ext cx="393700" cy="28130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18</a:t>
            </a:fld>
            <a:endParaRPr lang="zh-CN" altLang="en-US" sz="1400" b="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43200"/>
            <a:ext cx="5742857" cy="316190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227329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/>
            <a:r>
              <a:rPr lang="en-US" altLang="zh-CN" b="1" dirty="0">
                <a:sym typeface="EuroRoman" panose="00000400000000000000" pitchFamily="2" charset="2"/>
              </a:rPr>
              <a:t>P3</a:t>
            </a:r>
            <a:r>
              <a:rPr lang="zh-CN" altLang="en-US" b="1" dirty="0">
                <a:sym typeface="EuroRoman" panose="00000400000000000000" pitchFamily="2" charset="2"/>
              </a:rPr>
              <a:t>口</a:t>
            </a:r>
          </a:p>
        </p:txBody>
      </p:sp>
      <p:sp>
        <p:nvSpPr>
          <p:cNvPr id="62466" name="文本占位符 227330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1258888"/>
          </a:xfrm>
        </p:spPr>
        <p:txBody>
          <a:bodyPr anchor="t"/>
          <a:lstStyle/>
          <a:p>
            <a:pPr algn="just">
              <a:buNone/>
            </a:pPr>
            <a:r>
              <a:rPr lang="zh-CN" altLang="en-US" sz="2400" b="1" dirty="0"/>
              <a:t>一、</a:t>
            </a:r>
            <a:r>
              <a:rPr lang="en-US" altLang="zh-CN" sz="2400" b="1" dirty="0">
                <a:sym typeface="EuroRoman" panose="00000400000000000000" pitchFamily="2" charset="2"/>
              </a:rPr>
              <a:t>P3</a:t>
            </a:r>
            <a:r>
              <a:rPr lang="zh-CN" altLang="en-US" sz="2400" b="1" dirty="0">
                <a:sym typeface="EuroRoman" panose="00000400000000000000" pitchFamily="2" charset="2"/>
              </a:rPr>
              <a:t>口作为通用</a:t>
            </a:r>
            <a:r>
              <a:rPr lang="en-US" altLang="zh-CN" sz="2400" b="1" dirty="0">
                <a:sym typeface="EuroRoman" panose="00000400000000000000" pitchFamily="2" charset="2"/>
              </a:rPr>
              <a:t>I/O</a:t>
            </a:r>
            <a:r>
              <a:rPr lang="zh-CN" altLang="en-US" sz="2400" b="1" dirty="0">
                <a:sym typeface="EuroRoman" panose="00000400000000000000" pitchFamily="2" charset="2"/>
              </a:rPr>
              <a:t>口使用</a:t>
            </a:r>
            <a:endParaRPr lang="zh-CN" altLang="en-US" sz="2400" dirty="0"/>
          </a:p>
          <a:p>
            <a:pPr algn="just">
              <a:buNone/>
            </a:pPr>
            <a:r>
              <a:rPr lang="zh-CN" altLang="en-US" sz="2400" dirty="0"/>
              <a:t>二</a:t>
            </a:r>
            <a:r>
              <a:rPr lang="zh-CN" altLang="en-US" sz="2400" b="1" dirty="0">
                <a:sym typeface="EuroRoman" panose="00000400000000000000" pitchFamily="2" charset="2"/>
              </a:rPr>
              <a:t>、</a:t>
            </a:r>
            <a:r>
              <a:rPr lang="en-US" altLang="zh-CN" sz="2400" b="1" dirty="0">
                <a:sym typeface="EuroRoman" panose="00000400000000000000" pitchFamily="2" charset="2"/>
              </a:rPr>
              <a:t>P3</a:t>
            </a:r>
            <a:r>
              <a:rPr lang="zh-CN" altLang="en-US" sz="2400" b="1" dirty="0">
                <a:sym typeface="EuroRoman" panose="00000400000000000000" pitchFamily="2" charset="2"/>
              </a:rPr>
              <a:t>口用作第二功能使用</a:t>
            </a:r>
          </a:p>
        </p:txBody>
      </p:sp>
      <p:sp>
        <p:nvSpPr>
          <p:cNvPr id="62469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05215" y="6483985"/>
            <a:ext cx="408305" cy="37401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19</a:t>
            </a:fld>
            <a:endParaRPr lang="zh-CN" altLang="en-US" sz="1400" b="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441098"/>
            <a:ext cx="5238095" cy="359047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227329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/>
            <a:r>
              <a:rPr lang="en-US" altLang="zh-CN" b="1" dirty="0">
                <a:sym typeface="EuroRoman" panose="00000400000000000000" pitchFamily="2" charset="2"/>
              </a:rPr>
              <a:t>P3</a:t>
            </a:r>
            <a:r>
              <a:rPr lang="zh-CN" altLang="en-US" b="1" dirty="0">
                <a:sym typeface="EuroRoman" panose="00000400000000000000" pitchFamily="2" charset="2"/>
              </a:rPr>
              <a:t>口</a:t>
            </a:r>
          </a:p>
        </p:txBody>
      </p:sp>
      <p:sp>
        <p:nvSpPr>
          <p:cNvPr id="62466" name="文本占位符 227330"/>
          <p:cNvSpPr>
            <a:spLocks noGrp="1"/>
          </p:cNvSpPr>
          <p:nvPr>
            <p:ph idx="4294967295"/>
          </p:nvPr>
        </p:nvSpPr>
        <p:spPr>
          <a:xfrm>
            <a:off x="685800" y="1219200"/>
            <a:ext cx="7772400" cy="1258888"/>
          </a:xfrm>
        </p:spPr>
        <p:txBody>
          <a:bodyPr anchor="t"/>
          <a:lstStyle/>
          <a:p>
            <a:pPr algn="just">
              <a:buNone/>
            </a:pPr>
            <a:r>
              <a:rPr lang="zh-CN" altLang="en-US" sz="2400" b="1" dirty="0"/>
              <a:t>一、</a:t>
            </a:r>
            <a:r>
              <a:rPr lang="en-US" altLang="zh-CN" sz="2400" b="1" dirty="0">
                <a:sym typeface="EuroRoman" panose="00000400000000000000" pitchFamily="2" charset="2"/>
              </a:rPr>
              <a:t>P3</a:t>
            </a:r>
            <a:r>
              <a:rPr lang="zh-CN" altLang="en-US" sz="2400" b="1" dirty="0">
                <a:sym typeface="EuroRoman" panose="00000400000000000000" pitchFamily="2" charset="2"/>
              </a:rPr>
              <a:t>口作为通用</a:t>
            </a:r>
            <a:r>
              <a:rPr lang="en-US" altLang="zh-CN" sz="2400" b="1" dirty="0">
                <a:sym typeface="EuroRoman" panose="00000400000000000000" pitchFamily="2" charset="2"/>
              </a:rPr>
              <a:t>I/O</a:t>
            </a:r>
            <a:r>
              <a:rPr lang="zh-CN" altLang="en-US" sz="2400" b="1" dirty="0">
                <a:sym typeface="EuroRoman" panose="00000400000000000000" pitchFamily="2" charset="2"/>
              </a:rPr>
              <a:t>口使用</a:t>
            </a:r>
            <a:endParaRPr lang="zh-CN" altLang="en-US" sz="2400" dirty="0"/>
          </a:p>
          <a:p>
            <a:pPr algn="just">
              <a:buNone/>
            </a:pPr>
            <a:r>
              <a:rPr lang="zh-CN" altLang="en-US" sz="2400" dirty="0"/>
              <a:t>二</a:t>
            </a:r>
            <a:r>
              <a:rPr lang="zh-CN" altLang="en-US" sz="2400" b="1" dirty="0">
                <a:sym typeface="EuroRoman" panose="00000400000000000000" pitchFamily="2" charset="2"/>
              </a:rPr>
              <a:t>、</a:t>
            </a:r>
            <a:r>
              <a:rPr lang="en-US" altLang="zh-CN" sz="2400" b="1" dirty="0">
                <a:sym typeface="EuroRoman" panose="00000400000000000000" pitchFamily="2" charset="2"/>
              </a:rPr>
              <a:t>P3</a:t>
            </a:r>
            <a:r>
              <a:rPr lang="zh-CN" altLang="en-US" sz="2400" b="1" dirty="0">
                <a:sym typeface="EuroRoman" panose="00000400000000000000" pitchFamily="2" charset="2"/>
              </a:rPr>
              <a:t>口用作第二功能使用</a:t>
            </a:r>
          </a:p>
        </p:txBody>
      </p:sp>
      <p:sp>
        <p:nvSpPr>
          <p:cNvPr id="62469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705215" y="6483985"/>
            <a:ext cx="408305" cy="37401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20</a:t>
            </a:fld>
            <a:endParaRPr lang="zh-CN" altLang="en-US" sz="1400" b="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22" y="2133600"/>
            <a:ext cx="4990476" cy="4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2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标题 233473"/>
          <p:cNvSpPr>
            <a:spLocks noGrp="1"/>
          </p:cNvSpPr>
          <p:nvPr>
            <p:ph type="title"/>
          </p:nvPr>
        </p:nvSpPr>
        <p:spPr>
          <a:xfrm>
            <a:off x="1512570" y="273844"/>
            <a:ext cx="7198360" cy="492443"/>
          </a:xfrm>
        </p:spPr>
        <p:txBody>
          <a:bodyPr anchor="ctr"/>
          <a:lstStyle/>
          <a:p>
            <a:pPr algn="l"/>
            <a:r>
              <a:rPr lang="zh-CN" altLang="en-US" sz="3200" b="1" dirty="0">
                <a:sym typeface="EuroRoman" panose="00000400000000000000" pitchFamily="2" charset="2"/>
              </a:rPr>
              <a:t>端口小结</a:t>
            </a:r>
            <a:endParaRPr lang="zh-CN" altLang="en-US" sz="3200" dirty="0">
              <a:sym typeface="EuroRoman" panose="00000400000000000000" pitchFamily="2" charset="2"/>
            </a:endParaRPr>
          </a:p>
        </p:txBody>
      </p:sp>
      <p:sp>
        <p:nvSpPr>
          <p:cNvPr id="64514" name="文本占位符 233474"/>
          <p:cNvSpPr>
            <a:spLocks noGrp="1"/>
          </p:cNvSpPr>
          <p:nvPr>
            <p:ph idx="1"/>
          </p:nvPr>
        </p:nvSpPr>
        <p:spPr>
          <a:xfrm>
            <a:off x="762000" y="1219200"/>
            <a:ext cx="7772400" cy="4745355"/>
          </a:xfrm>
          <a:noFill/>
        </p:spPr>
        <p:txBody>
          <a:bodyPr anchor="t"/>
          <a:lstStyle/>
          <a:p>
            <a:pPr marL="0" indent="0">
              <a:buNone/>
            </a:pPr>
            <a:r>
              <a:rPr lang="en-US" altLang="zh-CN" sz="2000" b="1">
                <a:solidFill>
                  <a:schemeClr val="folHlink"/>
                </a:solidFill>
                <a:sym typeface="EuroRoman" panose="00000400000000000000" pitchFamily="2" charset="2"/>
              </a:rPr>
              <a:t>1</a:t>
            </a:r>
            <a:r>
              <a:rPr lang="zh-CN" altLang="en-US" sz="2000" b="1">
                <a:solidFill>
                  <a:schemeClr val="folHlink"/>
                </a:solidFill>
                <a:sym typeface="EuroRoman" panose="00000400000000000000" pitchFamily="2" charset="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sym typeface="EuroRoman" panose="00000400000000000000" pitchFamily="2" charset="2"/>
              </a:rPr>
              <a:t>P0</a:t>
            </a:r>
            <a:r>
              <a:rPr lang="zh-CN" altLang="en-US" b="1" dirty="0">
                <a:solidFill>
                  <a:schemeClr val="folHlink"/>
                </a:solidFill>
                <a:sym typeface="EuroRoman" panose="00000400000000000000" pitchFamily="2" charset="2"/>
              </a:rPr>
              <a:t>口：</a:t>
            </a:r>
          </a:p>
          <a:p>
            <a:pPr lvl="1">
              <a:lnSpc>
                <a:spcPct val="130000"/>
              </a:lnSpc>
              <a:buClr>
                <a:srgbClr val="FF9999"/>
              </a:buClr>
              <a:buFont typeface="Wingdings" panose="05000000000000000000" pitchFamily="2" charset="2"/>
              <a:buChar char="3"/>
            </a:pPr>
            <a:r>
              <a:rPr lang="zh-CN" altLang="en-US" sz="1800" b="1" dirty="0">
                <a:sym typeface="EuroRoman" panose="00000400000000000000" pitchFamily="2" charset="2"/>
              </a:rPr>
              <a:t> </a:t>
            </a:r>
            <a:r>
              <a:rPr lang="zh-CN" altLang="en-US" sz="1800" b="1" dirty="0">
                <a:solidFill>
                  <a:srgbClr val="CC00CC"/>
                </a:solidFill>
                <a:sym typeface="EuroRoman" panose="00000400000000000000" pitchFamily="2" charset="2"/>
              </a:rPr>
              <a:t>当把它用作通用</a:t>
            </a:r>
            <a:r>
              <a:rPr lang="en-US" altLang="zh-CN" sz="1800" b="1" dirty="0">
                <a:solidFill>
                  <a:srgbClr val="CC00CC"/>
                </a:solidFill>
                <a:sym typeface="EuroRoman" panose="00000400000000000000" pitchFamily="2" charset="2"/>
              </a:rPr>
              <a:t>I/O</a:t>
            </a:r>
            <a:r>
              <a:rPr lang="zh-CN" altLang="en-US" sz="1800" b="1" dirty="0">
                <a:solidFill>
                  <a:srgbClr val="CC00CC"/>
                </a:solidFill>
                <a:sym typeface="EuroRoman" panose="00000400000000000000" pitchFamily="2" charset="2"/>
              </a:rPr>
              <a:t>口使用时，用其输出去驱动</a:t>
            </a:r>
            <a:r>
              <a:rPr lang="en-US" altLang="zh-CN" sz="1800" b="1" dirty="0">
                <a:solidFill>
                  <a:srgbClr val="CC00CC"/>
                </a:solidFill>
                <a:sym typeface="EuroRoman" panose="00000400000000000000" pitchFamily="2" charset="2"/>
              </a:rPr>
              <a:t>NMOS</a:t>
            </a:r>
            <a:r>
              <a:rPr lang="zh-CN" altLang="en-US" sz="1800" b="1" dirty="0">
                <a:solidFill>
                  <a:srgbClr val="CC00CC"/>
                </a:solidFill>
                <a:sym typeface="EuroRoman" panose="00000400000000000000" pitchFamily="2" charset="2"/>
              </a:rPr>
              <a:t>输入时需外接上拉电阻。用作输入时，应先向口锁存器（</a:t>
            </a:r>
            <a:r>
              <a:rPr lang="en-US" altLang="zh-CN" sz="1800" b="1" dirty="0">
                <a:solidFill>
                  <a:srgbClr val="CC00CC"/>
                </a:solidFill>
                <a:sym typeface="EuroRoman" panose="00000400000000000000" pitchFamily="2" charset="2"/>
              </a:rPr>
              <a:t>80H</a:t>
            </a:r>
            <a:r>
              <a:rPr lang="zh-CN" altLang="en-US" sz="1800" b="1" dirty="0">
                <a:solidFill>
                  <a:srgbClr val="CC00CC"/>
                </a:solidFill>
                <a:sym typeface="EuroRoman" panose="00000400000000000000" pitchFamily="2" charset="2"/>
              </a:rPr>
              <a:t>）写</a:t>
            </a:r>
            <a:r>
              <a:rPr lang="en-US" altLang="zh-CN" sz="1800" b="1" dirty="0">
                <a:solidFill>
                  <a:srgbClr val="CC00CC"/>
                </a:solidFill>
                <a:sym typeface="EuroRoman" panose="00000400000000000000" pitchFamily="2" charset="2"/>
              </a:rPr>
              <a:t>1</a:t>
            </a:r>
            <a:r>
              <a:rPr lang="zh-CN" altLang="en-US" sz="1800" b="1" dirty="0">
                <a:solidFill>
                  <a:srgbClr val="CC00CC"/>
                </a:solidFill>
                <a:sym typeface="EuroRoman" panose="00000400000000000000" pitchFamily="2" charset="2"/>
              </a:rPr>
              <a:t>。</a:t>
            </a:r>
          </a:p>
          <a:p>
            <a:pPr lvl="1">
              <a:lnSpc>
                <a:spcPct val="130000"/>
              </a:lnSpc>
              <a:buClr>
                <a:srgbClr val="FF9999"/>
              </a:buClr>
              <a:buFont typeface="Wingdings" panose="05000000000000000000" pitchFamily="2" charset="2"/>
              <a:buChar char="3"/>
            </a:pPr>
            <a:r>
              <a:rPr lang="zh-CN" altLang="en-US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把它当作地址</a:t>
            </a:r>
            <a:r>
              <a:rPr lang="en-US" altLang="zh-CN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/</a:t>
            </a:r>
            <a:r>
              <a:rPr lang="zh-CN" altLang="en-US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数据总线时（</a:t>
            </a:r>
            <a:r>
              <a:rPr lang="en-US" altLang="zh-CN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8031</a:t>
            </a:r>
            <a:r>
              <a:rPr lang="zh-CN" altLang="en-US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情况），则无需外接上拉电阻。用作数据输入时，也无需先写“</a:t>
            </a:r>
            <a:r>
              <a:rPr lang="en-US" altLang="zh-CN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1”</a:t>
            </a:r>
            <a:r>
              <a:rPr lang="zh-CN" altLang="en-US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。</a:t>
            </a:r>
            <a:r>
              <a:rPr lang="en-US" altLang="zh-CN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P0</a:t>
            </a:r>
            <a:r>
              <a:rPr lang="zh-CN" altLang="en-US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口的每一位输出可驱动</a:t>
            </a:r>
            <a:r>
              <a:rPr lang="en-US" altLang="zh-CN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8</a:t>
            </a:r>
            <a:r>
              <a:rPr lang="zh-CN" altLang="en-US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个</a:t>
            </a:r>
            <a:r>
              <a:rPr lang="en-US" altLang="zh-CN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LS</a:t>
            </a:r>
            <a:r>
              <a:rPr lang="zh-CN" altLang="en-US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型</a:t>
            </a:r>
            <a:r>
              <a:rPr lang="en-US" altLang="zh-CN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TTL</a:t>
            </a:r>
            <a:r>
              <a:rPr lang="zh-CN" altLang="en-US" sz="1800" b="1" dirty="0">
                <a:solidFill>
                  <a:srgbClr val="990033"/>
                </a:solidFill>
                <a:sym typeface="EuroRoman" panose="00000400000000000000" pitchFamily="2" charset="2"/>
              </a:rPr>
              <a:t>负</a:t>
            </a:r>
          </a:p>
          <a:p>
            <a:pPr marL="0" lvl="0" indent="0">
              <a:lnSpc>
                <a:spcPct val="130000"/>
              </a:lnSpc>
              <a:buClr>
                <a:srgbClr val="FF9999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990033"/>
                </a:solidFill>
                <a:sym typeface="EuroRoman" panose="00000400000000000000" pitchFamily="2" charset="2"/>
              </a:rPr>
              <a:t>2</a:t>
            </a:r>
            <a:r>
              <a:rPr lang="en-US" altLang="zh-CN" sz="2000" b="1">
                <a:solidFill>
                  <a:schemeClr val="folHlink"/>
                </a:solidFill>
                <a:sym typeface="EuroRoman" panose="00000400000000000000" pitchFamily="2" charset="2"/>
              </a:rPr>
              <a:t>、P1口：</a:t>
            </a:r>
            <a:endParaRPr lang="zh-CN" altLang="en-US" sz="1800" b="1" dirty="0">
              <a:solidFill>
                <a:schemeClr val="folHlink"/>
              </a:solidFill>
              <a:sym typeface="EuroRoman" panose="00000400000000000000" pitchFamily="2" charset="2"/>
            </a:endParaRPr>
          </a:p>
          <a:p>
            <a:pPr lvl="1">
              <a:lnSpc>
                <a:spcPct val="130000"/>
              </a:lnSpc>
              <a:buClr>
                <a:srgbClr val="FF9999"/>
              </a:buClr>
              <a:buFont typeface="Wingdings" panose="05000000000000000000" pitchFamily="2" charset="2"/>
              <a:buChar char="3"/>
            </a:pPr>
            <a:r>
              <a:rPr lang="en-US" altLang="zh-CN" sz="1800" b="1" dirty="0">
                <a:ea typeface="楷体_GB2312" pitchFamily="49" charset="-122"/>
                <a:sym typeface="+mn-ea"/>
              </a:rPr>
              <a:t>P1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带内部上拉电阻的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8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位准双向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I/O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端口，每位能驱动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4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个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LS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型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TTL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负载。</a:t>
            </a:r>
          </a:p>
          <a:p>
            <a:pPr lvl="0" algn="l">
              <a:lnSpc>
                <a:spcPct val="130000"/>
              </a:lnSpc>
              <a:buClr>
                <a:srgbClr val="FF9999"/>
              </a:buClr>
              <a:buSzTx/>
              <a:buFont typeface="Wingdings" panose="05000000000000000000" pitchFamily="2" charset="2"/>
            </a:pPr>
            <a:r>
              <a:rPr lang="en-US" altLang="zh-CN" sz="2000" b="1">
                <a:solidFill>
                  <a:srgbClr val="990033"/>
                </a:solidFill>
                <a:sym typeface="+mn-ea"/>
              </a:rPr>
              <a:t>3</a:t>
            </a:r>
            <a:r>
              <a:rPr lang="zh-CN" altLang="zh-CN" sz="2000" b="1">
                <a:solidFill>
                  <a:srgbClr val="990033"/>
                </a:solidFill>
                <a:sym typeface="+mn-ea"/>
              </a:rPr>
              <a:t>、</a:t>
            </a:r>
            <a:r>
              <a:rPr lang="en-US" altLang="zh-CN" sz="2000" b="1">
                <a:solidFill>
                  <a:srgbClr val="990033"/>
                </a:solidFill>
                <a:sym typeface="+mn-ea"/>
              </a:rPr>
              <a:t>P2口：</a:t>
            </a:r>
          </a:p>
          <a:p>
            <a:pPr lvl="1">
              <a:lnSpc>
                <a:spcPct val="130000"/>
              </a:lnSpc>
              <a:buClr>
                <a:srgbClr val="FF9999"/>
              </a:buClr>
              <a:buFont typeface="Wingdings" panose="05000000000000000000" pitchFamily="2" charset="2"/>
              <a:buChar char="3"/>
            </a:pPr>
            <a:r>
              <a:rPr lang="en-US" altLang="zh-CN" sz="1800" b="1" dirty="0">
                <a:ea typeface="楷体_GB2312" pitchFamily="49" charset="-122"/>
                <a:sym typeface="+mn-ea"/>
              </a:rPr>
              <a:t>P2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带内部上拉电阻的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8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位准双向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I/O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端口，每位能驱动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4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个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LS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型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TTL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负载。在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CPU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访问片外存储器时，它输出高</a:t>
            </a:r>
            <a:r>
              <a:rPr lang="en-US" altLang="zh-CN" sz="1800" b="1" dirty="0">
                <a:ea typeface="楷体_GB2312" pitchFamily="49" charset="-122"/>
                <a:sym typeface="+mn-ea"/>
              </a:rPr>
              <a:t>8</a:t>
            </a:r>
            <a:r>
              <a:rPr lang="zh-CN" altLang="en-US" sz="1800" b="1" dirty="0">
                <a:ea typeface="楷体_GB2312" pitchFamily="49" charset="-122"/>
                <a:sym typeface="+mn-ea"/>
              </a:rPr>
              <a:t>位地址</a:t>
            </a:r>
            <a:r>
              <a:rPr lang="zh-CN" altLang="en-US" sz="1800" b="1" dirty="0">
                <a:sym typeface="+mn-ea"/>
              </a:rPr>
              <a:t>。</a:t>
            </a:r>
          </a:p>
          <a:p>
            <a:pPr marL="0" lvl="0" indent="0">
              <a:lnSpc>
                <a:spcPct val="130000"/>
              </a:lnSpc>
              <a:buClr>
                <a:srgbClr val="FF9999"/>
              </a:buClr>
              <a:buFont typeface="Wingdings" panose="05000000000000000000" pitchFamily="2" charset="2"/>
              <a:buNone/>
            </a:pPr>
            <a:r>
              <a:rPr lang="en-US" altLang="zh-CN" sz="2000" b="1" dirty="0"/>
              <a:t>4</a:t>
            </a:r>
            <a:r>
              <a:rPr lang="zh-CN" altLang="zh-CN" sz="2000" b="1" dirty="0"/>
              <a:t>、</a:t>
            </a:r>
            <a:r>
              <a:rPr lang="en-US" altLang="zh-CN" sz="2000" b="1" dirty="0"/>
              <a:t>P3</a:t>
            </a:r>
            <a:r>
              <a:rPr lang="zh-CN" altLang="zh-CN" sz="2000" b="1" dirty="0"/>
              <a:t>口</a:t>
            </a:r>
          </a:p>
          <a:p>
            <a:pPr marL="457200" lvl="1" indent="0">
              <a:lnSpc>
                <a:spcPct val="130000"/>
              </a:lnSpc>
              <a:buClr>
                <a:srgbClr val="FF9999"/>
              </a:buClr>
              <a:buFont typeface="Wingdings" panose="05000000000000000000" charset="0"/>
              <a:buChar char="3"/>
            </a:pPr>
            <a:r>
              <a:rPr lang="zh-CN" altLang="en-US" sz="1800" b="1" dirty="0">
                <a:latin typeface="楷体_GB2312" pitchFamily="49" charset="-122"/>
                <a:ea typeface="楷体_GB2312" pitchFamily="49" charset="-122"/>
                <a:sym typeface="+mn-ea"/>
              </a:rPr>
              <a:t>带内部上拉电阻的</a:t>
            </a:r>
            <a:r>
              <a:rPr lang="en-US" altLang="zh-CN" sz="1800" b="1" dirty="0">
                <a:latin typeface="楷体_GB2312" pitchFamily="49" charset="-122"/>
                <a:ea typeface="楷体_GB2312" pitchFamily="49" charset="-122"/>
                <a:sym typeface="+mn-ea"/>
              </a:rPr>
              <a:t>8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  <a:sym typeface="+mn-ea"/>
              </a:rPr>
              <a:t>位准双向</a:t>
            </a:r>
            <a:r>
              <a:rPr lang="en-US" altLang="zh-CN" sz="1800" b="1" dirty="0">
                <a:latin typeface="楷体_GB2312" pitchFamily="49" charset="-122"/>
                <a:ea typeface="楷体_GB2312" pitchFamily="49" charset="-122"/>
                <a:sym typeface="+mn-ea"/>
              </a:rPr>
              <a:t>I/O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  <a:sym typeface="+mn-ea"/>
              </a:rPr>
              <a:t>端口，每位能驱动</a:t>
            </a:r>
            <a:r>
              <a:rPr lang="en-US" altLang="zh-CN" sz="1800" b="1" dirty="0">
                <a:latin typeface="楷体_GB2312" pitchFamily="49" charset="-122"/>
                <a:ea typeface="楷体_GB2312" pitchFamily="49" charset="-122"/>
                <a:sym typeface="+mn-ea"/>
              </a:rPr>
              <a:t>4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  <a:sym typeface="+mn-ea"/>
              </a:rPr>
              <a:t>个</a:t>
            </a:r>
            <a:r>
              <a:rPr lang="en-US" altLang="zh-CN" sz="1800" b="1" dirty="0">
                <a:latin typeface="楷体_GB2312" pitchFamily="49" charset="-122"/>
                <a:ea typeface="楷体_GB2312" pitchFamily="49" charset="-122"/>
                <a:sym typeface="+mn-ea"/>
              </a:rPr>
              <a:t>LS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  <a:sym typeface="+mn-ea"/>
              </a:rPr>
              <a:t>型</a:t>
            </a:r>
            <a:r>
              <a:rPr lang="en-US" altLang="zh-CN" sz="1800" b="1" dirty="0">
                <a:latin typeface="楷体_GB2312" pitchFamily="49" charset="-122"/>
                <a:ea typeface="楷体_GB2312" pitchFamily="49" charset="-122"/>
                <a:sym typeface="+mn-ea"/>
              </a:rPr>
              <a:t>TTL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  <a:sym typeface="+mn-ea"/>
              </a:rPr>
              <a:t>负载。</a:t>
            </a:r>
            <a:r>
              <a:rPr lang="en-US" altLang="zh-CN" sz="1800" b="1" dirty="0">
                <a:latin typeface="楷体_GB2312" pitchFamily="49" charset="-122"/>
                <a:ea typeface="楷体_GB2312" pitchFamily="49" charset="-122"/>
                <a:sym typeface="+mn-ea"/>
              </a:rPr>
              <a:t>P3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  <a:sym typeface="+mn-ea"/>
              </a:rPr>
              <a:t>口除作为一般</a:t>
            </a:r>
            <a:r>
              <a:rPr lang="en-US" altLang="zh-CN" sz="1800" b="1" dirty="0">
                <a:latin typeface="楷体_GB2312" pitchFamily="49" charset="-122"/>
                <a:ea typeface="楷体_GB2312" pitchFamily="49" charset="-122"/>
                <a:sym typeface="+mn-ea"/>
              </a:rPr>
              <a:t>I/O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  <a:sym typeface="+mn-ea"/>
              </a:rPr>
              <a:t>口外，每个引脚都有第二功能。</a:t>
            </a:r>
            <a:endParaRPr lang="zh-CN" altLang="en-US" sz="1800" b="1" dirty="0">
              <a:solidFill>
                <a:srgbClr val="990033"/>
              </a:solidFill>
              <a:sym typeface="EuroRoman" panose="00000400000000000000" pitchFamily="2" charset="2"/>
            </a:endParaRPr>
          </a:p>
        </p:txBody>
      </p:sp>
      <p:sp>
        <p:nvSpPr>
          <p:cNvPr id="64517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10930" y="6529705"/>
            <a:ext cx="433070" cy="32829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21</a:t>
            </a:fld>
            <a:endParaRPr lang="zh-CN" altLang="en-US" sz="1400" b="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标题 113665"/>
          <p:cNvSpPr>
            <a:spLocks noGrp="1"/>
          </p:cNvSpPr>
          <p:nvPr>
            <p:ph type="title"/>
          </p:nvPr>
        </p:nvSpPr>
        <p:spPr>
          <a:xfrm>
            <a:off x="1231900" y="358458"/>
            <a:ext cx="7772400" cy="492125"/>
          </a:xfrm>
        </p:spPr>
        <p:txBody>
          <a:bodyPr anchor="ctr"/>
          <a:lstStyle/>
          <a:p>
            <a:pPr algn="l"/>
            <a:r>
              <a:rPr lang="en-US" altLang="zh-CN" sz="3200" b="1" dirty="0"/>
              <a:t>2.3	89C51</a:t>
            </a:r>
            <a:r>
              <a:rPr lang="zh-CN" altLang="en-US" sz="3200" b="1" dirty="0"/>
              <a:t>存储器配置</a:t>
            </a:r>
          </a:p>
        </p:txBody>
      </p:sp>
      <p:sp>
        <p:nvSpPr>
          <p:cNvPr id="6861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691880" y="6536690"/>
            <a:ext cx="452120" cy="27622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/>
              <a:t>22</a:t>
            </a:fld>
            <a:endParaRPr lang="zh-CN" altLang="en-US" sz="1400" b="0" dirty="0"/>
          </a:p>
        </p:txBody>
      </p:sp>
      <p:sp>
        <p:nvSpPr>
          <p:cNvPr id="122897" name="直接连接符 122896"/>
          <p:cNvSpPr/>
          <p:nvPr/>
        </p:nvSpPr>
        <p:spPr>
          <a:xfrm>
            <a:off x="5486400" y="4572000"/>
            <a:ext cx="2286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22895" name="直接连接符 122894"/>
          <p:cNvSpPr/>
          <p:nvPr/>
        </p:nvSpPr>
        <p:spPr>
          <a:xfrm>
            <a:off x="5715000" y="4343400"/>
            <a:ext cx="0" cy="9144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22899" name="直接连接符 122898"/>
          <p:cNvSpPr/>
          <p:nvPr/>
        </p:nvSpPr>
        <p:spPr>
          <a:xfrm>
            <a:off x="5715000" y="5257800"/>
            <a:ext cx="1524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22900" name="直接连接符 122899"/>
          <p:cNvSpPr/>
          <p:nvPr/>
        </p:nvSpPr>
        <p:spPr>
          <a:xfrm>
            <a:off x="5715000" y="4343400"/>
            <a:ext cx="1524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22903" name="直接连接符 122902"/>
          <p:cNvSpPr/>
          <p:nvPr/>
        </p:nvSpPr>
        <p:spPr>
          <a:xfrm>
            <a:off x="5715000" y="3505200"/>
            <a:ext cx="1524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22898" name="直接连接符 122897"/>
          <p:cNvSpPr/>
          <p:nvPr/>
        </p:nvSpPr>
        <p:spPr>
          <a:xfrm>
            <a:off x="5486400" y="3200400"/>
            <a:ext cx="2286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22901" name="直接连接符 122900"/>
          <p:cNvSpPr/>
          <p:nvPr/>
        </p:nvSpPr>
        <p:spPr>
          <a:xfrm>
            <a:off x="5715000" y="2590800"/>
            <a:ext cx="1524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22882" name="直接连接符 122881"/>
          <p:cNvSpPr/>
          <p:nvPr/>
        </p:nvSpPr>
        <p:spPr>
          <a:xfrm>
            <a:off x="2667000" y="4572000"/>
            <a:ext cx="2286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22883" name="直接连接符 122882"/>
          <p:cNvSpPr/>
          <p:nvPr/>
        </p:nvSpPr>
        <p:spPr>
          <a:xfrm>
            <a:off x="2667000" y="3276600"/>
            <a:ext cx="2286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22886" name="流程图: 过程 122885"/>
          <p:cNvSpPr/>
          <p:nvPr/>
        </p:nvSpPr>
        <p:spPr>
          <a:xfrm>
            <a:off x="685800" y="3657600"/>
            <a:ext cx="1752600" cy="533400"/>
          </a:xfrm>
          <a:prstGeom prst="flowChartProcess">
            <a:avLst/>
          </a:prstGeom>
          <a:solidFill>
            <a:schemeClr val="accent1"/>
          </a:solidFill>
          <a:ln w="12700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2600" dirty="0">
                <a:solidFill>
                  <a:srgbClr val="00FFFF"/>
                </a:solidFill>
                <a:latin typeface="Times New Roman" panose="02020603050405020304" charset="0"/>
                <a:ea typeface="宋体" panose="02010600030101010101" pitchFamily="2" charset="-122"/>
              </a:rPr>
              <a:t>89C51</a:t>
            </a:r>
            <a:r>
              <a:rPr lang="zh-CN" altLang="en-US" sz="2600" dirty="0">
                <a:solidFill>
                  <a:srgbClr val="00FFFF"/>
                </a:solidFill>
                <a:latin typeface="Times New Roman" panose="02020603050405020304" charset="0"/>
                <a:ea typeface="宋体" panose="02010600030101010101" pitchFamily="2" charset="-122"/>
              </a:rPr>
              <a:t>存储器</a:t>
            </a:r>
            <a:endParaRPr lang="zh-CN" altLang="en-US" sz="2600">
              <a:solidFill>
                <a:srgbClr val="00FF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22887" name="流程图: 过程 122886"/>
          <p:cNvSpPr/>
          <p:nvPr/>
        </p:nvSpPr>
        <p:spPr>
          <a:xfrm>
            <a:off x="2895600" y="2819400"/>
            <a:ext cx="2590800" cy="762000"/>
          </a:xfrm>
          <a:prstGeom prst="flowChartProcess">
            <a:avLst/>
          </a:prstGeom>
          <a:solidFill>
            <a:schemeClr val="accent1"/>
          </a:solidFill>
          <a:ln w="12700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 wrap="none" anchor="ctr">
            <a:flatTx/>
          </a:bodyPr>
          <a:lstStyle/>
          <a:p>
            <a:pPr algn="ctr" eaLnBrk="0" hangingPunct="0">
              <a:spcBef>
                <a:spcPts val="1300"/>
              </a:spcBef>
              <a:spcAft>
                <a:spcPts val="1300"/>
              </a:spcAft>
            </a:pPr>
            <a:r>
              <a:rPr lang="zh-CN" altLang="en-US" sz="2600" dirty="0">
                <a:solidFill>
                  <a:srgbClr val="00FFFF"/>
                </a:solidFill>
                <a:latin typeface="Times New Roman" panose="02020603050405020304" charset="0"/>
                <a:ea typeface="宋体" panose="02010600030101010101" pitchFamily="2" charset="-122"/>
              </a:rPr>
              <a:t>程序存储器</a:t>
            </a:r>
            <a:r>
              <a:rPr lang="en-US" altLang="zh-CN" sz="2600">
                <a:solidFill>
                  <a:srgbClr val="00FFFF"/>
                </a:solidFill>
                <a:latin typeface="Times New Roman" panose="02020603050405020304" charset="0"/>
                <a:ea typeface="宋体" panose="02010600030101010101" pitchFamily="2" charset="-122"/>
              </a:rPr>
              <a:t>ROM</a:t>
            </a:r>
          </a:p>
        </p:txBody>
      </p:sp>
      <p:sp>
        <p:nvSpPr>
          <p:cNvPr id="122888" name="流程图: 过程 122887"/>
          <p:cNvSpPr/>
          <p:nvPr/>
        </p:nvSpPr>
        <p:spPr>
          <a:xfrm>
            <a:off x="2895600" y="4191000"/>
            <a:ext cx="2590800" cy="762000"/>
          </a:xfrm>
          <a:prstGeom prst="flowChartProcess">
            <a:avLst/>
          </a:prstGeom>
          <a:solidFill>
            <a:schemeClr val="accent1"/>
          </a:solidFill>
          <a:ln w="12700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 wrap="none" anchor="ctr">
            <a:flatTx/>
          </a:bodyPr>
          <a:lstStyle/>
          <a:p>
            <a:pPr algn="ctr" eaLnBrk="0" hangingPunct="0">
              <a:spcBef>
                <a:spcPts val="1300"/>
              </a:spcBef>
              <a:spcAft>
                <a:spcPts val="1300"/>
              </a:spcAft>
            </a:pPr>
            <a:r>
              <a:rPr lang="zh-CN" altLang="en-US" sz="2600" dirty="0">
                <a:solidFill>
                  <a:srgbClr val="00FFFF"/>
                </a:solidFill>
                <a:latin typeface="Times New Roman" panose="02020603050405020304" charset="0"/>
                <a:ea typeface="宋体" panose="02010600030101010101" pitchFamily="2" charset="-122"/>
              </a:rPr>
              <a:t>数据存储器</a:t>
            </a:r>
            <a:r>
              <a:rPr lang="en-US" altLang="zh-CN" sz="2600" dirty="0">
                <a:solidFill>
                  <a:srgbClr val="00FFFF"/>
                </a:solidFill>
                <a:latin typeface="Times New Roman" panose="02020603050405020304" charset="0"/>
                <a:ea typeface="宋体" panose="02010600030101010101" pitchFamily="2" charset="-122"/>
              </a:rPr>
              <a:t>RAM</a:t>
            </a:r>
          </a:p>
        </p:txBody>
      </p:sp>
      <p:sp>
        <p:nvSpPr>
          <p:cNvPr id="122889" name="流程图: 过程 122888"/>
          <p:cNvSpPr/>
          <p:nvPr/>
        </p:nvSpPr>
        <p:spPr>
          <a:xfrm>
            <a:off x="5867400" y="2209800"/>
            <a:ext cx="2514600" cy="533400"/>
          </a:xfrm>
          <a:prstGeom prst="flowChartProcess">
            <a:avLst/>
          </a:prstGeom>
          <a:solidFill>
            <a:schemeClr val="accent1"/>
          </a:solidFill>
          <a:ln w="12700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zh-CN" altLang="en-US" sz="2600" dirty="0">
                <a:solidFill>
                  <a:srgbClr val="00FFFF"/>
                </a:solidFill>
                <a:latin typeface="Times New Roman" panose="02020603050405020304" charset="0"/>
                <a:ea typeface="宋体" panose="02010600030101010101" pitchFamily="2" charset="-122"/>
              </a:rPr>
              <a:t>片内程序存储器</a:t>
            </a:r>
            <a:endParaRPr lang="zh-CN" altLang="en-US" sz="2600">
              <a:solidFill>
                <a:srgbClr val="00FF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22890" name="流程图: 过程 122889"/>
          <p:cNvSpPr/>
          <p:nvPr/>
        </p:nvSpPr>
        <p:spPr>
          <a:xfrm>
            <a:off x="5867400" y="3124200"/>
            <a:ext cx="2514600" cy="533400"/>
          </a:xfrm>
          <a:prstGeom prst="flowChartProcess">
            <a:avLst/>
          </a:prstGeom>
          <a:solidFill>
            <a:schemeClr val="accent1"/>
          </a:solidFill>
          <a:ln w="12700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zh-CN" altLang="en-US" sz="2600" dirty="0">
                <a:solidFill>
                  <a:srgbClr val="00FFFF"/>
                </a:solidFill>
                <a:latin typeface="Times New Roman" panose="02020603050405020304" charset="0"/>
                <a:ea typeface="宋体" panose="02010600030101010101" pitchFamily="2" charset="-122"/>
              </a:rPr>
              <a:t>片外程序存储器</a:t>
            </a:r>
            <a:endParaRPr lang="zh-CN" altLang="en-US" sz="2600">
              <a:solidFill>
                <a:srgbClr val="00FF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22891" name="流程图: 过程 122890"/>
          <p:cNvSpPr/>
          <p:nvPr/>
        </p:nvSpPr>
        <p:spPr>
          <a:xfrm>
            <a:off x="5867400" y="4038600"/>
            <a:ext cx="2514600" cy="533400"/>
          </a:xfrm>
          <a:prstGeom prst="flowChartProcess">
            <a:avLst/>
          </a:prstGeom>
          <a:solidFill>
            <a:schemeClr val="accent1"/>
          </a:solidFill>
          <a:ln w="12700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zh-CN" altLang="en-US" sz="2600" dirty="0">
                <a:solidFill>
                  <a:srgbClr val="00FFFF"/>
                </a:solidFill>
                <a:latin typeface="Times New Roman" panose="02020603050405020304" charset="0"/>
                <a:ea typeface="宋体" panose="02010600030101010101" pitchFamily="2" charset="-122"/>
              </a:rPr>
              <a:t>片内数据存储器</a:t>
            </a:r>
            <a:endParaRPr lang="zh-CN" altLang="en-US" sz="2600">
              <a:solidFill>
                <a:srgbClr val="00FF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22892" name="流程图: 过程 122891"/>
          <p:cNvSpPr/>
          <p:nvPr/>
        </p:nvSpPr>
        <p:spPr>
          <a:xfrm>
            <a:off x="5867400" y="4953000"/>
            <a:ext cx="2514600" cy="533400"/>
          </a:xfrm>
          <a:prstGeom prst="flowChartProcess">
            <a:avLst/>
          </a:prstGeom>
          <a:solidFill>
            <a:schemeClr val="accent1"/>
          </a:solidFill>
          <a:ln w="12700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zh-CN" altLang="en-US" sz="2600" dirty="0">
                <a:solidFill>
                  <a:srgbClr val="00FFFF"/>
                </a:solidFill>
                <a:latin typeface="Times New Roman" panose="02020603050405020304" charset="0"/>
                <a:ea typeface="宋体" panose="02010600030101010101" pitchFamily="2" charset="-122"/>
              </a:rPr>
              <a:t>片外数据存储器</a:t>
            </a:r>
            <a:endParaRPr lang="zh-CN" altLang="en-US" sz="2600">
              <a:solidFill>
                <a:srgbClr val="00FF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22893" name="直接连接符 122892"/>
          <p:cNvSpPr/>
          <p:nvPr/>
        </p:nvSpPr>
        <p:spPr>
          <a:xfrm>
            <a:off x="2438400" y="3886200"/>
            <a:ext cx="2286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22894" name="直接连接符 122893"/>
          <p:cNvSpPr/>
          <p:nvPr/>
        </p:nvSpPr>
        <p:spPr>
          <a:xfrm>
            <a:off x="2667000" y="3276600"/>
            <a:ext cx="0" cy="12954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22896" name="直接连接符 122895"/>
          <p:cNvSpPr/>
          <p:nvPr/>
        </p:nvSpPr>
        <p:spPr>
          <a:xfrm>
            <a:off x="5715000" y="2590800"/>
            <a:ext cx="0" cy="9144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2" name="文本框 1"/>
          <p:cNvSpPr txBox="1"/>
          <p:nvPr/>
        </p:nvSpPr>
        <p:spPr>
          <a:xfrm>
            <a:off x="685800" y="1278255"/>
            <a:ext cx="29413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sym typeface="+mn-ea"/>
              </a:rPr>
              <a:t>一、物理结构（哈佛结构</a:t>
            </a:r>
            <a:r>
              <a:rPr lang="zh-CN" altLang="en-US" b="1">
                <a:sym typeface="+mn-ea"/>
              </a:rPr>
              <a:t>）</a:t>
            </a:r>
            <a:endParaRPr lang="zh-CN" altLang="en-US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500"/>
                            </p:stCondLst>
                            <p:childTnLst>
                              <p:par>
                                <p:cTn id="8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500"/>
                            </p:stCondLst>
                            <p:childTnLst>
                              <p:par>
                                <p:cTn id="10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2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2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2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2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000"/>
                            </p:stCondLst>
                            <p:childTnLst>
                              <p:par>
                                <p:cTn id="10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8500"/>
                            </p:stCondLst>
                            <p:childTnLst>
                              <p:par>
                                <p:cTn id="1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000"/>
                            </p:stCondLst>
                            <p:childTnLst>
                              <p:par>
                                <p:cTn id="1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6" grpId="0" bldLvl="0" animBg="1"/>
      <p:bldP spid="122887" grpId="0" bldLvl="0" animBg="1"/>
      <p:bldP spid="122888" grpId="0" bldLvl="0" animBg="1"/>
      <p:bldP spid="122889" grpId="0" bldLvl="0" animBg="1"/>
      <p:bldP spid="122890" grpId="0" bldLvl="0" animBg="1"/>
      <p:bldP spid="122891" grpId="0" bldLvl="0" animBg="1"/>
      <p:bldP spid="122892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标题 123905"/>
          <p:cNvSpPr>
            <a:spLocks noGrp="1"/>
          </p:cNvSpPr>
          <p:nvPr>
            <p:ph type="title"/>
          </p:nvPr>
        </p:nvSpPr>
        <p:spPr>
          <a:xfrm>
            <a:off x="1371600" y="288925"/>
            <a:ext cx="2964815" cy="368935"/>
          </a:xfrm>
        </p:spPr>
        <p:txBody>
          <a:bodyPr wrap="square" anchor="ctr"/>
          <a:lstStyle/>
          <a:p>
            <a:pPr algn="l"/>
            <a:r>
              <a:rPr lang="zh-CN" altLang="en-US" b="1" dirty="0"/>
              <a:t>二、用户角度</a:t>
            </a:r>
            <a:endParaRPr lang="zh-CN" altLang="en-US"/>
          </a:p>
        </p:txBody>
      </p:sp>
      <p:pic>
        <p:nvPicPr>
          <p:cNvPr id="70658" name="图片 123910" descr="E:\单片机\北航\0204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495" y="1282065"/>
            <a:ext cx="6134100" cy="41325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659" name="文本框 123911"/>
          <p:cNvSpPr txBox="1"/>
          <p:nvPr/>
        </p:nvSpPr>
        <p:spPr>
          <a:xfrm>
            <a:off x="2834482" y="5742940"/>
            <a:ext cx="2583180" cy="368300"/>
          </a:xfrm>
          <a:prstGeom prst="rect">
            <a:avLst/>
          </a:prstGeom>
          <a:solidFill>
            <a:schemeClr val="folHlink">
              <a:alpha val="41000"/>
            </a:schemeClr>
          </a:solidFill>
          <a:ln w="12700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2-8  89C51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存储器配置</a:t>
            </a:r>
          </a:p>
        </p:txBody>
      </p:sp>
      <p:sp>
        <p:nvSpPr>
          <p:cNvPr id="70661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239000" y="6497955"/>
            <a:ext cx="1905000" cy="36004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/>
              <a:t>23</a:t>
            </a:fld>
            <a:endParaRPr lang="zh-CN" altLang="en-US" sz="1400" b="0" dirty="0"/>
          </a:p>
        </p:txBody>
      </p:sp>
      <p:sp>
        <p:nvSpPr>
          <p:cNvPr id="2" name="文本框 1"/>
          <p:cNvSpPr txBox="1"/>
          <p:nvPr/>
        </p:nvSpPr>
        <p:spPr>
          <a:xfrm>
            <a:off x="6432550" y="5668645"/>
            <a:ext cx="210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MOV    </a:t>
            </a:r>
            <a:r>
              <a:rPr lang="zh-CN" altLang="en-US" dirty="0">
                <a:solidFill>
                  <a:srgbClr val="0000FF"/>
                </a:solidFill>
              </a:rPr>
              <a:t>片内</a:t>
            </a:r>
            <a:r>
              <a:rPr lang="en-US" altLang="zh-CN" dirty="0">
                <a:solidFill>
                  <a:srgbClr val="0000FF"/>
                </a:solidFill>
              </a:rPr>
              <a:t>RAM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MOVX  </a:t>
            </a:r>
            <a:r>
              <a:rPr lang="zh-CN" altLang="en-US" dirty="0">
                <a:solidFill>
                  <a:srgbClr val="0000FF"/>
                </a:solidFill>
              </a:rPr>
              <a:t>片外</a:t>
            </a:r>
            <a:r>
              <a:rPr lang="en-US" altLang="zh-CN" dirty="0">
                <a:solidFill>
                  <a:srgbClr val="0000FF"/>
                </a:solidFill>
              </a:rPr>
              <a:t>RAM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18590" y="5587365"/>
            <a:ext cx="1416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MOVC</a:t>
            </a:r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8048" y="350469"/>
            <a:ext cx="462026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5" dirty="0">
                <a:solidFill>
                  <a:srgbClr val="FF0000"/>
                </a:solidFill>
              </a:rPr>
              <a:t>2.3.1</a:t>
            </a:r>
            <a:r>
              <a:rPr spc="5" dirty="0">
                <a:solidFill>
                  <a:srgbClr val="FF0000"/>
                </a:solidFill>
              </a:rPr>
              <a:t>程序存储器</a:t>
            </a:r>
            <a:r>
              <a:rPr lang="zh-CN" spc="5" dirty="0">
                <a:solidFill>
                  <a:srgbClr val="FF0000"/>
                </a:solidFill>
              </a:rPr>
              <a:t>地址</a:t>
            </a:r>
            <a:r>
              <a:rPr spc="5" dirty="0">
                <a:solidFill>
                  <a:srgbClr val="FF0000"/>
                </a:solidFill>
              </a:rPr>
              <a:t>空间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1330" y="4468215"/>
            <a:ext cx="8510270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71120" indent="472440">
              <a:lnSpc>
                <a:spcPct val="150000"/>
              </a:lnSpc>
              <a:spcBef>
                <a:spcPts val="100"/>
              </a:spcBef>
              <a:tabLst>
                <a:tab pos="1346835" algn="l"/>
              </a:tabLst>
            </a:pPr>
            <a:r>
              <a:rPr sz="1600" b="1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EA=1</a:t>
            </a:r>
            <a:r>
              <a:rPr sz="1600" b="1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，CPU从片内0000H开始取指令，</a:t>
            </a:r>
            <a:r>
              <a:rPr sz="16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当PC值没有超出0FFFH</a:t>
            </a:r>
            <a:r>
              <a:rPr sz="1600" b="1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时，只访问 片内Flash，</a:t>
            </a:r>
            <a:r>
              <a:rPr sz="16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当PC值超出0FFFH</a:t>
            </a:r>
            <a:r>
              <a:rPr sz="1600" b="1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自动转向读</a:t>
            </a:r>
            <a:r>
              <a:rPr sz="1600" b="1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片外程序存储器1000H～FFFFH </a:t>
            </a:r>
            <a:r>
              <a:rPr sz="1600" b="1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内的程序。</a:t>
            </a:r>
            <a:endParaRPr sz="1600" kern="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5305">
              <a:lnSpc>
                <a:spcPct val="100000"/>
              </a:lnSpc>
              <a:spcBef>
                <a:spcPts val="1680"/>
              </a:spcBef>
              <a:tabLst>
                <a:tab pos="3521710" algn="l"/>
                <a:tab pos="4333875" algn="l"/>
              </a:tabLst>
            </a:pPr>
            <a:r>
              <a:rPr sz="1600" b="1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EA=0 </a:t>
            </a:r>
            <a:r>
              <a:rPr sz="1600" b="1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16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不理会片内 4KB Flash	存储器， </a:t>
            </a:r>
            <a:r>
              <a:rPr sz="1600" b="1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只执行片外程序存储器（0000H～FFFFH）中的程序。</a:t>
            </a:r>
          </a:p>
        </p:txBody>
      </p:sp>
      <p:sp>
        <p:nvSpPr>
          <p:cNvPr id="5" name="object 5"/>
          <p:cNvSpPr/>
          <p:nvPr/>
        </p:nvSpPr>
        <p:spPr>
          <a:xfrm>
            <a:off x="5027050" y="1011936"/>
            <a:ext cx="2946604" cy="3124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74754" name="文本占位符 124930"/>
          <p:cNvSpPr>
            <a:spLocks noGrp="1"/>
          </p:cNvSpPr>
          <p:nvPr>
            <p:ph idx="1"/>
          </p:nvPr>
        </p:nvSpPr>
        <p:spPr>
          <a:xfrm>
            <a:off x="535940" y="1085850"/>
            <a:ext cx="4368165" cy="3108325"/>
          </a:xfrm>
        </p:spPr>
        <p:txBody>
          <a:bodyPr wrap="square" anchor="t"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一、用途：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用于存放编好的程序和表格常数。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二、编址：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容量为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4KB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。地址为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0000H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～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0FFFH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片外最多可扩至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64KB ROM/EPROM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，地址为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1000H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～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FFFFH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片内外统一编址。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三、寻址方式：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片内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ROM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和片外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ROM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取指的速度相同。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914400" y="4572000"/>
            <a:ext cx="1524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914400" y="5410200"/>
            <a:ext cx="1524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24929"/>
          <p:cNvSpPr>
            <a:spLocks noGrp="1"/>
          </p:cNvSpPr>
          <p:nvPr>
            <p:ph type="title"/>
          </p:nvPr>
        </p:nvSpPr>
        <p:spPr>
          <a:xfrm>
            <a:off x="1383665" y="306705"/>
            <a:ext cx="8763000" cy="430530"/>
          </a:xfrm>
        </p:spPr>
        <p:txBody>
          <a:bodyPr anchor="ctr"/>
          <a:lstStyle/>
          <a:p>
            <a:pPr algn="l"/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2.3.1  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程序存储器地址空间</a:t>
            </a:r>
          </a:p>
        </p:txBody>
      </p:sp>
      <p:sp>
        <p:nvSpPr>
          <p:cNvPr id="74757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643620" y="6558915"/>
            <a:ext cx="500380" cy="29908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/>
              <a:t>25</a:t>
            </a:fld>
            <a:endParaRPr lang="zh-CN" altLang="en-US" sz="1400" b="0" dirty="0"/>
          </a:p>
        </p:txBody>
      </p:sp>
      <p:sp>
        <p:nvSpPr>
          <p:cNvPr id="2" name="文本占位符 124930"/>
          <p:cNvSpPr>
            <a:spLocks noGrp="1"/>
          </p:cNvSpPr>
          <p:nvPr>
            <p:ph idx="1"/>
          </p:nvPr>
        </p:nvSpPr>
        <p:spPr>
          <a:xfrm>
            <a:off x="759460" y="1152525"/>
            <a:ext cx="7699375" cy="2240915"/>
          </a:xfrm>
        </p:spPr>
        <p:txBody>
          <a:bodyPr wrap="square" anchor="t"/>
          <a:lstStyle/>
          <a:p>
            <a:pPr>
              <a:lnSpc>
                <a:spcPct val="140000"/>
              </a:lnSpc>
            </a:pPr>
            <a:r>
              <a:rPr lang="zh-CN" altLang="en-US" sz="1800" b="1" dirty="0"/>
              <a:t>四、分类：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zh-CN" sz="1800" b="1" dirty="0"/>
              <a:t>MASK ROM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OTP-ROM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EPROM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E</a:t>
            </a:r>
            <a:r>
              <a:rPr lang="en-US" altLang="zh-CN" sz="1800" b="1" baseline="30000" dirty="0"/>
              <a:t>2</a:t>
            </a:r>
            <a:r>
              <a:rPr lang="en-US" altLang="zh-CN" sz="1800" b="1" dirty="0"/>
              <a:t>PROM</a:t>
            </a:r>
            <a:r>
              <a:rPr lang="zh-CN" altLang="en-US" sz="1800" b="1" dirty="0"/>
              <a:t>、 </a:t>
            </a:r>
            <a:r>
              <a:rPr lang="en-US" altLang="zh-CN" sz="1800" b="1" dirty="0"/>
              <a:t>FLASH ROM</a:t>
            </a:r>
            <a:endParaRPr lang="zh-CN" altLang="en-US" sz="1800" b="1" dirty="0"/>
          </a:p>
          <a:p>
            <a:pPr>
              <a:lnSpc>
                <a:spcPct val="140000"/>
              </a:lnSpc>
            </a:pPr>
            <a:r>
              <a:rPr lang="zh-CN" altLang="en-US" sz="1800" b="1" dirty="0"/>
              <a:t>五、使用：</a:t>
            </a:r>
          </a:p>
          <a:p>
            <a:pPr>
              <a:lnSpc>
                <a:spcPct val="130000"/>
              </a:lnSpc>
            </a:pPr>
            <a:r>
              <a:rPr lang="zh-CN" altLang="en-US" sz="1800" b="1" dirty="0">
                <a:sym typeface="+mn-ea"/>
              </a:rPr>
              <a:t>      容量为</a:t>
            </a:r>
            <a:r>
              <a:rPr lang="en-US" altLang="zh-CN" sz="1800" b="1" dirty="0">
                <a:sym typeface="+mn-ea"/>
              </a:rPr>
              <a:t>4KB</a:t>
            </a:r>
            <a:r>
              <a:rPr lang="zh-CN" altLang="en-US" sz="1800" b="1" dirty="0">
                <a:sym typeface="+mn-ea"/>
              </a:rPr>
              <a:t>。地址为</a:t>
            </a:r>
            <a:r>
              <a:rPr lang="en-US" altLang="zh-CN" sz="1800" b="1" dirty="0">
                <a:sym typeface="+mn-ea"/>
              </a:rPr>
              <a:t>0000H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  <a:sym typeface="+mn-ea"/>
              </a:rPr>
              <a:t>～</a:t>
            </a:r>
            <a:r>
              <a:rPr lang="en-US" altLang="zh-CN" sz="1800" b="1" dirty="0">
                <a:sym typeface="+mn-ea"/>
              </a:rPr>
              <a:t>0FFFH</a:t>
            </a:r>
            <a:r>
              <a:rPr lang="zh-CN" altLang="en-US" sz="1800" b="1" dirty="0">
                <a:sym typeface="+mn-ea"/>
              </a:rPr>
              <a:t>。单片机复位启动后，程序存储器</a:t>
            </a:r>
            <a:r>
              <a:rPr lang="en-US" altLang="zh-CN" sz="1800" b="1" dirty="0">
                <a:solidFill>
                  <a:srgbClr val="FF0000"/>
                </a:solidFill>
                <a:sym typeface="+mn-ea"/>
              </a:rPr>
              <a:t>PC=0000H</a:t>
            </a:r>
            <a:r>
              <a:rPr lang="zh-CN" altLang="en-US" sz="1800" b="1" dirty="0">
                <a:sym typeface="+mn-ea"/>
              </a:rPr>
              <a:t>，所以系统将从</a:t>
            </a:r>
            <a:r>
              <a:rPr lang="en-US" altLang="zh-CN" sz="1800" b="1" dirty="0">
                <a:solidFill>
                  <a:srgbClr val="FF0000"/>
                </a:solidFill>
                <a:sym typeface="+mn-ea"/>
              </a:rPr>
              <a:t>0000H</a:t>
            </a:r>
            <a:r>
              <a:rPr lang="zh-CN" altLang="en-US" sz="1800" b="1" dirty="0">
                <a:solidFill>
                  <a:srgbClr val="FF0000"/>
                </a:solidFill>
                <a:sym typeface="+mn-ea"/>
              </a:rPr>
              <a:t>单元</a:t>
            </a:r>
            <a:r>
              <a:rPr lang="zh-CN" altLang="en-US" sz="1800" b="1" dirty="0">
                <a:sym typeface="+mn-ea"/>
              </a:rPr>
              <a:t>开始执行程序，一般放一条</a:t>
            </a:r>
            <a:r>
              <a:rPr lang="zh-CN" altLang="en-US" sz="1800" b="1" dirty="0">
                <a:solidFill>
                  <a:srgbClr val="FF0000"/>
                </a:solidFill>
                <a:sym typeface="+mn-ea"/>
              </a:rPr>
              <a:t>跳转指令</a:t>
            </a:r>
            <a:r>
              <a:rPr lang="zh-CN" altLang="en-US" sz="1800" b="1" dirty="0">
                <a:sym typeface="+mn-ea"/>
              </a:rPr>
              <a:t>。</a:t>
            </a:r>
            <a:r>
              <a:rPr lang="zh-CN" altLang="en-US" sz="1800" b="1" dirty="0">
                <a:solidFill>
                  <a:srgbClr val="0000FF"/>
                </a:solidFill>
                <a:sym typeface="+mn-ea"/>
              </a:rPr>
              <a:t>用户设计的程序则是从跳转后的地址开始存放的。</a:t>
            </a:r>
            <a:endParaRPr lang="zh-CN" altLang="en-US" sz="1800" b="1" dirty="0"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5160" y="3479800"/>
            <a:ext cx="3472815" cy="20485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76495" y="3543300"/>
            <a:ext cx="3187065" cy="1841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文本框 3"/>
          <p:cNvSpPr txBox="1"/>
          <p:nvPr/>
        </p:nvSpPr>
        <p:spPr>
          <a:xfrm>
            <a:off x="710565" y="5579110"/>
            <a:ext cx="692912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27685">
              <a:lnSpc>
                <a:spcPct val="100000"/>
              </a:lnSpc>
              <a:spcBef>
                <a:spcPts val="1300"/>
              </a:spcBef>
            </a:pPr>
            <a:r>
              <a:rPr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程序存储器</a:t>
            </a:r>
            <a:r>
              <a:rPr lang="en-US" b="1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40</a:t>
            </a:r>
            <a:r>
              <a:rPr lang="zh-CN" altLang="en-US" b="1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个单元用于中断处理程序的转移地址。</a:t>
            </a:r>
            <a:r>
              <a:rPr b="1" spc="5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这</a:t>
            </a:r>
            <a:r>
              <a:rPr b="1" spc="-175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5</a:t>
            </a:r>
            <a:r>
              <a:rPr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个中断入口</a:t>
            </a:r>
            <a:r>
              <a:rPr b="1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地</a:t>
            </a:r>
            <a:r>
              <a:rPr b="1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址处</a:t>
            </a:r>
            <a:r>
              <a:rPr b="1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都</a:t>
            </a:r>
            <a:r>
              <a:rPr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放一条</a:t>
            </a:r>
            <a:r>
              <a:rPr b="1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跳</a:t>
            </a:r>
            <a:r>
              <a:rPr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转指令</a:t>
            </a:r>
            <a:r>
              <a:rPr b="1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跳向</a:t>
            </a:r>
            <a:r>
              <a:rPr b="1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对</a:t>
            </a:r>
            <a:r>
              <a:rPr b="1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应的中</a:t>
            </a:r>
            <a:r>
              <a:rPr b="1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断</a:t>
            </a:r>
            <a:r>
              <a:rPr b="1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服务</a:t>
            </a:r>
            <a:r>
              <a:rPr b="1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子</a:t>
            </a:r>
            <a:r>
              <a:rPr b="1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程</a:t>
            </a:r>
            <a:r>
              <a:rPr b="1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序</a:t>
            </a:r>
            <a:r>
              <a:rPr b="1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，而不是直接存放中断服务</a:t>
            </a:r>
            <a:r>
              <a:rPr b="1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子</a:t>
            </a:r>
            <a:r>
              <a:rPr b="1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程序。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4586" y="409143"/>
            <a:ext cx="462534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0" dirty="0"/>
              <a:t>2.3.1</a:t>
            </a:r>
            <a:r>
              <a:rPr spc="10" dirty="0"/>
              <a:t>数据存储器</a:t>
            </a:r>
            <a:r>
              <a:rPr lang="zh-CN" spc="10" dirty="0"/>
              <a:t>地址</a:t>
            </a:r>
            <a:r>
              <a:rPr spc="10" dirty="0"/>
              <a:t>空间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55625" y="1379220"/>
            <a:ext cx="4565650" cy="3768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5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lang="en-US" sz="2000" b="1" spc="-55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2000" b="1" spc="-55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片外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据存储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40335">
              <a:lnSpc>
                <a:spcPct val="100000"/>
              </a:lnSpc>
              <a:spcBef>
                <a:spcPts val="1680"/>
              </a:spcBef>
            </a:pPr>
            <a:r>
              <a:rPr sz="2000" b="1" kern="0" dirty="0">
                <a:solidFill>
                  <a:schemeClr val="tx1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片内RAM不够用时，需外扩，最多可扩展64KB的RAM。</a:t>
            </a:r>
            <a:endParaRPr sz="2000" kern="0" dirty="0">
              <a:solidFill>
                <a:schemeClr val="tx1"/>
              </a:solidFill>
              <a:uFillTx/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>
              <a:lnSpc>
                <a:spcPct val="150000"/>
              </a:lnSpc>
            </a:pP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注意：</a:t>
            </a:r>
            <a:r>
              <a:rPr sz="2000" b="1" dirty="0">
                <a:solidFill>
                  <a:srgbClr val="1717FF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片内RAM与片外RAM两个空间是相互独立的，</a:t>
            </a:r>
            <a:r>
              <a:rPr sz="2000" b="1" kern="0" dirty="0">
                <a:solidFill>
                  <a:schemeClr val="tx1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片内RAM与片外RAM的 低128B的地址是相同的，但由于使用的是不同的访问指令，所以不会 发生冲突。</a:t>
            </a:r>
          </a:p>
        </p:txBody>
      </p:sp>
      <p:sp>
        <p:nvSpPr>
          <p:cNvPr id="6" name="object 2"/>
          <p:cNvSpPr/>
          <p:nvPr/>
        </p:nvSpPr>
        <p:spPr>
          <a:xfrm>
            <a:off x="5457825" y="1779270"/>
            <a:ext cx="3035935" cy="31642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文本框 2"/>
          <p:cNvSpPr txBox="1"/>
          <p:nvPr/>
        </p:nvSpPr>
        <p:spPr>
          <a:xfrm>
            <a:off x="6172200" y="5147310"/>
            <a:ext cx="216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MOV                 MOVX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85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4586" y="409143"/>
            <a:ext cx="462534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0" dirty="0"/>
              <a:t>2.3.1</a:t>
            </a:r>
            <a:r>
              <a:rPr spc="10" dirty="0"/>
              <a:t>数据存储器</a:t>
            </a:r>
            <a:r>
              <a:rPr lang="zh-CN" spc="10" dirty="0"/>
              <a:t>地址</a:t>
            </a:r>
            <a:r>
              <a:rPr spc="10" dirty="0"/>
              <a:t>空间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55625" y="1379220"/>
            <a:ext cx="456565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5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lang="en-US" sz="2000" b="1" spc="-55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2000" b="1" spc="-55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sz="2000" b="1" spc="1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片外</a:t>
            </a:r>
            <a:r>
              <a:rPr sz="2000" b="1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</a:t>
            </a:r>
            <a:r>
              <a:rPr sz="2000" b="1" spc="1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据存储</a:t>
            </a:r>
            <a:r>
              <a:rPr sz="2000" b="1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057400"/>
            <a:ext cx="5238095" cy="4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172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内容占位符 242691" descr="020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50570" y="875210"/>
            <a:ext cx="3211830" cy="4558489"/>
          </a:xfrm>
        </p:spPr>
      </p:pic>
      <p:pic>
        <p:nvPicPr>
          <p:cNvPr id="88067" name="内容占位符 242694" descr="0209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310506" y="799998"/>
            <a:ext cx="2845386" cy="4633702"/>
          </a:xfrm>
        </p:spPr>
      </p:pic>
      <p:sp>
        <p:nvSpPr>
          <p:cNvPr id="88068" name="矩形 242697"/>
          <p:cNvSpPr/>
          <p:nvPr/>
        </p:nvSpPr>
        <p:spPr>
          <a:xfrm>
            <a:off x="539750" y="5949950"/>
            <a:ext cx="3656013" cy="457200"/>
          </a:xfrm>
          <a:prstGeom prst="rect">
            <a:avLst/>
          </a:prstGeom>
          <a:solidFill>
            <a:schemeClr val="folHlink"/>
          </a:solidFill>
          <a:ln w="12700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8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低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128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字节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区</a:t>
            </a:r>
          </a:p>
        </p:txBody>
      </p:sp>
      <p:sp>
        <p:nvSpPr>
          <p:cNvPr id="88069" name="矩形 242698"/>
          <p:cNvSpPr/>
          <p:nvPr/>
        </p:nvSpPr>
        <p:spPr>
          <a:xfrm>
            <a:off x="4572000" y="5629275"/>
            <a:ext cx="4572000" cy="701675"/>
          </a:xfrm>
          <a:prstGeom prst="rect">
            <a:avLst/>
          </a:prstGeom>
          <a:solidFill>
            <a:schemeClr val="folHlink"/>
          </a:solidFill>
          <a:ln w="12700">
            <a:noFill/>
          </a:ln>
        </p:spPr>
        <p:txBody>
          <a:bodyPr anchor="t">
            <a:spAutoFit/>
          </a:bodyPr>
          <a:lstStyle/>
          <a:p>
            <a:pPr algn="ctr" eaLnBrk="0" hangingPunct="0"/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图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9 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高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128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字节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RAM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(SFR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区，特殊功能寄存器区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88071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239000" y="6451600"/>
            <a:ext cx="1905000" cy="457200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/>
              <a:t>28</a:t>
            </a:fld>
            <a:endParaRPr lang="zh-CN" altLang="en-US" sz="1400" b="0" dirty="0"/>
          </a:p>
        </p:txBody>
      </p:sp>
      <p:sp>
        <p:nvSpPr>
          <p:cNvPr id="8" name="object 2"/>
          <p:cNvSpPr txBox="1">
            <a:spLocks noGrp="1"/>
          </p:cNvSpPr>
          <p:nvPr/>
        </p:nvSpPr>
        <p:spPr>
          <a:xfrm>
            <a:off x="1408048" y="350469"/>
            <a:ext cx="552615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5" dirty="0">
                <a:solidFill>
                  <a:srgbClr val="FF0000"/>
                </a:solidFill>
              </a:rPr>
              <a:t>2.3.1</a:t>
            </a:r>
            <a:r>
              <a:rPr lang="zh-CN" altLang="en-US" spc="5" dirty="0">
                <a:solidFill>
                  <a:srgbClr val="FF0000"/>
                </a:solidFill>
              </a:rPr>
              <a:t>数据</a:t>
            </a:r>
            <a:r>
              <a:rPr spc="5" dirty="0">
                <a:solidFill>
                  <a:srgbClr val="FF0000"/>
                </a:solidFill>
              </a:rPr>
              <a:t>存储器</a:t>
            </a:r>
            <a:r>
              <a:rPr lang="zh-CN" spc="5" dirty="0">
                <a:solidFill>
                  <a:srgbClr val="FF0000"/>
                </a:solidFill>
              </a:rPr>
              <a:t>地址</a:t>
            </a:r>
            <a:r>
              <a:rPr spc="5" dirty="0" err="1" smtClean="0">
                <a:solidFill>
                  <a:srgbClr val="FF0000"/>
                </a:solidFill>
              </a:rPr>
              <a:t>空间</a:t>
            </a:r>
            <a:r>
              <a:rPr lang="en-US" altLang="zh-CN" spc="5" dirty="0" smtClean="0">
                <a:solidFill>
                  <a:srgbClr val="FF0000"/>
                </a:solidFill>
              </a:rPr>
              <a:t>-</a:t>
            </a:r>
            <a:r>
              <a:rPr lang="zh-CN" altLang="en-US" spc="5" dirty="0" smtClean="0">
                <a:solidFill>
                  <a:srgbClr val="FF0000"/>
                </a:solidFill>
              </a:rPr>
              <a:t>片内</a:t>
            </a:r>
            <a:r>
              <a:rPr lang="en-US" altLang="zh-CN" spc="5" dirty="0" smtClean="0">
                <a:solidFill>
                  <a:srgbClr val="FF0000"/>
                </a:solidFill>
              </a:rPr>
              <a:t>RAM</a:t>
            </a:r>
            <a:endParaRPr spc="5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9295" y="1159230"/>
            <a:ext cx="4079875" cy="523240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  <a:tabLst>
                <a:tab pos="398145" algn="l"/>
              </a:tabLst>
            </a:pPr>
            <a:r>
              <a:rPr lang="en-US" sz="2000" b="1" spc="15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2000" b="1" spc="15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.	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数据存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储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器空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间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526415">
              <a:lnSpc>
                <a:spcPct val="100000"/>
              </a:lnSpc>
              <a:spcBef>
                <a:spcPts val="1310"/>
              </a:spcBef>
            </a:pP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片内与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片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外两部分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398145">
              <a:lnSpc>
                <a:spcPct val="100000"/>
              </a:lnSpc>
              <a:spcBef>
                <a:spcPts val="1570"/>
              </a:spcBef>
            </a:pPr>
            <a:r>
              <a:rPr sz="2000" b="1" spc="1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2000" b="1" spc="-19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）片</a:t>
            </a:r>
            <a:r>
              <a:rPr sz="2000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数据存储</a:t>
            </a:r>
            <a:r>
              <a:rPr sz="2000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 indent="471170">
              <a:lnSpc>
                <a:spcPct val="140000"/>
              </a:lnSpc>
              <a:spcBef>
                <a:spcPts val="350"/>
              </a:spcBef>
            </a:pPr>
            <a:r>
              <a:rPr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片内RAM</a:t>
            </a:r>
            <a:r>
              <a:rPr lang="zh-CN"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共计</a:t>
            </a:r>
            <a:r>
              <a:rPr lang="en-US" altLang="zh-CN"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256</a:t>
            </a:r>
            <a:r>
              <a:rPr lang="zh-CN" altLang="en-US"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个单元，其中低</a:t>
            </a:r>
            <a:r>
              <a:rPr sz="2000" b="1" kern="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128个单元，字节地址</a:t>
            </a:r>
            <a:r>
              <a:rPr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为  00H～7FH。结构如</a:t>
            </a:r>
            <a:r>
              <a:rPr sz="2000" b="1" kern="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右图</a:t>
            </a:r>
            <a:r>
              <a:rPr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</a:p>
          <a:p>
            <a:pPr marL="12700" marR="5080" indent="471170">
              <a:lnSpc>
                <a:spcPct val="140000"/>
              </a:lnSpc>
              <a:spcBef>
                <a:spcPts val="350"/>
              </a:spcBef>
            </a:pPr>
            <a:r>
              <a:rPr sz="1400" b="1" kern="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00H～1FH</a:t>
            </a:r>
            <a:r>
              <a:rPr sz="1400" b="1" kern="0" dirty="0">
                <a:latin typeface="Microsoft JhengHei" panose="020B0604030504040204" charset="-120"/>
                <a:cs typeface="Microsoft JhengHei" panose="020B0604030504040204" charset="-120"/>
              </a:rPr>
              <a:t>	4组通用工作寄存器区，每</a:t>
            </a:r>
          </a:p>
          <a:p>
            <a:pPr marL="12700" marR="5080" indent="471170">
              <a:lnSpc>
                <a:spcPct val="140000"/>
              </a:lnSpc>
              <a:spcBef>
                <a:spcPts val="350"/>
              </a:spcBef>
            </a:pPr>
            <a:r>
              <a:rPr sz="1400" b="1" kern="0" dirty="0">
                <a:latin typeface="Microsoft JhengHei" panose="020B0604030504040204" charset="-120"/>
                <a:cs typeface="Microsoft JhengHei" panose="020B0604030504040204" charset="-120"/>
              </a:rPr>
              <a:t>区为8B：R7～R0。可用指令改变RS1、</a:t>
            </a:r>
          </a:p>
          <a:p>
            <a:pPr marL="12700" marR="5080" indent="471170">
              <a:lnSpc>
                <a:spcPct val="140000"/>
              </a:lnSpc>
              <a:spcBef>
                <a:spcPts val="350"/>
              </a:spcBef>
            </a:pPr>
            <a:r>
              <a:rPr sz="1400" b="1" kern="0" dirty="0">
                <a:latin typeface="Microsoft JhengHei" panose="020B0604030504040204" charset="-120"/>
                <a:cs typeface="Microsoft JhengHei" panose="020B0604030504040204" charset="-120"/>
              </a:rPr>
              <a:t>RS0两位</a:t>
            </a:r>
            <a:r>
              <a:rPr lang="zh-CN" altLang="en-US" sz="1400" b="1" kern="0" dirty="0"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lang="en-US" altLang="zh-CN" sz="1400" b="1" kern="0" dirty="0">
                <a:latin typeface="Microsoft JhengHei" panose="020B0604030504040204" charset="-120"/>
                <a:cs typeface="Microsoft JhengHei" panose="020B0604030504040204" charset="-120"/>
              </a:rPr>
              <a:t>PSW</a:t>
            </a:r>
            <a:r>
              <a:rPr lang="zh-CN" altLang="en-US" sz="1400" b="1" kern="0" dirty="0"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sz="1400" b="1" kern="0" dirty="0" err="1">
                <a:latin typeface="Microsoft JhengHei" panose="020B0604030504040204" charset="-120"/>
                <a:cs typeface="Microsoft JhengHei" panose="020B0604030504040204" charset="-120"/>
              </a:rPr>
              <a:t>来选择</a:t>
            </a:r>
            <a:r>
              <a:rPr sz="1400" b="1" kern="0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</a:p>
          <a:p>
            <a:pPr marL="12700" marR="5080" indent="471170">
              <a:lnSpc>
                <a:spcPct val="140000"/>
              </a:lnSpc>
              <a:spcBef>
                <a:spcPts val="350"/>
              </a:spcBef>
            </a:pPr>
            <a:r>
              <a:rPr sz="1400" b="1" kern="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20H～2FH</a:t>
            </a:r>
            <a:r>
              <a:rPr sz="1400" b="1" kern="0" dirty="0">
                <a:latin typeface="Microsoft JhengHei" panose="020B0604030504040204" charset="-120"/>
                <a:cs typeface="Microsoft JhengHei" panose="020B0604030504040204" charset="-120"/>
              </a:rPr>
              <a:t>的16个单元的128位可位寻址，</a:t>
            </a:r>
          </a:p>
          <a:p>
            <a:pPr marL="12700" marR="5080" indent="471170">
              <a:lnSpc>
                <a:spcPct val="140000"/>
              </a:lnSpc>
              <a:spcBef>
                <a:spcPts val="350"/>
              </a:spcBef>
            </a:pPr>
            <a:r>
              <a:rPr sz="1400" b="1" kern="0" dirty="0" err="1">
                <a:latin typeface="Microsoft JhengHei" panose="020B0604030504040204" charset="-120"/>
                <a:cs typeface="Microsoft JhengHei" panose="020B0604030504040204" charset="-120"/>
              </a:rPr>
              <a:t>也可字节寻址</a:t>
            </a:r>
            <a:r>
              <a:rPr sz="1400" b="1" kern="0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</a:p>
          <a:p>
            <a:pPr marL="12700" marR="5080" indent="471170">
              <a:lnSpc>
                <a:spcPct val="140000"/>
              </a:lnSpc>
              <a:spcBef>
                <a:spcPts val="350"/>
              </a:spcBef>
            </a:pPr>
            <a:r>
              <a:rPr sz="1400" b="1" kern="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30H～7FH</a:t>
            </a:r>
            <a:r>
              <a:rPr sz="1400" b="1" kern="0" dirty="0">
                <a:latin typeface="Microsoft JhengHei" panose="020B0604030504040204" charset="-120"/>
                <a:cs typeface="Microsoft JhengHei" panose="020B0604030504040204" charset="-120"/>
              </a:rPr>
              <a:t>的单元只能字节寻址，用作存</a:t>
            </a:r>
          </a:p>
          <a:p>
            <a:pPr marL="12700" marR="5080" indent="471170">
              <a:lnSpc>
                <a:spcPct val="140000"/>
              </a:lnSpc>
              <a:spcBef>
                <a:spcPts val="350"/>
              </a:spcBef>
            </a:pPr>
            <a:r>
              <a:rPr sz="1400" b="1" kern="0" dirty="0" err="1">
                <a:latin typeface="Microsoft JhengHei" panose="020B0604030504040204" charset="-120"/>
                <a:cs typeface="Microsoft JhengHei" panose="020B0604030504040204" charset="-120"/>
              </a:rPr>
              <a:t>数据以及作为堆栈区</a:t>
            </a:r>
            <a:r>
              <a:rPr sz="1400" b="1" kern="0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2375" y="5921375"/>
            <a:ext cx="187134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kern="0" dirty="0">
                <a:solidFill>
                  <a:srgbClr val="1717FF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片内RAM结构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8" name="object 2"/>
          <p:cNvSpPr txBox="1">
            <a:spLocks noGrp="1"/>
          </p:cNvSpPr>
          <p:nvPr/>
        </p:nvSpPr>
        <p:spPr>
          <a:xfrm>
            <a:off x="1408048" y="350469"/>
            <a:ext cx="462026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5" dirty="0">
                <a:solidFill>
                  <a:srgbClr val="FF0000"/>
                </a:solidFill>
              </a:rPr>
              <a:t>2.3.1</a:t>
            </a:r>
            <a:r>
              <a:rPr lang="zh-CN" altLang="en-US" spc="5" dirty="0">
                <a:solidFill>
                  <a:srgbClr val="FF0000"/>
                </a:solidFill>
              </a:rPr>
              <a:t>数据</a:t>
            </a:r>
            <a:r>
              <a:rPr spc="5" dirty="0">
                <a:solidFill>
                  <a:srgbClr val="FF0000"/>
                </a:solidFill>
              </a:rPr>
              <a:t>存储器</a:t>
            </a:r>
            <a:r>
              <a:rPr lang="zh-CN" spc="5" dirty="0">
                <a:solidFill>
                  <a:srgbClr val="FF0000"/>
                </a:solidFill>
              </a:rPr>
              <a:t>地址</a:t>
            </a:r>
            <a:r>
              <a:rPr spc="5" dirty="0">
                <a:solidFill>
                  <a:srgbClr val="FF0000"/>
                </a:solidFill>
              </a:rPr>
              <a:t>空间</a:t>
            </a:r>
          </a:p>
        </p:txBody>
      </p:sp>
      <p:pic>
        <p:nvPicPr>
          <p:cNvPr id="88066" name="内容占位符 242691" descr="020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31460" y="885190"/>
            <a:ext cx="3439795" cy="488251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302375" y="5921375"/>
            <a:ext cx="187134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kern="0" dirty="0">
                <a:solidFill>
                  <a:srgbClr val="1717FF"/>
                </a:solidFill>
                <a:uFillTx/>
                <a:latin typeface="Microsoft JhengHei" panose="020B0604030504040204" charset="-120"/>
                <a:cs typeface="Microsoft JhengHei" panose="020B0604030504040204" charset="-120"/>
              </a:rPr>
              <a:t>片内RAM结构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8" name="object 2"/>
          <p:cNvSpPr txBox="1">
            <a:spLocks noGrp="1"/>
          </p:cNvSpPr>
          <p:nvPr/>
        </p:nvSpPr>
        <p:spPr>
          <a:xfrm>
            <a:off x="1408048" y="350469"/>
            <a:ext cx="462026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5" dirty="0">
                <a:solidFill>
                  <a:srgbClr val="FF0000"/>
                </a:solidFill>
              </a:rPr>
              <a:t>2.3.1</a:t>
            </a:r>
            <a:r>
              <a:rPr lang="zh-CN" altLang="en-US" spc="5" dirty="0">
                <a:solidFill>
                  <a:srgbClr val="FF0000"/>
                </a:solidFill>
              </a:rPr>
              <a:t>数据</a:t>
            </a:r>
            <a:r>
              <a:rPr spc="5" dirty="0">
                <a:solidFill>
                  <a:srgbClr val="FF0000"/>
                </a:solidFill>
              </a:rPr>
              <a:t>存储器</a:t>
            </a:r>
            <a:r>
              <a:rPr lang="zh-CN" spc="5" dirty="0">
                <a:solidFill>
                  <a:srgbClr val="FF0000"/>
                </a:solidFill>
              </a:rPr>
              <a:t>地址</a:t>
            </a:r>
            <a:r>
              <a:rPr spc="5" dirty="0">
                <a:solidFill>
                  <a:srgbClr val="FF0000"/>
                </a:solidFill>
              </a:rPr>
              <a:t>空间</a:t>
            </a:r>
          </a:p>
        </p:txBody>
      </p:sp>
      <p:pic>
        <p:nvPicPr>
          <p:cNvPr id="88066" name="内容占位符 242691" descr="020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484082" y="838200"/>
            <a:ext cx="3439795" cy="4882515"/>
          </a:xfr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0" y="1676400"/>
            <a:ext cx="5223822" cy="201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标题 242695"/>
          <p:cNvSpPr>
            <a:spLocks noGrp="1"/>
          </p:cNvSpPr>
          <p:nvPr>
            <p:ph type="title"/>
          </p:nvPr>
        </p:nvSpPr>
        <p:spPr>
          <a:xfrm>
            <a:off x="1498600" y="280988"/>
            <a:ext cx="2924810" cy="368935"/>
          </a:xfrm>
        </p:spPr>
        <p:txBody>
          <a:bodyPr anchor="ctr"/>
          <a:lstStyle/>
          <a:p>
            <a:r>
              <a:rPr lang="zh-CN" altLang="zh-CN"/>
              <a:t>特殊功能寄存器</a:t>
            </a:r>
          </a:p>
        </p:txBody>
      </p:sp>
      <p:pic>
        <p:nvPicPr>
          <p:cNvPr id="88067" name="内容占位符 242694" descr="020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4690" y="1085850"/>
            <a:ext cx="2652754" cy="4320000"/>
          </a:xfrm>
        </p:spPr>
      </p:pic>
      <p:sp>
        <p:nvSpPr>
          <p:cNvPr id="88069" name="矩形 242698"/>
          <p:cNvSpPr/>
          <p:nvPr/>
        </p:nvSpPr>
        <p:spPr>
          <a:xfrm>
            <a:off x="193040" y="5546725"/>
            <a:ext cx="4572000" cy="701675"/>
          </a:xfrm>
          <a:prstGeom prst="rect">
            <a:avLst/>
          </a:prstGeom>
          <a:solidFill>
            <a:schemeClr val="folHlink"/>
          </a:solidFill>
          <a:ln w="12700">
            <a:noFill/>
          </a:ln>
        </p:spPr>
        <p:txBody>
          <a:bodyPr anchor="t">
            <a:spAutoFit/>
          </a:bodyPr>
          <a:lstStyle/>
          <a:p>
            <a:pPr algn="ctr" eaLnBrk="0" hangingPunct="0"/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图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9 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高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128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字节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RAM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(SFR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区，特殊功能寄存器区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88071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239000" y="6508115"/>
            <a:ext cx="1905000" cy="34988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/>
              <a:t>31</a:t>
            </a:fld>
            <a:endParaRPr lang="zh-CN" altLang="en-US" sz="1400" b="0" dirty="0"/>
          </a:p>
        </p:txBody>
      </p:sp>
      <p:sp>
        <p:nvSpPr>
          <p:cNvPr id="3" name="object 3"/>
          <p:cNvSpPr txBox="1"/>
          <p:nvPr/>
        </p:nvSpPr>
        <p:spPr>
          <a:xfrm>
            <a:off x="4018280" y="151765"/>
            <a:ext cx="4605020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有些可位寻址，凡是</a:t>
            </a:r>
            <a:r>
              <a:rPr sz="2000" b="1" kern="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可位寻址的SFR</a:t>
            </a:r>
            <a:r>
              <a:rPr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，字节</a:t>
            </a:r>
            <a:r>
              <a:rPr sz="2000" b="1" kern="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地址末位只能是</a:t>
            </a:r>
            <a:r>
              <a:rPr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0H</a:t>
            </a:r>
            <a:r>
              <a:rPr sz="2000" b="1" kern="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或</a:t>
            </a:r>
            <a:r>
              <a:rPr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8H。</a:t>
            </a:r>
            <a:endParaRPr sz="2000" kern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3889375" y="1334135"/>
            <a:ext cx="4337685" cy="3787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3367" y="57099"/>
            <a:ext cx="3243580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特殊功能寄存器</a:t>
            </a:r>
            <a:r>
              <a:rPr spc="-130" dirty="0"/>
              <a:t>（SFR）</a:t>
            </a:r>
            <a:br>
              <a:rPr spc="-130" dirty="0"/>
            </a:br>
            <a:r>
              <a:rPr spc="-130" dirty="0"/>
              <a:t>    </a:t>
            </a:r>
            <a:r>
              <a:rPr lang="en-US" spc="-130" dirty="0"/>
              <a:t>-psw</a:t>
            </a:r>
            <a:r>
              <a:rPr lang="zh-CN" spc="-130" dirty="0"/>
              <a:t>寄存器</a:t>
            </a:r>
            <a:endParaRPr lang="zh-CN" altLang="zh-CN" spc="-1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0" y="1313815"/>
            <a:ext cx="4570730" cy="24644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" y="4448810"/>
            <a:ext cx="3048000" cy="895350"/>
          </a:xfrm>
          <a:prstGeom prst="rect">
            <a:avLst/>
          </a:prstGeom>
        </p:spPr>
      </p:pic>
      <p:pic>
        <p:nvPicPr>
          <p:cNvPr id="88066" name="内容占位符 242691" descr="0208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5322570" y="1095375"/>
            <a:ext cx="3288030" cy="46672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3367" y="57099"/>
            <a:ext cx="3243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特殊功能寄存器</a:t>
            </a:r>
            <a:r>
              <a:rPr spc="-130" dirty="0"/>
              <a:t>（SFR）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014" y="552957"/>
            <a:ext cx="8213725" cy="31117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041400" algn="ctr">
              <a:lnSpc>
                <a:spcPct val="100000"/>
              </a:lnSpc>
              <a:spcBef>
                <a:spcPts val="105"/>
              </a:spcBef>
              <a:tabLst>
                <a:tab pos="255270" algn="l"/>
              </a:tabLst>
            </a:pPr>
            <a:r>
              <a:rPr sz="2000" b="1" spc="130" dirty="0">
                <a:latin typeface="Microsoft JhengHei" panose="020B0604030504040204" charset="-120"/>
                <a:cs typeface="Microsoft JhengHei" panose="020B0604030504040204" charset="-120"/>
              </a:rPr>
              <a:t>-	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堆栈指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针</a:t>
            </a:r>
            <a:r>
              <a:rPr sz="2000" b="1" spc="-195" dirty="0">
                <a:latin typeface="Microsoft JhengHei" panose="020B0604030504040204" charset="-120"/>
                <a:cs typeface="Microsoft JhengHei" panose="020B0604030504040204" charset="-120"/>
              </a:rPr>
              <a:t>SP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474345">
              <a:lnSpc>
                <a:spcPct val="100000"/>
              </a:lnSpc>
            </a:pPr>
            <a:r>
              <a:rPr sz="2400" b="1" spc="-245" dirty="0" err="1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SP</a:t>
            </a:r>
            <a:r>
              <a:rPr sz="2000" b="1" spc="10" dirty="0" err="1">
                <a:latin typeface="Microsoft JhengHei" panose="020B0604030504040204" charset="-120"/>
                <a:cs typeface="Microsoft JhengHei" panose="020B0604030504040204" charset="-120"/>
              </a:rPr>
              <a:t>指示</a:t>
            </a:r>
            <a:r>
              <a:rPr sz="2000" b="1" dirty="0" err="1">
                <a:latin typeface="Microsoft JhengHei" panose="020B0604030504040204" charset="-120"/>
                <a:cs typeface="Microsoft JhengHei" panose="020B0604030504040204" charset="-120"/>
              </a:rPr>
              <a:t>堆</a:t>
            </a:r>
            <a:r>
              <a:rPr sz="2000" b="1" spc="15" dirty="0" err="1">
                <a:latin typeface="Microsoft JhengHei" panose="020B0604030504040204" charset="-120"/>
                <a:cs typeface="Microsoft JhengHei" panose="020B0604030504040204" charset="-120"/>
              </a:rPr>
              <a:t>栈</a:t>
            </a:r>
            <a:r>
              <a:rPr sz="2000" b="1" spc="10" dirty="0" err="1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栈顶</a:t>
            </a:r>
            <a:r>
              <a:rPr sz="2000" b="1" spc="10" dirty="0" err="1">
                <a:latin typeface="Microsoft JhengHei" panose="020B0604030504040204" charset="-120"/>
                <a:cs typeface="Microsoft JhengHei" panose="020B0604030504040204" charset="-120"/>
              </a:rPr>
              <a:t>在</a:t>
            </a:r>
            <a:r>
              <a:rPr sz="2000" b="1" dirty="0" err="1">
                <a:latin typeface="Microsoft JhengHei" panose="020B0604030504040204" charset="-120"/>
                <a:cs typeface="Microsoft JhengHei" panose="020B0604030504040204" charset="-120"/>
              </a:rPr>
              <a:t>内部</a:t>
            </a:r>
            <a:r>
              <a:rPr sz="2000" b="1" spc="-575" dirty="0" err="1">
                <a:latin typeface="Microsoft JhengHei" panose="020B0604030504040204" charset="-120"/>
                <a:cs typeface="Microsoft JhengHei" panose="020B0604030504040204" charset="-120"/>
              </a:rPr>
              <a:t>RAM</a:t>
            </a:r>
            <a:r>
              <a:rPr sz="2000" b="1" spc="10" dirty="0" err="1">
                <a:latin typeface="Microsoft JhengHei" panose="020B0604030504040204" charset="-120"/>
                <a:cs typeface="Microsoft JhengHei" panose="020B0604030504040204" charset="-120"/>
              </a:rPr>
              <a:t>中的位</a:t>
            </a:r>
            <a:r>
              <a:rPr sz="2000" b="1" dirty="0" err="1">
                <a:latin typeface="Microsoft JhengHei" panose="020B0604030504040204" charset="-120"/>
                <a:cs typeface="Microsoft JhengHei" panose="020B0604030504040204" charset="-120"/>
              </a:rPr>
              <a:t>置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 indent="513080" algn="just">
              <a:lnSpc>
                <a:spcPct val="150000"/>
              </a:lnSpc>
              <a:spcBef>
                <a:spcPts val="585"/>
              </a:spcBef>
            </a:pP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单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片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机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复位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2000" b="1" spc="-135" dirty="0">
                <a:latin typeface="Microsoft JhengHei" panose="020B0604030504040204" charset="-120"/>
                <a:cs typeface="Microsoft JhengHei" panose="020B0604030504040204" charset="-120"/>
              </a:rPr>
              <a:t>，SP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为</a:t>
            </a:r>
            <a:r>
              <a:rPr sz="2000" b="1" spc="-229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07H</a:t>
            </a:r>
            <a:r>
              <a:rPr sz="2000" b="1" spc="-229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堆栈从</a:t>
            </a:r>
            <a:r>
              <a:rPr sz="2000" b="1" spc="-3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08H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单元开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始，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由于 </a:t>
            </a:r>
            <a:r>
              <a:rPr sz="2000" b="1" spc="-250" dirty="0">
                <a:latin typeface="Microsoft JhengHei" panose="020B0604030504040204" charset="-120"/>
                <a:cs typeface="Microsoft JhengHei" panose="020B0604030504040204" charset="-120"/>
              </a:rPr>
              <a:t>08H～1FH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单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元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分别是属</a:t>
            </a: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于</a:t>
            </a:r>
            <a:r>
              <a:rPr sz="2000" b="1" spc="-125" dirty="0">
                <a:latin typeface="Microsoft JhengHei" panose="020B0604030504040204" charset="-120"/>
                <a:cs typeface="Microsoft JhengHei" panose="020B0604030504040204" charset="-120"/>
              </a:rPr>
              <a:t>1～3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组的工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作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寄存器区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最</a:t>
            </a:r>
            <a:r>
              <a:rPr sz="2000"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好在复</a:t>
            </a:r>
            <a:r>
              <a:rPr sz="2000" b="1" spc="2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2000" b="1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后把</a:t>
            </a:r>
            <a:r>
              <a:rPr sz="2000" b="1" spc="-20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SP</a:t>
            </a:r>
            <a:r>
              <a:rPr sz="2000"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值改 置为</a:t>
            </a:r>
            <a:r>
              <a:rPr sz="2000" b="1" spc="-3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60H</a:t>
            </a:r>
            <a:r>
              <a:rPr sz="2000"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或</a:t>
            </a:r>
            <a:r>
              <a:rPr sz="2000" b="1" spc="5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更</a:t>
            </a:r>
            <a:r>
              <a:rPr sz="2000"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大的</a:t>
            </a:r>
            <a:r>
              <a:rPr sz="2000" b="1" spc="15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值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避免堆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栈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与工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作寄存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冲突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525780">
              <a:lnSpc>
                <a:spcPct val="100000"/>
              </a:lnSpc>
              <a:spcBef>
                <a:spcPts val="1550"/>
              </a:spcBef>
            </a:pPr>
            <a:r>
              <a:rPr sz="2000"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堆栈主</a:t>
            </a:r>
            <a:r>
              <a:rPr sz="2000" b="1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要</a:t>
            </a:r>
            <a:r>
              <a:rPr sz="2000"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为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子程序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调</a:t>
            </a:r>
            <a:r>
              <a:rPr sz="2000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用</a:t>
            </a:r>
            <a:r>
              <a:rPr sz="2000"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中断操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作</a:t>
            </a:r>
            <a:r>
              <a:rPr sz="2000" b="1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而</a:t>
            </a:r>
            <a:r>
              <a:rPr sz="2000"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设。保护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断点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r>
              <a:rPr sz="2000"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现场</a:t>
            </a:r>
            <a:r>
              <a:rPr sz="2000" b="1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42872" y="3857244"/>
            <a:ext cx="5452952" cy="2677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240" y="1742694"/>
            <a:ext cx="215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00007C"/>
                </a:solidFill>
                <a:latin typeface="Marlett"/>
                <a:cs typeface="Marlett"/>
              </a:rPr>
              <a:t></a:t>
            </a:r>
            <a:endParaRPr sz="1500">
              <a:latin typeface="Marlett"/>
              <a:cs typeface="Marlet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509877"/>
            <a:ext cx="8201659" cy="94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000"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保护断点</a:t>
            </a:r>
            <a:r>
              <a:rPr sz="2000" b="1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无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论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子程序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调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用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还是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中断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服务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子程序调用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最终都要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返回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主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程 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序。应预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先把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主程序断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点在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堆栈中保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护起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来，为程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序正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确返回做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准备。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9240" y="2718308"/>
            <a:ext cx="215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00007C"/>
                </a:solidFill>
                <a:latin typeface="Marlett"/>
                <a:cs typeface="Marlett"/>
              </a:rPr>
              <a:t></a:t>
            </a:r>
            <a:endParaRPr sz="1500">
              <a:latin typeface="Marlett"/>
              <a:cs typeface="Marlet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" y="2486231"/>
            <a:ext cx="8202930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保护现场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执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行子程序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或中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断服务子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程序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时，要用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到一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些寄存器</a:t>
            </a:r>
            <a:r>
              <a:rPr sz="2000" b="1" spc="35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可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能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会 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破坏原有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内容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，要把有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关寄存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单元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的内容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保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存起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来，送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入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堆栈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，这就是 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所谓的“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现场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保护”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240" y="4151121"/>
            <a:ext cx="215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00007C"/>
                </a:solidFill>
                <a:latin typeface="Marlett"/>
                <a:cs typeface="Marlett"/>
              </a:rPr>
              <a:t></a:t>
            </a:r>
            <a:endParaRPr sz="1500">
              <a:latin typeface="Marlett"/>
              <a:cs typeface="Marlet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4070350"/>
            <a:ext cx="75723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堆栈的两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种操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作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压</a:t>
            </a:r>
            <a:r>
              <a:rPr sz="2000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入</a:t>
            </a:r>
            <a:r>
              <a:rPr sz="2000" b="1" spc="-245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（PUSH）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堆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栈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数据弹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出</a:t>
            </a:r>
            <a:r>
              <a:rPr sz="2000" b="1" spc="-21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2000" b="1" spc="-215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POP）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堆栈。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93367" y="57099"/>
            <a:ext cx="3243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特殊功能寄存器</a:t>
            </a:r>
            <a:r>
              <a:rPr spc="-130" dirty="0"/>
              <a:t>（SFR）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093466" y="552957"/>
            <a:ext cx="1564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8605" algn="l"/>
              </a:tabLst>
            </a:pPr>
            <a:r>
              <a:rPr sz="2000" b="1" spc="130" dirty="0">
                <a:latin typeface="Microsoft JhengHei" panose="020B0604030504040204" charset="-120"/>
                <a:cs typeface="Microsoft JhengHei" panose="020B0604030504040204" charset="-120"/>
              </a:rPr>
              <a:t>-	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堆栈指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针</a:t>
            </a:r>
            <a:r>
              <a:rPr sz="2000" b="1" spc="-195" dirty="0">
                <a:latin typeface="Microsoft JhengHei" panose="020B0604030504040204" charset="-120"/>
                <a:cs typeface="Microsoft JhengHei" panose="020B0604030504040204" charset="-120"/>
              </a:rPr>
              <a:t>SP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标题 242695"/>
          <p:cNvSpPr>
            <a:spLocks noGrp="1"/>
          </p:cNvSpPr>
          <p:nvPr>
            <p:ph type="title"/>
          </p:nvPr>
        </p:nvSpPr>
        <p:spPr>
          <a:xfrm>
            <a:off x="1498600" y="280988"/>
            <a:ext cx="2924810" cy="368935"/>
          </a:xfrm>
        </p:spPr>
        <p:txBody>
          <a:bodyPr anchor="ctr"/>
          <a:lstStyle/>
          <a:p>
            <a:r>
              <a:rPr lang="zh-CN" altLang="zh-CN"/>
              <a:t>特殊功能寄存器</a:t>
            </a:r>
          </a:p>
        </p:txBody>
      </p:sp>
      <p:pic>
        <p:nvPicPr>
          <p:cNvPr id="88067" name="内容占位符 242694" descr="020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4690" y="1085850"/>
            <a:ext cx="2652754" cy="4320000"/>
          </a:xfrm>
        </p:spPr>
      </p:pic>
      <p:sp>
        <p:nvSpPr>
          <p:cNvPr id="88069" name="矩形 242698"/>
          <p:cNvSpPr/>
          <p:nvPr/>
        </p:nvSpPr>
        <p:spPr>
          <a:xfrm>
            <a:off x="193040" y="5546725"/>
            <a:ext cx="4572000" cy="701675"/>
          </a:xfrm>
          <a:prstGeom prst="rect">
            <a:avLst/>
          </a:prstGeom>
          <a:solidFill>
            <a:schemeClr val="folHlink"/>
          </a:solidFill>
          <a:ln w="12700">
            <a:noFill/>
          </a:ln>
        </p:spPr>
        <p:txBody>
          <a:bodyPr anchor="t">
            <a:spAutoFit/>
          </a:bodyPr>
          <a:lstStyle/>
          <a:p>
            <a:pPr algn="ctr" eaLnBrk="0" hangingPunct="0"/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图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9 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高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128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字节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RAM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(SFR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区，特殊功能寄存器区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88071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239000" y="6508115"/>
            <a:ext cx="1905000" cy="34988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/>
              <a:t>35</a:t>
            </a:fld>
            <a:endParaRPr lang="zh-CN" altLang="en-US" sz="1400" b="0" dirty="0"/>
          </a:p>
        </p:txBody>
      </p:sp>
      <p:sp>
        <p:nvSpPr>
          <p:cNvPr id="3" name="object 3"/>
          <p:cNvSpPr txBox="1"/>
          <p:nvPr/>
        </p:nvSpPr>
        <p:spPr>
          <a:xfrm>
            <a:off x="4018280" y="151765"/>
            <a:ext cx="4605020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有些可位寻址，凡是</a:t>
            </a:r>
            <a:r>
              <a:rPr sz="2000" b="1" kern="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可位寻址的SFR</a:t>
            </a:r>
            <a:r>
              <a:rPr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，字节</a:t>
            </a:r>
            <a:r>
              <a:rPr sz="2000" b="1" kern="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地址末位只能是</a:t>
            </a:r>
            <a:r>
              <a:rPr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0H</a:t>
            </a:r>
            <a:r>
              <a:rPr sz="2000" b="1" kern="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或</a:t>
            </a:r>
            <a:r>
              <a:rPr sz="2000" b="1" kern="0" dirty="0">
                <a:latin typeface="Microsoft JhengHei" panose="020B0604030504040204" charset="-120"/>
                <a:cs typeface="Microsoft JhengHei" panose="020B0604030504040204" charset="-120"/>
              </a:rPr>
              <a:t>8H。</a:t>
            </a:r>
            <a:endParaRPr sz="2000" kern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3889375" y="1334135"/>
            <a:ext cx="4337685" cy="3787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166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6369" y="332994"/>
            <a:ext cx="2169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存储器结构总结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42997" y="5844032"/>
            <a:ext cx="3485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915" algn="l"/>
              </a:tabLst>
            </a:pPr>
            <a:r>
              <a:rPr sz="1800" b="1" dirty="0">
                <a:latin typeface="Microsoft JhengHei" panose="020B0604030504040204" charset="-120"/>
                <a:cs typeface="Microsoft JhengHei" panose="020B0604030504040204" charset="-120"/>
              </a:rPr>
              <a:t>图	</a:t>
            </a:r>
            <a:r>
              <a:rPr sz="1800" b="1" spc="-190" dirty="0">
                <a:latin typeface="Microsoft JhengHei" panose="020B0604030504040204" charset="-120"/>
                <a:cs typeface="Microsoft JhengHei" panose="020B0604030504040204" charset="-120"/>
              </a:rPr>
              <a:t>AT89S51</a:t>
            </a:r>
            <a:r>
              <a:rPr sz="1800" b="1" spc="5" dirty="0">
                <a:latin typeface="Microsoft JhengHei" panose="020B0604030504040204" charset="-120"/>
                <a:cs typeface="Microsoft JhengHei" panose="020B0604030504040204" charset="-120"/>
              </a:rPr>
              <a:t>单片机的存储器结构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9485" y="2029587"/>
            <a:ext cx="7270865" cy="35136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4390" y="1461896"/>
            <a:ext cx="81997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从下面的</a:t>
            </a:r>
            <a:r>
              <a:rPr sz="2000" b="1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各类</a:t>
            </a:r>
            <a:r>
              <a:rPr sz="2000" b="1" spc="10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存储</a:t>
            </a:r>
            <a:r>
              <a:rPr sz="2000" b="1" spc="15" dirty="0">
                <a:solidFill>
                  <a:srgbClr val="1717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2000" b="1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结构</a:t>
            </a:r>
            <a:r>
              <a:rPr sz="20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图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清楚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看出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各类存储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器在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存储空间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的位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置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3385" y="1247140"/>
            <a:ext cx="8134350" cy="2747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5"/>
              </a:spcBef>
            </a:pP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时钟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电路产生单片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机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运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行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控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制信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号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控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制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单片机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严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格按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序执行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指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令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2000" b="1" spc="2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执行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程序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3000" b="1" spc="7" baseline="3000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首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先</a:t>
            </a: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取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指令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然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2000" b="1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译</a:t>
            </a:r>
            <a:r>
              <a:rPr sz="2000" b="1" spc="15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码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由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序电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路</a:t>
            </a:r>
            <a:r>
              <a:rPr sz="20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产生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一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系列控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制信 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号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完成规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定的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操作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03200">
              <a:lnSpc>
                <a:spcPct val="100000"/>
              </a:lnSpc>
              <a:spcBef>
                <a:spcPts val="1160"/>
              </a:spcBef>
            </a:pPr>
            <a:r>
              <a:rPr sz="3000" b="1" spc="7" baseline="3000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000" b="1" spc="2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时序</a:t>
            </a:r>
            <a:r>
              <a:rPr sz="20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信号</a:t>
            </a:r>
            <a:r>
              <a:rPr sz="2000" b="1" dirty="0">
                <a:solidFill>
                  <a:srgbClr val="FF006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两</a:t>
            </a:r>
            <a:r>
              <a:rPr sz="2000" b="1" spc="10" dirty="0">
                <a:solidFill>
                  <a:srgbClr val="FF006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类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782320" indent="-643890">
              <a:lnSpc>
                <a:spcPct val="100000"/>
              </a:lnSpc>
              <a:spcBef>
                <a:spcPts val="1680"/>
              </a:spcBef>
              <a:buClr>
                <a:srgbClr val="3333CC"/>
              </a:buClr>
              <a:buSzPct val="95000"/>
              <a:buAutoNum type="arabicPlain"/>
              <a:tabLst>
                <a:tab pos="782955" algn="l"/>
              </a:tabLst>
            </a:pP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对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片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内各个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功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能部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件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控制，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用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户无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须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了解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</a:p>
          <a:p>
            <a:pPr marL="782320" indent="-643890">
              <a:lnSpc>
                <a:spcPct val="100000"/>
              </a:lnSpc>
              <a:spcBef>
                <a:spcPts val="1680"/>
              </a:spcBef>
              <a:buClr>
                <a:srgbClr val="3333CC"/>
              </a:buClr>
              <a:buSzPct val="95000"/>
              <a:buAutoNum type="arabicPlain"/>
              <a:tabLst>
                <a:tab pos="782955" algn="l"/>
              </a:tabLst>
            </a:pP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 对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片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外存储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2000" b="1" spc="1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或</a:t>
            </a:r>
            <a:r>
              <a:rPr sz="3000" b="1" spc="-15" baseline="3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I/O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端口的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控</a:t>
            </a:r>
            <a:r>
              <a:rPr sz="2000" b="1" spc="1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制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，这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部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分时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序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对分析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设计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硬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件接口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电 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路</a:t>
            </a:r>
            <a:r>
              <a:rPr sz="20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至关重</a:t>
            </a:r>
            <a:r>
              <a:rPr sz="2000" b="1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要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25447" y="381253"/>
            <a:ext cx="216979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sym typeface="EuroRoman" panose="00000400000000000000" pitchFamily="2" charset="2"/>
              </a:rPr>
              <a:t>§</a:t>
            </a:r>
            <a:r>
              <a:rPr lang="en-US" altLang="zh-CN" dirty="0">
                <a:sym typeface="EuroRoman" panose="00000400000000000000" pitchFamily="2" charset="2"/>
              </a:rPr>
              <a:t>2.4	CPU</a:t>
            </a:r>
            <a:r>
              <a:rPr lang="zh-CN" altLang="en-US" dirty="0">
                <a:sym typeface="EuroRoman" panose="00000400000000000000" pitchFamily="2" charset="2"/>
              </a:rPr>
              <a:t>时序</a:t>
            </a:r>
            <a:endParaRPr spc="10" dirty="0"/>
          </a:p>
        </p:txBody>
      </p:sp>
      <p:pic>
        <p:nvPicPr>
          <p:cNvPr id="107521" name="图片 262148" descr="02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475" y="3994150"/>
            <a:ext cx="3874770" cy="225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457200" y="2342515"/>
            <a:ext cx="8229600" cy="2838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1.</a:t>
            </a:r>
            <a:r>
              <a:rPr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20" dirty="0"/>
              <a:t>时钟</a:t>
            </a:r>
            <a:r>
              <a:rPr b="1" spc="10" dirty="0"/>
              <a:t>电</a:t>
            </a:r>
            <a:r>
              <a:rPr b="1" dirty="0"/>
              <a:t>路</a:t>
            </a:r>
            <a:r>
              <a:rPr b="1" spc="10" dirty="0"/>
              <a:t>设</a:t>
            </a:r>
            <a:r>
              <a:rPr b="1" dirty="0"/>
              <a:t>计</a:t>
            </a:r>
          </a:p>
          <a:p>
            <a:pPr marL="261620">
              <a:lnSpc>
                <a:spcPct val="100000"/>
              </a:lnSpc>
              <a:spcBef>
                <a:spcPts val="1680"/>
              </a:spcBef>
            </a:pPr>
            <a:r>
              <a:rPr b="1" spc="20" dirty="0">
                <a:solidFill>
                  <a:srgbClr val="3333CC"/>
                </a:solidFill>
              </a:rPr>
              <a:t>时钟</a:t>
            </a:r>
            <a:r>
              <a:rPr b="1" spc="10" dirty="0">
                <a:solidFill>
                  <a:srgbClr val="3333CC"/>
                </a:solidFill>
              </a:rPr>
              <a:t>频</a:t>
            </a:r>
            <a:r>
              <a:rPr b="1" spc="15" dirty="0">
                <a:solidFill>
                  <a:srgbClr val="3333CC"/>
                </a:solidFill>
              </a:rPr>
              <a:t>率</a:t>
            </a:r>
            <a:r>
              <a:rPr b="1" spc="10" dirty="0">
                <a:solidFill>
                  <a:srgbClr val="000000"/>
                </a:solidFill>
              </a:rPr>
              <a:t>直</a:t>
            </a:r>
            <a:r>
              <a:rPr b="1" dirty="0">
                <a:solidFill>
                  <a:srgbClr val="000000"/>
                </a:solidFill>
              </a:rPr>
              <a:t>接</a:t>
            </a:r>
            <a:r>
              <a:rPr b="1" spc="10" dirty="0">
                <a:solidFill>
                  <a:srgbClr val="000000"/>
                </a:solidFill>
              </a:rPr>
              <a:t>影响</a:t>
            </a:r>
            <a:r>
              <a:rPr b="1" dirty="0">
                <a:solidFill>
                  <a:srgbClr val="000000"/>
                </a:solidFill>
              </a:rPr>
              <a:t>单</a:t>
            </a:r>
            <a:r>
              <a:rPr b="1" spc="10" dirty="0">
                <a:solidFill>
                  <a:srgbClr val="000000"/>
                </a:solidFill>
              </a:rPr>
              <a:t>片</a:t>
            </a:r>
            <a:r>
              <a:rPr b="1" spc="20" dirty="0">
                <a:solidFill>
                  <a:srgbClr val="000000"/>
                </a:solidFill>
              </a:rPr>
              <a:t>机</a:t>
            </a:r>
            <a:r>
              <a:rPr b="1" spc="10" dirty="0">
                <a:solidFill>
                  <a:srgbClr val="000000"/>
                </a:solidFill>
              </a:rPr>
              <a:t>运</a:t>
            </a:r>
            <a:r>
              <a:rPr b="1" dirty="0">
                <a:solidFill>
                  <a:srgbClr val="000000"/>
                </a:solidFill>
              </a:rPr>
              <a:t>行</a:t>
            </a:r>
            <a:r>
              <a:rPr b="1" spc="10" dirty="0">
                <a:solidFill>
                  <a:srgbClr val="3333CC"/>
                </a:solidFill>
              </a:rPr>
              <a:t>速度</a:t>
            </a:r>
            <a:r>
              <a:rPr b="1" dirty="0">
                <a:solidFill>
                  <a:srgbClr val="000000"/>
                </a:solidFill>
              </a:rPr>
              <a:t>。</a:t>
            </a:r>
          </a:p>
          <a:p>
            <a:pPr marL="71120" marR="60960" indent="190500">
              <a:lnSpc>
                <a:spcPct val="150000"/>
              </a:lnSpc>
              <a:spcBef>
                <a:spcPts val="480"/>
              </a:spcBef>
            </a:pPr>
            <a:r>
              <a:rPr b="1" spc="20" dirty="0">
                <a:solidFill>
                  <a:srgbClr val="3333CC"/>
                </a:solidFill>
              </a:rPr>
              <a:t>常用</a:t>
            </a:r>
            <a:r>
              <a:rPr b="1" spc="10" dirty="0">
                <a:solidFill>
                  <a:srgbClr val="3333CC"/>
                </a:solidFill>
              </a:rPr>
              <a:t>的时钟</a:t>
            </a:r>
            <a:r>
              <a:rPr b="1" dirty="0">
                <a:solidFill>
                  <a:srgbClr val="3333CC"/>
                </a:solidFill>
              </a:rPr>
              <a:t>电</a:t>
            </a:r>
            <a:r>
              <a:rPr b="1" spc="10" dirty="0">
                <a:solidFill>
                  <a:srgbClr val="3333CC"/>
                </a:solidFill>
              </a:rPr>
              <a:t>路</a:t>
            </a:r>
            <a:r>
              <a:rPr b="1" spc="25" dirty="0">
                <a:solidFill>
                  <a:srgbClr val="3333CC"/>
                </a:solidFill>
              </a:rPr>
              <a:t>有</a:t>
            </a:r>
            <a:r>
              <a:rPr b="1" dirty="0"/>
              <a:t>两</a:t>
            </a:r>
            <a:r>
              <a:rPr b="1" spc="10" dirty="0"/>
              <a:t>种方</a:t>
            </a:r>
            <a:r>
              <a:rPr b="1" spc="15" dirty="0"/>
              <a:t>式</a:t>
            </a:r>
            <a:r>
              <a:rPr b="1" dirty="0">
                <a:solidFill>
                  <a:srgbClr val="000000"/>
                </a:solidFill>
              </a:rPr>
              <a:t>，</a:t>
            </a:r>
            <a:r>
              <a:rPr b="1" spc="10" dirty="0">
                <a:solidFill>
                  <a:srgbClr val="000000"/>
                </a:solidFill>
              </a:rPr>
              <a:t>一种</a:t>
            </a:r>
            <a:r>
              <a:rPr b="1" spc="5" dirty="0">
                <a:solidFill>
                  <a:srgbClr val="000000"/>
                </a:solidFill>
              </a:rPr>
              <a:t>是</a:t>
            </a:r>
            <a:r>
              <a:rPr b="1" spc="10" dirty="0"/>
              <a:t>内部</a:t>
            </a:r>
            <a:r>
              <a:rPr b="1" dirty="0"/>
              <a:t>时</a:t>
            </a:r>
            <a:r>
              <a:rPr b="1" spc="15" dirty="0"/>
              <a:t>钟</a:t>
            </a:r>
            <a:r>
              <a:rPr b="1" spc="10" dirty="0">
                <a:solidFill>
                  <a:srgbClr val="000000"/>
                </a:solidFill>
              </a:rPr>
              <a:t>方式</a:t>
            </a:r>
            <a:r>
              <a:rPr b="1" dirty="0">
                <a:solidFill>
                  <a:srgbClr val="000000"/>
                </a:solidFill>
              </a:rPr>
              <a:t>，</a:t>
            </a:r>
            <a:r>
              <a:rPr b="1" spc="10" dirty="0">
                <a:solidFill>
                  <a:srgbClr val="000000"/>
                </a:solidFill>
              </a:rPr>
              <a:t>另一</a:t>
            </a:r>
            <a:r>
              <a:rPr b="1" dirty="0">
                <a:solidFill>
                  <a:srgbClr val="000000"/>
                </a:solidFill>
              </a:rPr>
              <a:t>种</a:t>
            </a:r>
            <a:r>
              <a:rPr b="1" spc="20" dirty="0">
                <a:solidFill>
                  <a:srgbClr val="000000"/>
                </a:solidFill>
              </a:rPr>
              <a:t>是</a:t>
            </a:r>
            <a:r>
              <a:rPr b="1" spc="10" dirty="0"/>
              <a:t>外部时 钟</a:t>
            </a:r>
            <a:r>
              <a:rPr b="1" spc="10" dirty="0">
                <a:solidFill>
                  <a:srgbClr val="000000"/>
                </a:solidFill>
              </a:rPr>
              <a:t>方式。</a:t>
            </a:r>
            <a:endParaRPr b="1"/>
          </a:p>
          <a:p>
            <a:pPr marL="71120">
              <a:lnSpc>
                <a:spcPct val="100000"/>
              </a:lnSpc>
              <a:spcBef>
                <a:spcPts val="1165"/>
              </a:spcBef>
            </a:pPr>
            <a:r>
              <a:rPr b="1" spc="15" dirty="0">
                <a:solidFill>
                  <a:srgbClr val="3333CC"/>
                </a:solidFill>
              </a:rPr>
              <a:t>（</a:t>
            </a:r>
            <a:r>
              <a:rPr b="1" spc="15" dirty="0">
                <a:solidFill>
                  <a:srgbClr val="3333CC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b="1" spc="15" dirty="0">
                <a:solidFill>
                  <a:srgbClr val="3333CC"/>
                </a:solidFill>
              </a:rPr>
              <a:t>）</a:t>
            </a:r>
            <a:r>
              <a:rPr b="1" spc="10" dirty="0">
                <a:solidFill>
                  <a:srgbClr val="3333CC"/>
                </a:solidFill>
              </a:rPr>
              <a:t>内部时钟</a:t>
            </a:r>
            <a:r>
              <a:rPr b="1" dirty="0">
                <a:solidFill>
                  <a:srgbClr val="3333CC"/>
                </a:solidFill>
              </a:rPr>
              <a:t>方式</a:t>
            </a:r>
          </a:p>
          <a:p>
            <a:pPr marL="71120" marR="5080" indent="190500">
              <a:lnSpc>
                <a:spcPct val="150000"/>
              </a:lnSpc>
              <a:spcBef>
                <a:spcPts val="345"/>
              </a:spcBef>
            </a:pPr>
            <a:r>
              <a:rPr sz="2400" b="1" spc="7" baseline="3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AT89S51</a:t>
            </a:r>
            <a:r>
              <a:rPr sz="1600" b="1" spc="10" dirty="0">
                <a:solidFill>
                  <a:srgbClr val="000000"/>
                </a:solidFill>
              </a:rPr>
              <a:t>内部</a:t>
            </a:r>
            <a:r>
              <a:rPr sz="1600" b="1" dirty="0">
                <a:solidFill>
                  <a:srgbClr val="000000"/>
                </a:solidFill>
              </a:rPr>
              <a:t>有</a:t>
            </a:r>
            <a:r>
              <a:rPr sz="1600" b="1" spc="10" dirty="0">
                <a:solidFill>
                  <a:srgbClr val="000000"/>
                </a:solidFill>
              </a:rPr>
              <a:t>一个用</a:t>
            </a:r>
            <a:r>
              <a:rPr sz="1600" b="1" dirty="0">
                <a:solidFill>
                  <a:srgbClr val="000000"/>
                </a:solidFill>
              </a:rPr>
              <a:t>于</a:t>
            </a:r>
            <a:r>
              <a:rPr sz="1600" b="1" spc="10" dirty="0">
                <a:solidFill>
                  <a:srgbClr val="000000"/>
                </a:solidFill>
              </a:rPr>
              <a:t>构成</a:t>
            </a:r>
            <a:r>
              <a:rPr sz="1600" b="1" dirty="0">
                <a:solidFill>
                  <a:srgbClr val="000000"/>
                </a:solidFill>
              </a:rPr>
              <a:t>振</a:t>
            </a:r>
            <a:r>
              <a:rPr sz="1600" b="1" spc="10" dirty="0">
                <a:solidFill>
                  <a:srgbClr val="000000"/>
                </a:solidFill>
              </a:rPr>
              <a:t>荡器</a:t>
            </a:r>
            <a:r>
              <a:rPr sz="1600" b="1" spc="30" dirty="0">
                <a:solidFill>
                  <a:srgbClr val="000000"/>
                </a:solidFill>
              </a:rPr>
              <a:t>的</a:t>
            </a:r>
            <a:r>
              <a:rPr sz="1600" b="1" dirty="0">
                <a:solidFill>
                  <a:srgbClr val="3333CC"/>
                </a:solidFill>
              </a:rPr>
              <a:t>高</a:t>
            </a:r>
            <a:r>
              <a:rPr sz="1600" b="1" spc="10" dirty="0">
                <a:solidFill>
                  <a:srgbClr val="3333CC"/>
                </a:solidFill>
              </a:rPr>
              <a:t>增益</a:t>
            </a:r>
            <a:r>
              <a:rPr sz="1600" b="1" dirty="0">
                <a:solidFill>
                  <a:srgbClr val="3333CC"/>
                </a:solidFill>
              </a:rPr>
              <a:t>反</a:t>
            </a:r>
            <a:r>
              <a:rPr sz="1600" b="1" spc="10" dirty="0">
                <a:solidFill>
                  <a:srgbClr val="3333CC"/>
                </a:solidFill>
              </a:rPr>
              <a:t>相放大器</a:t>
            </a:r>
            <a:r>
              <a:rPr sz="1600" b="1" spc="10" dirty="0">
                <a:solidFill>
                  <a:srgbClr val="000000"/>
                </a:solidFill>
              </a:rPr>
              <a:t>，输</a:t>
            </a:r>
            <a:r>
              <a:rPr sz="1600" b="1" dirty="0">
                <a:solidFill>
                  <a:srgbClr val="000000"/>
                </a:solidFill>
              </a:rPr>
              <a:t>入</a:t>
            </a:r>
            <a:r>
              <a:rPr sz="1600" b="1" spc="10" dirty="0">
                <a:solidFill>
                  <a:srgbClr val="000000"/>
                </a:solidFill>
              </a:rPr>
              <a:t>端</a:t>
            </a:r>
            <a:r>
              <a:rPr sz="1600" b="1" dirty="0">
                <a:solidFill>
                  <a:srgbClr val="000000"/>
                </a:solidFill>
              </a:rPr>
              <a:t>为 </a:t>
            </a:r>
            <a:r>
              <a:rPr sz="1600" b="1" spc="20" dirty="0">
                <a:solidFill>
                  <a:srgbClr val="000000"/>
                </a:solidFill>
              </a:rPr>
              <a:t>芯片</a:t>
            </a:r>
            <a:r>
              <a:rPr sz="1600" b="1" spc="10" dirty="0">
                <a:solidFill>
                  <a:srgbClr val="000000"/>
                </a:solidFill>
              </a:rPr>
              <a:t>引脚</a:t>
            </a:r>
            <a:r>
              <a:rPr sz="2400" b="1" baseline="3000" dirty="0">
                <a:solidFill>
                  <a:srgbClr val="3333CC"/>
                </a:solidFill>
                <a:latin typeface="Times New Roman" panose="02020603050405020304"/>
                <a:cs typeface="Times New Roman" panose="02020603050405020304"/>
              </a:rPr>
              <a:t>XTAL1</a:t>
            </a:r>
            <a:r>
              <a:rPr sz="1600" b="1" dirty="0">
                <a:solidFill>
                  <a:srgbClr val="000000"/>
                </a:solidFill>
              </a:rPr>
              <a:t>，</a:t>
            </a:r>
            <a:r>
              <a:rPr sz="1600" b="1" spc="10" dirty="0">
                <a:solidFill>
                  <a:srgbClr val="000000"/>
                </a:solidFill>
              </a:rPr>
              <a:t>输出端</a:t>
            </a:r>
            <a:r>
              <a:rPr sz="1600" b="1" dirty="0">
                <a:solidFill>
                  <a:srgbClr val="000000"/>
                </a:solidFill>
              </a:rPr>
              <a:t>为</a:t>
            </a:r>
            <a:r>
              <a:rPr sz="1600" b="1" spc="10" dirty="0">
                <a:solidFill>
                  <a:srgbClr val="000000"/>
                </a:solidFill>
              </a:rPr>
              <a:t>引</a:t>
            </a:r>
            <a:r>
              <a:rPr sz="1600" b="1" spc="20" dirty="0">
                <a:solidFill>
                  <a:srgbClr val="000000"/>
                </a:solidFill>
              </a:rPr>
              <a:t>脚</a:t>
            </a:r>
            <a:r>
              <a:rPr sz="2400" b="1" baseline="3000" dirty="0">
                <a:solidFill>
                  <a:srgbClr val="3333CC"/>
                </a:solidFill>
                <a:latin typeface="Times New Roman" panose="02020603050405020304"/>
                <a:cs typeface="Times New Roman" panose="02020603050405020304"/>
              </a:rPr>
              <a:t>XTAL2</a:t>
            </a:r>
            <a:r>
              <a:rPr sz="1600" b="1" spc="10" dirty="0">
                <a:solidFill>
                  <a:srgbClr val="000000"/>
                </a:solidFill>
              </a:rPr>
              <a:t>。这两</a:t>
            </a:r>
            <a:r>
              <a:rPr sz="1600" b="1" dirty="0">
                <a:solidFill>
                  <a:srgbClr val="000000"/>
                </a:solidFill>
              </a:rPr>
              <a:t>个</a:t>
            </a:r>
            <a:r>
              <a:rPr sz="1600" b="1" spc="10" dirty="0">
                <a:solidFill>
                  <a:srgbClr val="000000"/>
                </a:solidFill>
              </a:rPr>
              <a:t>引脚跨</a:t>
            </a:r>
            <a:r>
              <a:rPr sz="1600" b="1" dirty="0">
                <a:solidFill>
                  <a:srgbClr val="000000"/>
                </a:solidFill>
              </a:rPr>
              <a:t>接</a:t>
            </a:r>
            <a:r>
              <a:rPr sz="1600" b="1" spc="10" dirty="0">
                <a:solidFill>
                  <a:srgbClr val="000000"/>
                </a:solidFill>
              </a:rPr>
              <a:t>石英</a:t>
            </a:r>
            <a:r>
              <a:rPr sz="1600" b="1" dirty="0">
                <a:solidFill>
                  <a:srgbClr val="000000"/>
                </a:solidFill>
              </a:rPr>
              <a:t>晶</a:t>
            </a:r>
            <a:r>
              <a:rPr sz="1600" b="1" spc="10" dirty="0">
                <a:solidFill>
                  <a:srgbClr val="000000"/>
                </a:solidFill>
              </a:rPr>
              <a:t>体</a:t>
            </a:r>
            <a:r>
              <a:rPr sz="1600" b="1" dirty="0">
                <a:solidFill>
                  <a:srgbClr val="000000"/>
                </a:solidFill>
              </a:rPr>
              <a:t>振 </a:t>
            </a:r>
            <a:r>
              <a:rPr sz="1600" b="1" spc="10" dirty="0">
                <a:solidFill>
                  <a:srgbClr val="000000"/>
                </a:solidFill>
              </a:rPr>
              <a:t>荡器和微</a:t>
            </a:r>
            <a:r>
              <a:rPr sz="1600" b="1" dirty="0">
                <a:solidFill>
                  <a:srgbClr val="000000"/>
                </a:solidFill>
              </a:rPr>
              <a:t>调电</a:t>
            </a:r>
            <a:r>
              <a:rPr sz="1600" b="1" spc="15" dirty="0">
                <a:solidFill>
                  <a:srgbClr val="000000"/>
                </a:solidFill>
              </a:rPr>
              <a:t>容</a:t>
            </a:r>
            <a:r>
              <a:rPr sz="1600" b="1" spc="10" dirty="0">
                <a:solidFill>
                  <a:srgbClr val="000000"/>
                </a:solidFill>
              </a:rPr>
              <a:t>，构成</a:t>
            </a:r>
            <a:r>
              <a:rPr sz="1600" b="1" dirty="0">
                <a:solidFill>
                  <a:srgbClr val="000000"/>
                </a:solidFill>
              </a:rPr>
              <a:t>一个</a:t>
            </a:r>
            <a:r>
              <a:rPr sz="1600" b="1" spc="15" dirty="0">
                <a:solidFill>
                  <a:srgbClr val="000000"/>
                </a:solidFill>
              </a:rPr>
              <a:t>稳</a:t>
            </a:r>
            <a:r>
              <a:rPr sz="1600" b="1" spc="10" dirty="0">
                <a:solidFill>
                  <a:srgbClr val="000000"/>
                </a:solidFill>
              </a:rPr>
              <a:t>定的自</a:t>
            </a:r>
            <a:r>
              <a:rPr sz="1600" b="1" dirty="0">
                <a:solidFill>
                  <a:srgbClr val="000000"/>
                </a:solidFill>
              </a:rPr>
              <a:t>激振</a:t>
            </a:r>
            <a:r>
              <a:rPr sz="1600" b="1" spc="15" dirty="0">
                <a:solidFill>
                  <a:srgbClr val="000000"/>
                </a:solidFill>
              </a:rPr>
              <a:t>荡</a:t>
            </a:r>
            <a:r>
              <a:rPr sz="1600" b="1" spc="10" dirty="0">
                <a:solidFill>
                  <a:srgbClr val="000000"/>
                </a:solidFill>
              </a:rPr>
              <a:t>器</a:t>
            </a:r>
            <a:r>
              <a:rPr sz="1600" b="1" dirty="0">
                <a:solidFill>
                  <a:srgbClr val="000000"/>
                </a:solidFill>
              </a:rPr>
              <a:t>，</a:t>
            </a:r>
            <a:r>
              <a:rPr sz="1600" b="1" spc="10" dirty="0"/>
              <a:t>图</a:t>
            </a:r>
            <a:r>
              <a:rPr sz="1600" b="1" dirty="0">
                <a:solidFill>
                  <a:srgbClr val="000000"/>
                </a:solidFill>
              </a:rPr>
              <a:t>为</a:t>
            </a:r>
            <a:r>
              <a:rPr sz="1600" b="1" dirty="0"/>
              <a:t>内</a:t>
            </a:r>
            <a:r>
              <a:rPr sz="1600" b="1" spc="10" dirty="0"/>
              <a:t>部时钟方</a:t>
            </a:r>
            <a:r>
              <a:rPr sz="1600" b="1" spc="5" dirty="0"/>
              <a:t>式</a:t>
            </a:r>
            <a:r>
              <a:rPr sz="1600" b="1" dirty="0">
                <a:solidFill>
                  <a:srgbClr val="000000"/>
                </a:solidFill>
              </a:rPr>
              <a:t>的</a:t>
            </a:r>
            <a:r>
              <a:rPr sz="1600" b="1" dirty="0"/>
              <a:t>电 </a:t>
            </a:r>
            <a:r>
              <a:rPr sz="1600" b="1" spc="10" dirty="0"/>
              <a:t>路</a:t>
            </a:r>
            <a:r>
              <a:rPr sz="1600" b="1" dirty="0">
                <a:solidFill>
                  <a:srgbClr val="000000"/>
                </a:solidFill>
              </a:rPr>
              <a:t>。</a:t>
            </a:r>
            <a:endParaRPr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6571" y="47066"/>
            <a:ext cx="216979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sym typeface="EuroRoman" panose="00000400000000000000" pitchFamily="2" charset="2"/>
              </a:rPr>
              <a:t>§</a:t>
            </a:r>
            <a:r>
              <a:rPr lang="en-US" altLang="zh-CN" dirty="0">
                <a:sym typeface="EuroRoman" panose="00000400000000000000" pitchFamily="2" charset="2"/>
              </a:rPr>
              <a:t>2.4	CPU</a:t>
            </a:r>
            <a:r>
              <a:rPr lang="zh-CN" altLang="en-US" dirty="0">
                <a:sym typeface="EuroRoman" panose="00000400000000000000" pitchFamily="2" charset="2"/>
              </a:rPr>
              <a:t>时序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1876170" y="591693"/>
            <a:ext cx="16459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000" b="1" spc="2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2000" b="1" spc="1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钟电路设</a:t>
            </a:r>
            <a:r>
              <a:rPr sz="2000" b="1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计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107521" name="图片 262148" descr="02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00" y="343535"/>
            <a:ext cx="3439160" cy="1998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object 3"/>
          <p:cNvSpPr txBox="1"/>
          <p:nvPr/>
        </p:nvSpPr>
        <p:spPr>
          <a:xfrm>
            <a:off x="444500" y="5360670"/>
            <a:ext cx="618490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00">
              <a:lnSpc>
                <a:spcPct val="150000"/>
              </a:lnSpc>
              <a:spcBef>
                <a:spcPts val="1200"/>
              </a:spcBef>
            </a:pPr>
            <a:r>
              <a:rPr sz="1400" b="1" spc="20" dirty="0">
                <a:latin typeface="Microsoft JhengHei" panose="020B0604030504040204" charset="-120"/>
                <a:cs typeface="Microsoft JhengHei" panose="020B0604030504040204" charset="-120"/>
              </a:rPr>
              <a:t>晶振</a:t>
            </a:r>
            <a:r>
              <a:rPr sz="1400" b="1" spc="10" dirty="0">
                <a:latin typeface="Microsoft JhengHei" panose="020B0604030504040204" charset="-120"/>
                <a:cs typeface="Microsoft JhengHei" panose="020B0604030504040204" charset="-120"/>
              </a:rPr>
              <a:t>频率范</a:t>
            </a:r>
            <a:r>
              <a:rPr sz="1400" b="1" dirty="0">
                <a:latin typeface="Microsoft JhengHei" panose="020B0604030504040204" charset="-120"/>
                <a:cs typeface="Microsoft JhengHei" panose="020B0604030504040204" charset="-120"/>
              </a:rPr>
              <a:t>围</a:t>
            </a:r>
            <a:r>
              <a:rPr sz="1400" b="1" spc="10" dirty="0">
                <a:latin typeface="Microsoft JhengHei" panose="020B0604030504040204" charset="-120"/>
                <a:cs typeface="Microsoft JhengHei" panose="020B0604030504040204" charset="-120"/>
              </a:rPr>
              <a:t>通常</a:t>
            </a:r>
            <a:r>
              <a:rPr sz="1400" b="1" spc="15" dirty="0">
                <a:latin typeface="Microsoft JhengHei" panose="020B0604030504040204" charset="-120"/>
                <a:cs typeface="Microsoft JhengHei" panose="020B0604030504040204" charset="-120"/>
              </a:rPr>
              <a:t>是</a:t>
            </a:r>
            <a:r>
              <a:rPr sz="2000" b="1" spc="-15" baseline="3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1.2</a:t>
            </a:r>
            <a:r>
              <a:rPr sz="1400" b="1" spc="-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～</a:t>
            </a:r>
            <a:r>
              <a:rPr lang="en-US" sz="2000" b="1" spc="-15" baseline="3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24</a:t>
            </a:r>
            <a:r>
              <a:rPr sz="2000" b="1" spc="-15" baseline="3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MHz</a:t>
            </a:r>
            <a:r>
              <a:rPr sz="1400" b="1" dirty="0">
                <a:latin typeface="Microsoft JhengHei" panose="020B0604030504040204" charset="-120"/>
                <a:cs typeface="Microsoft JhengHei" panose="020B0604030504040204" charset="-120"/>
              </a:rPr>
              <a:t>。 </a:t>
            </a:r>
            <a:r>
              <a:rPr sz="1400" b="1" spc="10" dirty="0">
                <a:latin typeface="Microsoft JhengHei" panose="020B0604030504040204" charset="-120"/>
                <a:cs typeface="Microsoft JhengHei" panose="020B0604030504040204" charset="-120"/>
              </a:rPr>
              <a:t>频率越高</a:t>
            </a:r>
            <a:r>
              <a:rPr sz="1400" b="1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4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单</a:t>
            </a:r>
            <a:r>
              <a:rPr sz="14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片机速度</a:t>
            </a:r>
            <a:r>
              <a:rPr sz="14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就越</a:t>
            </a:r>
            <a:r>
              <a:rPr sz="1400" b="1" spc="2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快</a:t>
            </a:r>
            <a:r>
              <a:rPr sz="14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429885" y="2493010"/>
            <a:ext cx="29749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2085" algn="ctr">
              <a:lnSpc>
                <a:spcPct val="100000"/>
              </a:lnSpc>
              <a:spcBef>
                <a:spcPts val="100"/>
              </a:spcBef>
              <a:tabLst>
                <a:tab pos="688975" algn="l"/>
              </a:tabLst>
            </a:pPr>
            <a:r>
              <a:rPr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图	</a:t>
            </a:r>
            <a:r>
              <a:rPr b="1" spc="10" dirty="0"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内部时钟方式电路</a:t>
            </a:r>
            <a:endParaRPr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9695" y="6019596"/>
            <a:ext cx="3371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2590" algn="l"/>
              </a:tabLst>
            </a:pPr>
            <a:r>
              <a:rPr sz="18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图	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AT89S51</a:t>
            </a:r>
            <a:r>
              <a:rPr sz="1800" b="1" spc="5" dirty="0">
                <a:latin typeface="Microsoft JhengHei" panose="020B0604030504040204" charset="-120"/>
                <a:cs typeface="Microsoft JhengHei" panose="020B0604030504040204" charset="-120"/>
              </a:rPr>
              <a:t>的外部时钟方式电路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92664" y="3608695"/>
            <a:ext cx="2720517" cy="20773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66571" y="47066"/>
            <a:ext cx="216979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sym typeface="EuroRoman" panose="00000400000000000000" pitchFamily="2" charset="2"/>
              </a:rPr>
              <a:t>§</a:t>
            </a:r>
            <a:r>
              <a:rPr lang="en-US" altLang="zh-CN" dirty="0">
                <a:sym typeface="EuroRoman" panose="00000400000000000000" pitchFamily="2" charset="2"/>
              </a:rPr>
              <a:t>2.4	CPU</a:t>
            </a:r>
            <a:r>
              <a:rPr lang="zh-CN" altLang="en-US" dirty="0">
                <a:sym typeface="EuroRoman" panose="00000400000000000000" pitchFamily="2" charset="2"/>
              </a:rPr>
              <a:t>时序</a:t>
            </a:r>
            <a:endParaRPr spc="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61315" y="591693"/>
            <a:ext cx="8123555" cy="2734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130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000" b="1" spc="-10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2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时钟</a:t>
            </a:r>
            <a:r>
              <a:rPr sz="2000" b="1" spc="1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电路</a:t>
            </a:r>
            <a:r>
              <a:rPr sz="2000" b="1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设计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39065">
              <a:lnSpc>
                <a:spcPct val="100000"/>
              </a:lnSpc>
              <a:spcBef>
                <a:spcPts val="1385"/>
              </a:spcBef>
            </a:pPr>
            <a:r>
              <a:rPr sz="2000" b="1" spc="2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2000" b="1" spc="20" dirty="0">
                <a:solidFill>
                  <a:srgbClr val="3333CC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b="1" spc="2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外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部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时钟方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式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03200">
              <a:lnSpc>
                <a:spcPct val="100000"/>
              </a:lnSpc>
              <a:spcBef>
                <a:spcPts val="960"/>
              </a:spcBef>
            </a:pP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用外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部振荡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产生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脉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冲信号</a:t>
            </a: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常用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于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多</a:t>
            </a:r>
            <a:r>
              <a:rPr sz="2000" b="1" spc="1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片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AT89S51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同时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工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作，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便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于多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片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b="1" spc="5" dirty="0">
                <a:latin typeface="Times New Roman" panose="02020603050405020304"/>
                <a:cs typeface="Times New Roman" panose="02020603050405020304"/>
              </a:rPr>
              <a:t>AT89S51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同步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一般为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低</a:t>
            </a: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于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12MHz</a:t>
            </a: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方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波。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03200">
              <a:lnSpc>
                <a:spcPct val="100000"/>
              </a:lnSpc>
              <a:spcBef>
                <a:spcPts val="960"/>
              </a:spcBef>
            </a:pPr>
            <a:r>
              <a:rPr sz="2000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外部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时钟</a:t>
            </a:r>
            <a:r>
              <a:rPr sz="2000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源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接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到</a:t>
            </a:r>
            <a:r>
              <a:rPr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XTAL1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端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XTAL2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端悬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空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，见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图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9430" y="1390142"/>
            <a:ext cx="8825230" cy="50533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30" lvl="1">
              <a:lnSpc>
                <a:spcPct val="100000"/>
              </a:lnSpc>
              <a:spcBef>
                <a:spcPts val="1680"/>
              </a:spcBef>
              <a:buSzPct val="95000"/>
              <a:tabLst>
                <a:tab pos="859155" algn="l"/>
              </a:tabLst>
            </a:pPr>
            <a:r>
              <a:rPr lang="en-US" altLang="zh-CN"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lang="zh-CN" altLang="en-US"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、振荡周期</a:t>
            </a:r>
            <a:endParaRPr lang="en-US" altLang="zh-CN" sz="2000" b="1" spc="10" dirty="0">
              <a:solidFill>
                <a:srgbClr val="FF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14630" lvl="1">
              <a:lnSpc>
                <a:spcPct val="100000"/>
              </a:lnSpc>
              <a:spcBef>
                <a:spcPts val="1680"/>
              </a:spcBef>
              <a:buSzPct val="95000"/>
              <a:tabLst>
                <a:tab pos="859155" algn="l"/>
              </a:tabLst>
            </a:pPr>
            <a:r>
              <a:rPr lang="zh-CN" altLang="en-US"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晶振的振荡周期，为最小时序单位。</a:t>
            </a:r>
            <a:endParaRPr lang="en-US" sz="2000" b="1" spc="1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14630" lvl="1">
              <a:lnSpc>
                <a:spcPct val="100000"/>
              </a:lnSpc>
              <a:spcBef>
                <a:spcPts val="1680"/>
              </a:spcBef>
              <a:buSzPct val="95000"/>
              <a:tabLst>
                <a:tab pos="859155" algn="l"/>
              </a:tabLst>
            </a:pP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若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晶振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频率</a:t>
            </a: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为</a:t>
            </a:r>
            <a:r>
              <a:rPr sz="2000" b="1" i="1" spc="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950" b="1" spc="7" baseline="-21000" dirty="0">
                <a:latin typeface="Times New Roman" panose="02020603050405020304"/>
                <a:cs typeface="Times New Roman" panose="02020603050405020304"/>
              </a:rPr>
              <a:t>osc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则</a:t>
            </a:r>
            <a:r>
              <a:rPr lang="zh-CN" altLang="en-US"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振荡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20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950" b="1" baseline="-21000" dirty="0">
                <a:latin typeface="Times New Roman" panose="02020603050405020304"/>
                <a:cs typeface="Times New Roman" panose="02020603050405020304"/>
              </a:rPr>
              <a:t>osc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=1/</a:t>
            </a:r>
            <a:r>
              <a:rPr sz="2000" b="1" i="1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950" b="1" baseline="-21000" dirty="0">
                <a:latin typeface="Times New Roman" panose="02020603050405020304"/>
                <a:cs typeface="Times New Roman" panose="02020603050405020304"/>
              </a:rPr>
              <a:t>osc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 </a:t>
            </a: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如</a:t>
            </a:r>
            <a:r>
              <a:rPr sz="2000" b="1" i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950" b="1" baseline="-21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osc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=6MHz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i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950" b="1" baseline="-21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osc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=166.7ns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14630" lvl="1">
              <a:lnSpc>
                <a:spcPct val="100000"/>
              </a:lnSpc>
              <a:spcBef>
                <a:spcPts val="1680"/>
              </a:spcBef>
              <a:buSzPct val="95000"/>
              <a:tabLst>
                <a:tab pos="859155" algn="l"/>
              </a:tabLst>
            </a:pPr>
            <a:r>
              <a:rPr lang="en-US"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lang="zh-CN" altLang="en-US"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、状态周期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79400">
              <a:lnSpc>
                <a:spcPct val="100000"/>
              </a:lnSpc>
              <a:spcBef>
                <a:spcPts val="1685"/>
              </a:spcBef>
            </a:pPr>
            <a:r>
              <a:rPr lang="zh-CN" altLang="en-US" sz="2000" b="1" spc="5" dirty="0">
                <a:latin typeface="Times New Roman" panose="02020603050405020304"/>
                <a:cs typeface="Times New Roman" panose="02020603050405020304"/>
              </a:rPr>
              <a:t>震荡频率经单片机内的二分频后提供给片内</a:t>
            </a:r>
            <a:r>
              <a:rPr lang="en-US" altLang="zh-CN" sz="2000" b="1" spc="5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lang="zh-CN" altLang="en-US" sz="2000" b="1" spc="5" dirty="0">
                <a:latin typeface="Times New Roman" panose="02020603050405020304"/>
                <a:cs typeface="Times New Roman" panose="02020603050405020304"/>
              </a:rPr>
              <a:t>的</a:t>
            </a:r>
            <a:r>
              <a:rPr lang="zh-CN" altLang="en-US" sz="2000" b="1" spc="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时钟周期</a:t>
            </a:r>
            <a:endParaRPr lang="en-US" altLang="zh-CN" sz="2000" b="1" spc="5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79400">
              <a:lnSpc>
                <a:spcPct val="100000"/>
              </a:lnSpc>
              <a:spcBef>
                <a:spcPts val="1685"/>
              </a:spcBef>
            </a:pPr>
            <a:r>
              <a:rPr lang="en-US" sz="2000" b="1" spc="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zh-CN" altLang="en-US" sz="2000" b="1" spc="5" dirty="0">
                <a:latin typeface="Times New Roman" panose="02020603050405020304"/>
                <a:cs typeface="Times New Roman" panose="02020603050405020304"/>
              </a:rPr>
              <a:t>个状态周期包含</a:t>
            </a:r>
            <a:r>
              <a:rPr lang="en-US" altLang="zh-CN" sz="2000" b="1" spc="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zh-CN" altLang="en-US" sz="2000" b="1" spc="5" dirty="0">
                <a:latin typeface="Times New Roman" panose="02020603050405020304"/>
                <a:cs typeface="Times New Roman" panose="02020603050405020304"/>
              </a:rPr>
              <a:t>个振荡周期，即</a:t>
            </a:r>
            <a:r>
              <a:rPr lang="en-US" altLang="zh-CN" sz="2000" b="1" spc="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zh-CN" altLang="en-US" sz="2000" b="1" spc="5" dirty="0">
                <a:latin typeface="Times New Roman" panose="02020603050405020304"/>
                <a:cs typeface="Times New Roman" panose="02020603050405020304"/>
              </a:rPr>
              <a:t>个节拍</a:t>
            </a:r>
            <a:r>
              <a:rPr lang="en-US" altLang="zh-CN" sz="2000" b="1" spc="5" dirty="0">
                <a:latin typeface="Times New Roman" panose="02020603050405020304"/>
                <a:cs typeface="Times New Roman" panose="02020603050405020304"/>
              </a:rPr>
              <a:t>P1</a:t>
            </a:r>
            <a:r>
              <a:rPr lang="zh-CN" altLang="en-US" sz="2000" b="1" spc="5" dirty="0">
                <a:latin typeface="Times New Roman" panose="02020603050405020304"/>
                <a:cs typeface="Times New Roman" panose="02020603050405020304"/>
              </a:rPr>
              <a:t>和</a:t>
            </a:r>
            <a:r>
              <a:rPr lang="en-US" altLang="zh-CN" sz="2000" b="1" spc="5" dirty="0">
                <a:latin typeface="Times New Roman" panose="02020603050405020304"/>
                <a:cs typeface="Times New Roman" panose="02020603050405020304"/>
              </a:rPr>
              <a:t>P2</a:t>
            </a:r>
            <a:endParaRPr lang="en-US" sz="2000" b="1" spc="5" dirty="0">
              <a:latin typeface="Times New Roman" panose="02020603050405020304"/>
              <a:cs typeface="Times New Roman" panose="02020603050405020304"/>
            </a:endParaRPr>
          </a:p>
          <a:p>
            <a:pPr marL="279400">
              <a:lnSpc>
                <a:spcPct val="100000"/>
              </a:lnSpc>
              <a:spcBef>
                <a:spcPts val="1685"/>
              </a:spcBef>
            </a:pPr>
            <a:r>
              <a:rPr lang="en-US" sz="2000" b="1" spc="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lang="zh-CN" altLang="en-US" sz="2000" b="1" spc="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、机器周期</a:t>
            </a:r>
            <a:endParaRPr lang="en-US" sz="2000" b="1" spc="5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79400">
              <a:lnSpc>
                <a:spcPct val="100000"/>
              </a:lnSpc>
              <a:spcBef>
                <a:spcPts val="1685"/>
              </a:spcBef>
            </a:pPr>
            <a:r>
              <a:rPr sz="2000" b="1" spc="5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完成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一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个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基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本操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作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所需时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间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为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机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79400">
              <a:lnSpc>
                <a:spcPct val="100000"/>
              </a:lnSpc>
              <a:spcBef>
                <a:spcPts val="1680"/>
              </a:spcBef>
            </a:pPr>
            <a:r>
              <a:rPr lang="en-US" sz="2000" b="1" spc="2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lang="zh-CN" altLang="en-US" sz="2000" b="1" spc="2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个机器周期由</a:t>
            </a:r>
            <a:r>
              <a:rPr lang="en-US" altLang="zh-CN" sz="2000" b="1" spc="2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6</a:t>
            </a:r>
            <a:r>
              <a:rPr lang="zh-CN" altLang="en-US" sz="2000" b="1" spc="2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个状态（</a:t>
            </a:r>
            <a:r>
              <a:rPr lang="en-US" altLang="zh-CN" sz="2000" b="1" spc="2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S</a:t>
            </a:r>
            <a:r>
              <a:rPr lang="zh-CN" altLang="en-US" sz="2000" b="1" spc="2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状态）周期（</a:t>
            </a:r>
            <a:r>
              <a:rPr lang="en-US" altLang="zh-CN" sz="2000" b="1" spc="2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12</a:t>
            </a:r>
            <a:r>
              <a:rPr lang="zh-CN" altLang="en-US" sz="2000" b="1" spc="2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个振荡周期）组成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lang="en-US" sz="2000" b="1" dirty="0">
              <a:solidFill>
                <a:srgbClr val="0000FF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79400">
              <a:lnSpc>
                <a:spcPct val="100000"/>
              </a:lnSpc>
              <a:spcBef>
                <a:spcPts val="1680"/>
              </a:spcBef>
            </a:pPr>
            <a:r>
              <a:rPr lang="zh-CN" altLang="en-US" sz="2000" dirty="0">
                <a:latin typeface="Microsoft JhengHei" panose="020B0604030504040204" charset="-120"/>
                <a:cs typeface="Microsoft JhengHei" panose="020B0604030504040204" charset="-120"/>
              </a:rPr>
              <a:t>每个</a:t>
            </a:r>
            <a:r>
              <a:rPr lang="en-US" altLang="zh-CN" sz="2000" dirty="0">
                <a:latin typeface="Microsoft JhengHei" panose="020B0604030504040204" charset="-120"/>
                <a:cs typeface="Microsoft JhengHei" panose="020B0604030504040204" charset="-120"/>
              </a:rPr>
              <a:t>S</a:t>
            </a:r>
            <a:r>
              <a:rPr lang="zh-CN" altLang="en-US" sz="2000" dirty="0">
                <a:latin typeface="Microsoft JhengHei" panose="020B0604030504040204" charset="-120"/>
                <a:cs typeface="Microsoft JhengHei" panose="020B0604030504040204" charset="-120"/>
              </a:rPr>
              <a:t>状态分为</a:t>
            </a:r>
            <a:r>
              <a:rPr lang="en-US" altLang="zh-CN" sz="2000" dirty="0"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lang="zh-CN" altLang="en-US" sz="2000" dirty="0">
                <a:latin typeface="Microsoft JhengHei" panose="020B0604030504040204" charset="-120"/>
                <a:cs typeface="Microsoft JhengHei" panose="020B0604030504040204" charset="-120"/>
              </a:rPr>
              <a:t>拍：</a:t>
            </a:r>
            <a:r>
              <a:rPr lang="en-US" altLang="zh-CN" sz="2000" dirty="0">
                <a:latin typeface="Microsoft JhengHei" panose="020B0604030504040204" charset="-120"/>
                <a:cs typeface="Microsoft JhengHei" panose="020B0604030504040204" charset="-120"/>
              </a:rPr>
              <a:t>P1</a:t>
            </a:r>
            <a:r>
              <a:rPr lang="zh-CN" altLang="en-US" sz="2000" dirty="0"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r>
              <a:rPr lang="en-US" altLang="zh-CN" sz="2000" dirty="0">
                <a:latin typeface="Microsoft JhengHei" panose="020B0604030504040204" charset="-120"/>
                <a:cs typeface="Microsoft JhengHei" panose="020B0604030504040204" charset="-120"/>
              </a:rPr>
              <a:t>P2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7116" y="87248"/>
            <a:ext cx="216979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sym typeface="EuroRoman" panose="00000400000000000000" pitchFamily="2" charset="2"/>
              </a:rPr>
              <a:t>§</a:t>
            </a:r>
            <a:r>
              <a:rPr lang="en-US" altLang="zh-CN" dirty="0">
                <a:sym typeface="EuroRoman" panose="00000400000000000000" pitchFamily="2" charset="2"/>
              </a:rPr>
              <a:t>2.4	CPU</a:t>
            </a:r>
            <a:r>
              <a:rPr lang="zh-CN" altLang="en-US" dirty="0">
                <a:sym typeface="EuroRoman" panose="00000400000000000000" pitchFamily="2" charset="2"/>
              </a:rPr>
              <a:t>时序</a:t>
            </a:r>
            <a:endParaRPr spc="10" dirty="0"/>
          </a:p>
        </p:txBody>
      </p:sp>
      <p:sp>
        <p:nvSpPr>
          <p:cNvPr id="4" name="object 4"/>
          <p:cNvSpPr txBox="1"/>
          <p:nvPr/>
        </p:nvSpPr>
        <p:spPr>
          <a:xfrm>
            <a:off x="1850517" y="576452"/>
            <a:ext cx="37528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基本时序定时单位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7662" y="1319733"/>
            <a:ext cx="8143875" cy="39376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lang="zh-CN" altLang="en-US"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指令周期</a:t>
            </a:r>
            <a:endParaRPr sz="2000" dirty="0">
              <a:solidFill>
                <a:srgbClr val="FF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03200">
              <a:lnSpc>
                <a:spcPct val="100000"/>
              </a:lnSpc>
              <a:spcBef>
                <a:spcPts val="1680"/>
              </a:spcBef>
            </a:pPr>
            <a:r>
              <a:rPr sz="2000" b="1" spc="2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执行</a:t>
            </a:r>
            <a:r>
              <a:rPr sz="2000" b="1" spc="1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一条指令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所需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2000" b="1" spc="1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间</a:t>
            </a:r>
            <a:r>
              <a:rPr lang="zh-CN" altLang="en-US" sz="2000" b="1" spc="1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lang="zh-CN" altLang="en-US"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由</a:t>
            </a:r>
            <a:r>
              <a:rPr lang="en-US" altLang="zh-CN"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1-4</a:t>
            </a:r>
            <a:r>
              <a:rPr lang="zh-CN" altLang="en-US"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个机器周期组成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 indent="190500">
              <a:lnSpc>
                <a:spcPct val="150000"/>
              </a:lnSpc>
              <a:spcBef>
                <a:spcPts val="480"/>
              </a:spcBef>
            </a:pP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简单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单字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节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指</a:t>
            </a:r>
            <a:r>
              <a:rPr sz="2000" b="1" spc="2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令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取出指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令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立即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执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行</a:t>
            </a:r>
            <a:r>
              <a:rPr sz="2000" b="1" spc="25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只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需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一个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机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器周</a:t>
            </a:r>
            <a:r>
              <a:rPr sz="2000" b="1" spc="-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的时</a:t>
            </a: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间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。而 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有些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复杂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的指</a:t>
            </a: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令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，如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转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移、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乘、除指令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则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需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两个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或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多个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机器周期。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03200">
              <a:lnSpc>
                <a:spcPct val="100000"/>
              </a:lnSpc>
              <a:spcBef>
                <a:spcPts val="1680"/>
              </a:spcBef>
            </a:pP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从指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令执行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间</a:t>
            </a:r>
            <a:r>
              <a:rPr sz="2000" b="1" spc="25" dirty="0">
                <a:latin typeface="Microsoft JhengHei" panose="020B0604030504040204" charset="-120"/>
                <a:cs typeface="Microsoft JhengHei" panose="020B0604030504040204" charset="-120"/>
              </a:rPr>
              <a:t>看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688975" indent="-317500">
              <a:lnSpc>
                <a:spcPct val="100000"/>
              </a:lnSpc>
              <a:spcBef>
                <a:spcPts val="1680"/>
              </a:spcBef>
              <a:buClr>
                <a:srgbClr val="00007C"/>
              </a:buClr>
              <a:buSzPct val="75000"/>
              <a:buFont typeface="Marlett"/>
              <a:buChar char=""/>
              <a:tabLst>
                <a:tab pos="689610" algn="l"/>
              </a:tabLst>
            </a:pPr>
            <a:r>
              <a:rPr sz="2000" b="1" spc="2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单字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节和双字节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指令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一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般为单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机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器周期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双机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2000" b="1" spc="2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688975" indent="-317500">
              <a:lnSpc>
                <a:spcPct val="100000"/>
              </a:lnSpc>
              <a:spcBef>
                <a:spcPts val="1680"/>
              </a:spcBef>
              <a:buClr>
                <a:srgbClr val="00007C"/>
              </a:buClr>
              <a:buSzPct val="75000"/>
              <a:buFont typeface="Marlett"/>
              <a:buChar char=""/>
              <a:tabLst>
                <a:tab pos="689610" algn="l"/>
              </a:tabLst>
            </a:pPr>
            <a:r>
              <a:rPr sz="2000" b="1" spc="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000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字节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指</a:t>
            </a:r>
            <a:r>
              <a:rPr sz="2000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令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都是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双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机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器周</a:t>
            </a:r>
            <a:r>
              <a:rPr sz="2000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;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688975" indent="-317500">
              <a:lnSpc>
                <a:spcPct val="100000"/>
              </a:lnSpc>
              <a:spcBef>
                <a:spcPts val="1680"/>
              </a:spcBef>
              <a:buClr>
                <a:srgbClr val="00007C"/>
              </a:buClr>
              <a:buSzPct val="75000"/>
              <a:buFont typeface="Marlett"/>
              <a:buChar char=""/>
              <a:tabLst>
                <a:tab pos="689610" algn="l"/>
              </a:tabLst>
            </a:pPr>
            <a:r>
              <a:rPr sz="2000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乘、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除指</a:t>
            </a:r>
            <a:r>
              <a:rPr sz="2000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令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占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用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个机器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6571" y="83642"/>
            <a:ext cx="216979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sym typeface="EuroRoman" panose="00000400000000000000" pitchFamily="2" charset="2"/>
              </a:rPr>
              <a:t>§</a:t>
            </a:r>
            <a:r>
              <a:rPr lang="en-US" altLang="zh-CN" dirty="0">
                <a:sym typeface="EuroRoman" panose="00000400000000000000" pitchFamily="2" charset="2"/>
              </a:rPr>
              <a:t>2.4	CPU</a:t>
            </a:r>
            <a:r>
              <a:rPr lang="zh-CN" altLang="en-US" dirty="0">
                <a:sym typeface="EuroRoman" panose="00000400000000000000" pitchFamily="2" charset="2"/>
              </a:rPr>
              <a:t>时序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1799970" y="573405"/>
            <a:ext cx="3752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基本时序定时单位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234" y="1371600"/>
            <a:ext cx="81438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2000" dirty="0" smtClean="0">
                <a:latin typeface="Microsoft JhengHei" panose="020B0604030504040204" charset="-120"/>
                <a:cs typeface="Microsoft JhengHei" panose="020B0604030504040204" charset="-120"/>
              </a:rPr>
              <a:t>若单片机外接晶振频率为</a:t>
            </a:r>
            <a:r>
              <a:rPr lang="en-US" altLang="zh-CN" sz="2000" dirty="0" smtClean="0">
                <a:latin typeface="Microsoft JhengHei" panose="020B0604030504040204" charset="-120"/>
                <a:cs typeface="Microsoft JhengHei" panose="020B0604030504040204" charset="-120"/>
              </a:rPr>
              <a:t>12MHz</a:t>
            </a:r>
            <a:r>
              <a:rPr lang="zh-CN" altLang="en-US" sz="2000" dirty="0" smtClean="0">
                <a:latin typeface="Microsoft JhengHei" panose="020B0604030504040204" charset="-120"/>
                <a:cs typeface="Microsoft JhengHei" panose="020B0604030504040204" charset="-120"/>
              </a:rPr>
              <a:t>，求其</a:t>
            </a:r>
            <a:r>
              <a:rPr lang="zh-CN" altLang="en-US" sz="200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振荡周期</a:t>
            </a:r>
            <a:r>
              <a:rPr lang="zh-CN" altLang="en-US" sz="2000" dirty="0" smtClean="0"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状态周期</a:t>
            </a:r>
            <a:r>
              <a:rPr lang="zh-CN" altLang="en-US" sz="2000" dirty="0" smtClean="0">
                <a:latin typeface="Microsoft JhengHei" panose="020B0604030504040204" charset="-120"/>
                <a:cs typeface="Microsoft JhengHei" panose="020B0604030504040204" charset="-120"/>
              </a:rPr>
              <a:t>及</a:t>
            </a:r>
            <a:r>
              <a:rPr lang="zh-CN" altLang="en-US" sz="200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机器周期</a:t>
            </a:r>
            <a:endParaRPr sz="2000" dirty="0">
              <a:solidFill>
                <a:srgbClr val="FF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6571" y="83642"/>
            <a:ext cx="216979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sym typeface="EuroRoman" panose="00000400000000000000" pitchFamily="2" charset="2"/>
              </a:rPr>
              <a:t>§</a:t>
            </a:r>
            <a:r>
              <a:rPr lang="en-US" altLang="zh-CN" dirty="0">
                <a:sym typeface="EuroRoman" panose="00000400000000000000" pitchFamily="2" charset="2"/>
              </a:rPr>
              <a:t>2.4	CPU</a:t>
            </a:r>
            <a:r>
              <a:rPr lang="zh-CN" altLang="en-US" dirty="0">
                <a:sym typeface="EuroRoman" panose="00000400000000000000" pitchFamily="2" charset="2"/>
              </a:rPr>
              <a:t>时序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1799970" y="573405"/>
            <a:ext cx="3752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基本时序定时单位</a:t>
            </a:r>
            <a:endParaRPr sz="20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438400"/>
            <a:ext cx="5342857" cy="2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6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标题 195585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/>
            <a:r>
              <a:rPr lang="zh-CN" altLang="en-US" b="1" dirty="0">
                <a:sym typeface="EuroRoman" panose="00000400000000000000" pitchFamily="2" charset="2"/>
              </a:rPr>
              <a:t>§</a:t>
            </a:r>
            <a:r>
              <a:rPr lang="en-US" altLang="zh-CN" b="1" dirty="0">
                <a:sym typeface="EuroRoman" panose="00000400000000000000" pitchFamily="2" charset="2"/>
              </a:rPr>
              <a:t>2.5	</a:t>
            </a:r>
            <a:r>
              <a:rPr lang="zh-CN" altLang="en-US" b="1" dirty="0">
                <a:sym typeface="EuroRoman" panose="00000400000000000000" pitchFamily="2" charset="2"/>
              </a:rPr>
              <a:t>复位操作</a:t>
            </a:r>
            <a:endParaRPr lang="zh-CN" altLang="en-US" b="1">
              <a:sym typeface="EuroRoman" panose="00000400000000000000" pitchFamily="2" charset="2"/>
            </a:endParaRPr>
          </a:p>
        </p:txBody>
      </p:sp>
      <p:sp>
        <p:nvSpPr>
          <p:cNvPr id="115715" name="文本占位符 195588"/>
          <p:cNvSpPr>
            <a:spLocks noGrp="1"/>
          </p:cNvSpPr>
          <p:nvPr>
            <p:ph idx="1"/>
          </p:nvPr>
        </p:nvSpPr>
        <p:spPr>
          <a:xfrm>
            <a:off x="656590" y="1364615"/>
            <a:ext cx="7772400" cy="830580"/>
          </a:xfrm>
        </p:spPr>
        <p:txBody>
          <a:bodyPr anchor="t"/>
          <a:lstStyle/>
          <a:p>
            <a:pPr>
              <a:buNone/>
            </a:pPr>
            <a:r>
              <a:rPr lang="en-US" altLang="zh-CN" dirty="0">
                <a:solidFill>
                  <a:schemeClr val="accent1"/>
                </a:solidFill>
              </a:rPr>
              <a:t>2.5.1  </a:t>
            </a:r>
            <a:r>
              <a:rPr lang="zh-CN" altLang="en-US" dirty="0">
                <a:solidFill>
                  <a:schemeClr val="accent1"/>
                </a:solidFill>
              </a:rPr>
              <a:t>复位操作的主要功能</a:t>
            </a:r>
          </a:p>
          <a:p>
            <a:r>
              <a:rPr lang="zh-CN" altLang="en-US" dirty="0"/>
              <a:t>主要功能是把</a:t>
            </a:r>
            <a:r>
              <a:rPr lang="en-US" altLang="zh-CN" dirty="0"/>
              <a:t>PC</a:t>
            </a:r>
            <a:r>
              <a:rPr lang="zh-CN" altLang="en-US" dirty="0"/>
              <a:t>初始化为</a:t>
            </a:r>
            <a:r>
              <a:rPr lang="en-US" altLang="zh-CN" dirty="0"/>
              <a:t>0000H</a:t>
            </a:r>
            <a:r>
              <a:rPr lang="zh-CN" altLang="en-US" dirty="0"/>
              <a:t>，使单片机从</a:t>
            </a:r>
            <a:r>
              <a:rPr lang="en-US" altLang="zh-CN" dirty="0"/>
              <a:t>0000H</a:t>
            </a:r>
            <a:r>
              <a:rPr lang="zh-CN" altLang="en-US" dirty="0"/>
              <a:t>单元开始执行程序。</a:t>
            </a:r>
          </a:p>
          <a:p>
            <a:r>
              <a:rPr lang="zh-CN" altLang="en-US" dirty="0"/>
              <a:t>复位操作还对其他一些寄存器有影响。</a:t>
            </a:r>
            <a:endParaRPr lang="en-US" altLang="zh-CN" dirty="0"/>
          </a:p>
        </p:txBody>
      </p:sp>
      <p:sp>
        <p:nvSpPr>
          <p:cNvPr id="115717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239000" y="6524625"/>
            <a:ext cx="1905000" cy="333375"/>
          </a:xfrm>
        </p:spPr>
        <p:txBody>
          <a:bodyPr anchor="t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1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400" b="0" dirty="0"/>
              <a:t>43</a:t>
            </a:fld>
            <a:endParaRPr lang="zh-CN" altLang="en-US" sz="1400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23" y="2767206"/>
            <a:ext cx="8209934" cy="311438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381000" y="1143000"/>
            <a:ext cx="8229600" cy="452628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46075">
              <a:lnSpc>
                <a:spcPct val="100000"/>
              </a:lnSpc>
              <a:spcBef>
                <a:spcPts val="1305"/>
              </a:spcBef>
            </a:pPr>
            <a:r>
              <a:rPr spc="25" dirty="0"/>
              <a:t>复位</a:t>
            </a:r>
            <a:r>
              <a:rPr spc="15" dirty="0"/>
              <a:t>是</a:t>
            </a:r>
            <a:r>
              <a:rPr spc="10" dirty="0"/>
              <a:t>单片</a:t>
            </a:r>
            <a:r>
              <a:rPr dirty="0"/>
              <a:t>机</a:t>
            </a:r>
            <a:r>
              <a:rPr spc="10" dirty="0">
                <a:solidFill>
                  <a:srgbClr val="0000FF"/>
                </a:solidFill>
              </a:rPr>
              <a:t>初始</a:t>
            </a:r>
            <a:r>
              <a:rPr spc="5" dirty="0">
                <a:solidFill>
                  <a:srgbClr val="0000FF"/>
                </a:solidFill>
              </a:rPr>
              <a:t>化</a:t>
            </a:r>
            <a:r>
              <a:rPr spc="10" dirty="0">
                <a:solidFill>
                  <a:srgbClr val="0000FF"/>
                </a:solidFill>
              </a:rPr>
              <a:t>操</a:t>
            </a:r>
            <a:r>
              <a:rPr spc="20" dirty="0">
                <a:solidFill>
                  <a:srgbClr val="0000FF"/>
                </a:solidFill>
              </a:rPr>
              <a:t>作</a:t>
            </a:r>
            <a:r>
              <a:rPr spc="10" dirty="0"/>
              <a:t>，</a:t>
            </a:r>
            <a:r>
              <a:rPr spc="5" dirty="0"/>
              <a:t>给</a:t>
            </a:r>
            <a:r>
              <a:rPr spc="10" dirty="0"/>
              <a:t>复位</a:t>
            </a:r>
            <a:r>
              <a:rPr spc="5" dirty="0"/>
              <a:t>脚</a:t>
            </a:r>
            <a:r>
              <a:rPr dirty="0">
                <a:latin typeface="Times New Roman" panose="02020603050405020304"/>
                <a:cs typeface="Times New Roman" panose="02020603050405020304"/>
              </a:rPr>
              <a:t>RST</a:t>
            </a:r>
            <a:r>
              <a:rPr spc="10" dirty="0"/>
              <a:t>加上</a:t>
            </a:r>
            <a:r>
              <a:rPr dirty="0">
                <a:solidFill>
                  <a:srgbClr val="0000FF"/>
                </a:solidFill>
              </a:rPr>
              <a:t>大</a:t>
            </a:r>
            <a:r>
              <a:rPr spc="10" dirty="0">
                <a:solidFill>
                  <a:srgbClr val="0000FF"/>
                </a:solidFill>
              </a:rPr>
              <a:t>于</a:t>
            </a:r>
            <a:r>
              <a:rPr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pc="10" dirty="0">
                <a:solidFill>
                  <a:srgbClr val="0000FF"/>
                </a:solidFill>
              </a:rPr>
              <a:t>个机器</a:t>
            </a:r>
            <a:r>
              <a:rPr spc="5" dirty="0">
                <a:solidFill>
                  <a:srgbClr val="0000FF"/>
                </a:solidFill>
              </a:rPr>
              <a:t>周</a:t>
            </a:r>
            <a:r>
              <a:rPr spc="15" dirty="0">
                <a:solidFill>
                  <a:srgbClr val="0000FF"/>
                </a:solidFill>
              </a:rPr>
              <a:t>期</a:t>
            </a:r>
            <a:r>
              <a:rPr spc="10" dirty="0"/>
              <a:t>（</a:t>
            </a:r>
            <a:r>
              <a:rPr dirty="0"/>
              <a:t>即</a:t>
            </a:r>
            <a:r>
              <a:rPr spc="-5" dirty="0">
                <a:latin typeface="Times New Roman" panose="02020603050405020304"/>
                <a:cs typeface="Times New Roman" panose="02020603050405020304"/>
              </a:rPr>
              <a:t>24</a:t>
            </a:r>
            <a:r>
              <a:rPr spc="5" dirty="0"/>
              <a:t>个</a:t>
            </a:r>
          </a:p>
          <a:p>
            <a:pPr marL="155575">
              <a:lnSpc>
                <a:spcPct val="100000"/>
              </a:lnSpc>
              <a:spcBef>
                <a:spcPts val="1200"/>
              </a:spcBef>
            </a:pPr>
            <a:r>
              <a:rPr spc="20" dirty="0"/>
              <a:t>时钟</a:t>
            </a:r>
            <a:r>
              <a:rPr spc="10" dirty="0"/>
              <a:t>振荡周</a:t>
            </a:r>
            <a:r>
              <a:rPr dirty="0"/>
              <a:t>期</a:t>
            </a:r>
            <a:r>
              <a:rPr spc="10" dirty="0"/>
              <a:t>）</a:t>
            </a:r>
            <a:r>
              <a:rPr spc="25" dirty="0"/>
              <a:t>的</a:t>
            </a:r>
            <a:r>
              <a:rPr dirty="0">
                <a:solidFill>
                  <a:srgbClr val="0000FF"/>
                </a:solidFill>
              </a:rPr>
              <a:t>高</a:t>
            </a:r>
            <a:r>
              <a:rPr spc="10" dirty="0">
                <a:solidFill>
                  <a:srgbClr val="0000FF"/>
                </a:solidFill>
              </a:rPr>
              <a:t>电</a:t>
            </a:r>
            <a:r>
              <a:rPr spc="15" dirty="0">
                <a:solidFill>
                  <a:srgbClr val="0000FF"/>
                </a:solidFill>
              </a:rPr>
              <a:t>平</a:t>
            </a:r>
            <a:r>
              <a:rPr spc="10" dirty="0"/>
              <a:t>就</a:t>
            </a:r>
            <a:r>
              <a:rPr dirty="0"/>
              <a:t>使</a:t>
            </a:r>
            <a:r>
              <a:rPr dirty="0">
                <a:latin typeface="Times New Roman" panose="02020603050405020304"/>
                <a:cs typeface="Times New Roman" panose="02020603050405020304"/>
              </a:rPr>
              <a:t>AT89S51</a:t>
            </a:r>
            <a:r>
              <a:rPr spc="10" dirty="0"/>
              <a:t>复位。</a:t>
            </a:r>
          </a:p>
          <a:p>
            <a:pPr marL="155575">
              <a:lnSpc>
                <a:spcPct val="100000"/>
              </a:lnSpc>
              <a:spcBef>
                <a:spcPts val="168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1.</a:t>
            </a:r>
            <a:r>
              <a:rPr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20" dirty="0">
                <a:solidFill>
                  <a:srgbClr val="FF0000"/>
                </a:solidFill>
              </a:rPr>
              <a:t>复位</a:t>
            </a:r>
            <a:r>
              <a:rPr spc="10" dirty="0">
                <a:solidFill>
                  <a:srgbClr val="FF0000"/>
                </a:solidFill>
              </a:rPr>
              <a:t>操</a:t>
            </a:r>
            <a:r>
              <a:rPr dirty="0">
                <a:solidFill>
                  <a:srgbClr val="FF0000"/>
                </a:solidFill>
              </a:rPr>
              <a:t>作</a:t>
            </a:r>
          </a:p>
          <a:p>
            <a:pPr marL="346075">
              <a:lnSpc>
                <a:spcPct val="100000"/>
              </a:lnSpc>
              <a:spcBef>
                <a:spcPts val="1550"/>
              </a:spcBef>
            </a:pPr>
            <a:r>
              <a:rPr spc="20" dirty="0"/>
              <a:t>复位</a:t>
            </a:r>
            <a:r>
              <a:rPr spc="10" dirty="0"/>
              <a:t>时</a:t>
            </a:r>
            <a:r>
              <a:rPr dirty="0"/>
              <a:t>，</a:t>
            </a:r>
            <a:r>
              <a:rPr sz="3000" baseline="3000" dirty="0"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000" spc="10" dirty="0"/>
              <a:t>为</a:t>
            </a:r>
            <a:r>
              <a:rPr sz="3000" baseline="3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0000H</a:t>
            </a:r>
            <a:r>
              <a:rPr sz="2000" dirty="0"/>
              <a:t>，程</a:t>
            </a:r>
            <a:r>
              <a:rPr sz="2000" spc="10" dirty="0"/>
              <a:t>序从</a:t>
            </a:r>
            <a:r>
              <a:rPr sz="3000" spc="-7" baseline="3000" dirty="0">
                <a:latin typeface="Times New Roman" panose="02020603050405020304"/>
                <a:cs typeface="Times New Roman" panose="02020603050405020304"/>
              </a:rPr>
              <a:t>0000H</a:t>
            </a:r>
            <a:r>
              <a:rPr sz="2000" spc="10" dirty="0"/>
              <a:t>单元</a:t>
            </a:r>
            <a:r>
              <a:rPr sz="2000" dirty="0"/>
              <a:t>开</a:t>
            </a:r>
            <a:r>
              <a:rPr sz="2000" spc="10" dirty="0"/>
              <a:t>始执行</a:t>
            </a:r>
            <a:r>
              <a:rPr sz="2000" dirty="0"/>
              <a:t>。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155575" marR="5080" indent="190500">
              <a:lnSpc>
                <a:spcPct val="150000"/>
              </a:lnSpc>
              <a:spcBef>
                <a:spcPts val="480"/>
              </a:spcBef>
            </a:pPr>
            <a:r>
              <a:rPr spc="20" dirty="0"/>
              <a:t>除系</a:t>
            </a:r>
            <a:r>
              <a:rPr spc="10" dirty="0"/>
              <a:t>统正常</a:t>
            </a:r>
            <a:r>
              <a:rPr dirty="0"/>
              <a:t>初</a:t>
            </a:r>
            <a:r>
              <a:rPr spc="10" dirty="0"/>
              <a:t>始化</a:t>
            </a:r>
            <a:r>
              <a:rPr dirty="0"/>
              <a:t>外</a:t>
            </a:r>
            <a:r>
              <a:rPr spc="10" dirty="0"/>
              <a:t>，</a:t>
            </a:r>
            <a:r>
              <a:rPr spc="30" dirty="0"/>
              <a:t>当</a:t>
            </a:r>
            <a:r>
              <a:rPr spc="10" dirty="0">
                <a:solidFill>
                  <a:srgbClr val="0000FF"/>
                </a:solidFill>
              </a:rPr>
              <a:t>程</a:t>
            </a:r>
            <a:r>
              <a:rPr dirty="0">
                <a:solidFill>
                  <a:srgbClr val="0000FF"/>
                </a:solidFill>
              </a:rPr>
              <a:t>序</a:t>
            </a:r>
            <a:r>
              <a:rPr spc="10" dirty="0">
                <a:solidFill>
                  <a:srgbClr val="0000FF"/>
                </a:solidFill>
              </a:rPr>
              <a:t>出</a:t>
            </a:r>
            <a:r>
              <a:rPr spc="15" dirty="0">
                <a:solidFill>
                  <a:srgbClr val="0000FF"/>
                </a:solidFill>
              </a:rPr>
              <a:t>错</a:t>
            </a:r>
            <a:r>
              <a:rPr dirty="0"/>
              <a:t>（</a:t>
            </a:r>
            <a:r>
              <a:rPr spc="10" dirty="0"/>
              <a:t>如程</a:t>
            </a:r>
            <a:r>
              <a:rPr dirty="0"/>
              <a:t>序</a:t>
            </a:r>
            <a:r>
              <a:rPr spc="10" dirty="0"/>
              <a:t>跑飞）或</a:t>
            </a:r>
            <a:r>
              <a:rPr spc="10" dirty="0">
                <a:solidFill>
                  <a:srgbClr val="0000FF"/>
                </a:solidFill>
              </a:rPr>
              <a:t>操作</a:t>
            </a:r>
            <a:r>
              <a:rPr dirty="0">
                <a:solidFill>
                  <a:srgbClr val="0000FF"/>
                </a:solidFill>
              </a:rPr>
              <a:t>错</a:t>
            </a:r>
            <a:r>
              <a:rPr spc="15" dirty="0">
                <a:solidFill>
                  <a:srgbClr val="0000FF"/>
                </a:solidFill>
              </a:rPr>
              <a:t>误</a:t>
            </a:r>
            <a:r>
              <a:rPr spc="10" dirty="0"/>
              <a:t>使系</a:t>
            </a:r>
            <a:r>
              <a:rPr dirty="0"/>
              <a:t>统</a:t>
            </a:r>
            <a:r>
              <a:rPr spc="10" dirty="0"/>
              <a:t>处</a:t>
            </a:r>
            <a:r>
              <a:rPr dirty="0"/>
              <a:t>于 </a:t>
            </a:r>
            <a:r>
              <a:rPr spc="25" dirty="0">
                <a:solidFill>
                  <a:srgbClr val="0000FF"/>
                </a:solidFill>
              </a:rPr>
              <a:t>死锁</a:t>
            </a:r>
            <a:r>
              <a:rPr spc="15" dirty="0"/>
              <a:t>状态时</a:t>
            </a:r>
            <a:r>
              <a:rPr spc="-5" dirty="0"/>
              <a:t>，</a:t>
            </a:r>
            <a:r>
              <a:rPr spc="10" dirty="0">
                <a:solidFill>
                  <a:srgbClr val="0000FF"/>
                </a:solidFill>
              </a:rPr>
              <a:t>可按</a:t>
            </a:r>
            <a:r>
              <a:rPr spc="5" dirty="0">
                <a:solidFill>
                  <a:srgbClr val="0000FF"/>
                </a:solidFill>
              </a:rPr>
              <a:t>复</a:t>
            </a:r>
            <a:r>
              <a:rPr spc="10" dirty="0">
                <a:solidFill>
                  <a:srgbClr val="0000FF"/>
                </a:solidFill>
              </a:rPr>
              <a:t>位</a:t>
            </a:r>
            <a:r>
              <a:rPr spc="15" dirty="0">
                <a:solidFill>
                  <a:srgbClr val="0000FF"/>
                </a:solidFill>
              </a:rPr>
              <a:t>键</a:t>
            </a:r>
            <a:r>
              <a:rPr spc="10" dirty="0"/>
              <a:t>使</a:t>
            </a:r>
            <a:r>
              <a:rPr sz="3000" spc="-7" baseline="3000" dirty="0">
                <a:latin typeface="Times New Roman" panose="02020603050405020304"/>
                <a:cs typeface="Times New Roman" panose="02020603050405020304"/>
              </a:rPr>
              <a:t>RST</a:t>
            </a:r>
            <a:r>
              <a:rPr sz="2000" spc="10" dirty="0"/>
              <a:t>脚为高</a:t>
            </a:r>
            <a:r>
              <a:rPr sz="2000" spc="5" dirty="0"/>
              <a:t>电</a:t>
            </a:r>
            <a:r>
              <a:rPr sz="2000" spc="10" dirty="0"/>
              <a:t>平，使</a:t>
            </a:r>
            <a:r>
              <a:rPr sz="3000" baseline="3000" dirty="0">
                <a:latin typeface="Times New Roman" panose="02020603050405020304"/>
                <a:cs typeface="Times New Roman" panose="02020603050405020304"/>
              </a:rPr>
              <a:t>AT89S51</a:t>
            </a:r>
            <a:r>
              <a:rPr sz="2000" spc="10" dirty="0"/>
              <a:t>摆</a:t>
            </a:r>
            <a:r>
              <a:rPr sz="2000" spc="5" dirty="0"/>
              <a:t>脱</a:t>
            </a:r>
            <a:r>
              <a:rPr sz="2000" spc="10" dirty="0">
                <a:solidFill>
                  <a:srgbClr val="FF0000"/>
                </a:solidFill>
              </a:rPr>
              <a:t>“跑</a:t>
            </a:r>
            <a:r>
              <a:rPr sz="2000" spc="5" dirty="0">
                <a:solidFill>
                  <a:srgbClr val="FF0000"/>
                </a:solidFill>
              </a:rPr>
              <a:t>飞</a:t>
            </a:r>
            <a:r>
              <a:rPr sz="2000" spc="15" dirty="0">
                <a:solidFill>
                  <a:srgbClr val="FF0000"/>
                </a:solidFill>
              </a:rPr>
              <a:t>”</a:t>
            </a:r>
            <a:r>
              <a:rPr sz="2000" spc="5" dirty="0"/>
              <a:t>或 </a:t>
            </a:r>
            <a:r>
              <a:rPr sz="2000" spc="10" dirty="0">
                <a:solidFill>
                  <a:srgbClr val="FF0000"/>
                </a:solidFill>
              </a:rPr>
              <a:t>“死锁”</a:t>
            </a:r>
            <a:r>
              <a:rPr sz="2000" dirty="0"/>
              <a:t>状态</a:t>
            </a:r>
            <a:r>
              <a:rPr sz="2000" spc="10" dirty="0"/>
              <a:t>，而重新</a:t>
            </a:r>
            <a:r>
              <a:rPr sz="2000" dirty="0"/>
              <a:t>启动</a:t>
            </a:r>
            <a:r>
              <a:rPr sz="2000" spc="10" dirty="0"/>
              <a:t>程序</a:t>
            </a:r>
            <a:r>
              <a:rPr sz="2000" dirty="0"/>
              <a:t>。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94917" y="126314"/>
            <a:ext cx="278257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sym typeface="EuroRoman" panose="00000400000000000000" pitchFamily="2" charset="2"/>
              </a:rPr>
              <a:t>§</a:t>
            </a:r>
            <a:r>
              <a:rPr lang="en-US" altLang="zh-CN" dirty="0">
                <a:sym typeface="EuroRoman" panose="00000400000000000000" pitchFamily="2" charset="2"/>
              </a:rPr>
              <a:t>2.5	</a:t>
            </a:r>
            <a:r>
              <a:rPr lang="zh-CN" altLang="en-US" dirty="0">
                <a:sym typeface="EuroRoman" panose="00000400000000000000" pitchFamily="2" charset="2"/>
              </a:rPr>
              <a:t>复位操作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1804670" y="538480"/>
            <a:ext cx="25495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A40020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000" b="1" spc="-75" dirty="0">
                <a:solidFill>
                  <a:srgbClr val="A400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spc="-75" dirty="0">
                <a:solidFill>
                  <a:srgbClr val="A40020"/>
                </a:solidFill>
                <a:latin typeface="Times New Roman" panose="02020603050405020304"/>
                <a:cs typeface="Times New Roman" panose="02020603050405020304"/>
              </a:rPr>
              <a:t>2.5.2</a:t>
            </a:r>
            <a:r>
              <a:rPr sz="2000" b="1" spc="2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复位</a:t>
            </a:r>
            <a:r>
              <a:rPr lang="zh-CN" sz="2000" b="1" spc="2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电路</a:t>
            </a:r>
          </a:p>
        </p:txBody>
      </p:sp>
      <p:sp>
        <p:nvSpPr>
          <p:cNvPr id="6" name="矩形 5"/>
          <p:cNvSpPr/>
          <p:nvPr/>
        </p:nvSpPr>
        <p:spPr>
          <a:xfrm>
            <a:off x="533399" y="4495800"/>
            <a:ext cx="81845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PingFang SC"/>
              </a:rPr>
              <a:t>程序跑飞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是指系统受到某种干扰后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,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程序计数器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PC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的值偏离了给定的唯一变化历程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,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导致程序运行偏离正常的运行路径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.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程序跑飞因素及后果往往是不可预计的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.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在很多情况下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,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程序跑飞后系统会进入死循环而导致死机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.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34878" y="5562600"/>
            <a:ext cx="81830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死锁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是指两个或两个以上的进程在执行过程中，由于竞争资源或者由于彼此通信而造成的一种阻塞的现象，若无外力作用，它们都将无法推进下去。此时称系统处于死锁状态或系统产生了死锁，这些永远在互相等待的进程称为死锁进程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4183" y="3662662"/>
            <a:ext cx="3454645" cy="21328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64741" y="6014415"/>
            <a:ext cx="192341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8955" algn="l"/>
              </a:tabLst>
            </a:pPr>
            <a:r>
              <a:rPr sz="18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图	</a:t>
            </a:r>
            <a:r>
              <a:rPr sz="1800" b="1" spc="5" dirty="0">
                <a:latin typeface="Microsoft JhengHei" panose="020B0604030504040204" charset="-120"/>
                <a:cs typeface="Microsoft JhengHei" panose="020B0604030504040204" charset="-120"/>
              </a:rPr>
              <a:t>上电复位电路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86250" y="5697375"/>
            <a:ext cx="4585970" cy="81915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40030" indent="-227965">
              <a:lnSpc>
                <a:spcPct val="100000"/>
              </a:lnSpc>
              <a:spcBef>
                <a:spcPts val="825"/>
              </a:spcBef>
              <a:buSzPct val="95000"/>
              <a:buFont typeface="Wingdings" panose="05000000000000000000"/>
              <a:buChar char=""/>
              <a:tabLst>
                <a:tab pos="240665" algn="l"/>
              </a:tabLst>
            </a:pPr>
            <a:r>
              <a:rPr sz="2000" b="1" spc="25" dirty="0">
                <a:latin typeface="Microsoft JhengHei" panose="020B0604030504040204" charset="-120"/>
                <a:cs typeface="Microsoft JhengHei" panose="020B0604030504040204" charset="-120"/>
              </a:rPr>
              <a:t>为保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证系统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可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靠复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位，</a:t>
            </a:r>
            <a:r>
              <a:rPr sz="2000" b="1" spc="5" dirty="0">
                <a:latin typeface="Times New Roman" panose="02020603050405020304"/>
                <a:cs typeface="Times New Roman" panose="02020603050405020304"/>
              </a:rPr>
              <a:t>RST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引脚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高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电平必须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维持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足够长的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时间。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94917" y="126314"/>
            <a:ext cx="2782570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sym typeface="EuroRoman" panose="00000400000000000000" pitchFamily="2" charset="2"/>
              </a:rPr>
              <a:t>§</a:t>
            </a:r>
            <a:r>
              <a:rPr lang="en-US" altLang="zh-CN" dirty="0">
                <a:sym typeface="EuroRoman" panose="00000400000000000000" pitchFamily="2" charset="2"/>
              </a:rPr>
              <a:t>2.5	</a:t>
            </a:r>
            <a:r>
              <a:rPr lang="zh-CN" altLang="en-US" dirty="0">
                <a:sym typeface="EuroRoman" panose="00000400000000000000" pitchFamily="2" charset="2"/>
              </a:rPr>
              <a:t>复位操作</a:t>
            </a:r>
            <a:r>
              <a:rPr lang="zh-CN" altLang="en-US" b="1">
                <a:sym typeface="EuroRoman" panose="00000400000000000000" pitchFamily="2" charset="2"/>
              </a:rPr>
              <a:t/>
            </a:r>
            <a:br>
              <a:rPr lang="zh-CN" altLang="en-US" b="1">
                <a:sym typeface="EuroRoman" panose="00000400000000000000" pitchFamily="2" charset="2"/>
              </a:rPr>
            </a:br>
            <a:endParaRPr spc="5" dirty="0"/>
          </a:p>
        </p:txBody>
      </p:sp>
      <p:sp>
        <p:nvSpPr>
          <p:cNvPr id="6" name="object 6"/>
          <p:cNvSpPr txBox="1"/>
          <p:nvPr/>
        </p:nvSpPr>
        <p:spPr>
          <a:xfrm>
            <a:off x="256540" y="538352"/>
            <a:ext cx="8583295" cy="5033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019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A40020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000" b="1" spc="-10" dirty="0">
                <a:solidFill>
                  <a:srgbClr val="A400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25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r>
              <a:rPr sz="2000" b="1" spc="2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2000" b="1" spc="1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电路</a:t>
            </a:r>
            <a:r>
              <a:rPr sz="2000" b="1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设计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79400" indent="-254635">
              <a:lnSpc>
                <a:spcPct val="100000"/>
              </a:lnSpc>
              <a:spcBef>
                <a:spcPts val="1525"/>
              </a:spcBef>
              <a:buFont typeface="Times New Roman" panose="02020603050405020304"/>
              <a:buAutoNum type="arabicPeriod" startAt="2"/>
              <a:tabLst>
                <a:tab pos="280035" algn="l"/>
              </a:tabLst>
            </a:pPr>
            <a:r>
              <a:rPr sz="2000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复位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路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设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计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79400">
              <a:lnSpc>
                <a:spcPct val="100000"/>
              </a:lnSpc>
              <a:spcBef>
                <a:spcPts val="585"/>
              </a:spcBef>
            </a:pPr>
            <a:r>
              <a:rPr sz="2000" b="1" spc="25" dirty="0">
                <a:latin typeface="Microsoft JhengHei" panose="020B0604030504040204" charset="-120"/>
                <a:cs typeface="Microsoft JhengHei" panose="020B0604030504040204" charset="-120"/>
              </a:rPr>
              <a:t>复位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路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采</a:t>
            </a: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用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自动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按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钮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2000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两</a:t>
            </a:r>
            <a:r>
              <a:rPr sz="2000" b="1" spc="1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种方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式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857250" lvl="1" indent="-641985">
              <a:lnSpc>
                <a:spcPct val="100000"/>
              </a:lnSpc>
              <a:spcBef>
                <a:spcPts val="725"/>
              </a:spcBef>
              <a:buSzPct val="95000"/>
              <a:buAutoNum type="arabicPlain"/>
              <a:tabLst>
                <a:tab pos="857885" algn="l"/>
              </a:tabLst>
            </a:pP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上电自动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复位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79400">
              <a:lnSpc>
                <a:spcPct val="100000"/>
              </a:lnSpc>
              <a:spcBef>
                <a:spcPts val="720"/>
              </a:spcBef>
            </a:pP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最简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单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上电自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复位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2000" b="1" spc="30" dirty="0">
                <a:latin typeface="Microsoft JhengHei" panose="020B0604030504040204" charset="-120"/>
                <a:cs typeface="Microsoft JhengHei" panose="020B0604030504040204" charset="-120"/>
              </a:rPr>
              <a:t>路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见下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图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 marL="4042410" marR="43180" lvl="2">
              <a:lnSpc>
                <a:spcPct val="130000"/>
              </a:lnSpc>
              <a:buSzPct val="95000"/>
              <a:buFont typeface="Wingdings" panose="05000000000000000000"/>
              <a:buChar char=""/>
              <a:tabLst>
                <a:tab pos="4270375" algn="l"/>
              </a:tabLst>
            </a:pPr>
            <a:r>
              <a:rPr sz="2000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上电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自动复位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是给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容</a:t>
            </a:r>
            <a:r>
              <a:rPr sz="2000" b="1" spc="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充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加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给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RST 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引脚一个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短的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高电平信</a:t>
            </a:r>
            <a:r>
              <a:rPr sz="2000" b="1" spc="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号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此信号随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着 </a:t>
            </a:r>
            <a:r>
              <a:rPr sz="2000" b="1" spc="1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950" b="1" spc="15" baseline="-21000" dirty="0">
                <a:latin typeface="Times New Roman" panose="02020603050405020304"/>
                <a:cs typeface="Times New Roman" panose="02020603050405020304"/>
              </a:rPr>
              <a:t>CC</a:t>
            </a:r>
            <a:r>
              <a:rPr sz="2000" b="1" spc="25" dirty="0">
                <a:latin typeface="Microsoft JhengHei" panose="020B0604030504040204" charset="-120"/>
                <a:cs typeface="Microsoft JhengHei" panose="020B0604030504040204" charset="-120"/>
              </a:rPr>
              <a:t>对电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容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的充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过程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而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逐渐回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落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即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RST</a:t>
            </a:r>
            <a:r>
              <a:rPr sz="2000" b="1" spc="20" dirty="0">
                <a:latin typeface="Microsoft JhengHei" panose="020B0604030504040204" charset="-120"/>
                <a:cs typeface="Microsoft JhengHei" panose="020B0604030504040204" charset="-120"/>
              </a:rPr>
              <a:t>引脚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2000" b="1" spc="15" dirty="0"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高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平持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续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2000" b="1" spc="2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间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取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决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于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 </a:t>
            </a:r>
            <a:r>
              <a:rPr sz="2000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容</a:t>
            </a:r>
            <a:r>
              <a:rPr sz="2000" b="1" spc="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00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充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电时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间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917" y="126314"/>
            <a:ext cx="27825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复位操作与复位电路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538352"/>
            <a:ext cx="5205730" cy="2416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699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000" b="1" spc="-10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2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按钮</a:t>
            </a:r>
            <a:r>
              <a:rPr sz="2000" b="1" spc="10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手动</a:t>
            </a:r>
            <a:r>
              <a:rPr sz="2000" b="1" dirty="0">
                <a:solidFill>
                  <a:srgbClr val="8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复位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3000" b="1" spc="22" baseline="3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按钮手动</a:t>
            </a:r>
            <a:r>
              <a:rPr sz="2000" b="1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复位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76200">
              <a:lnSpc>
                <a:spcPct val="100000"/>
              </a:lnSpc>
              <a:spcBef>
                <a:spcPts val="1200"/>
              </a:spcBef>
            </a:pPr>
            <a:r>
              <a:rPr sz="2000" b="1" spc="25" dirty="0">
                <a:latin typeface="Microsoft JhengHei" panose="020B0604030504040204" charset="-120"/>
                <a:cs typeface="Microsoft JhengHei" panose="020B0604030504040204" charset="-120"/>
              </a:rPr>
              <a:t>除了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复位外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有时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还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需</a:t>
            </a:r>
            <a:r>
              <a:rPr sz="2000" b="1" spc="30" dirty="0">
                <a:latin typeface="Microsoft JhengHei" panose="020B0604030504040204" charset="-120"/>
                <a:cs typeface="Microsoft JhengHei" panose="020B0604030504040204" charset="-120"/>
              </a:rPr>
              <a:t>要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按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钮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手动</a:t>
            </a:r>
            <a:r>
              <a:rPr sz="2000" b="1" spc="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r>
              <a:rPr sz="2000" b="1" spc="1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2000" b="1" spc="5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76200">
              <a:lnSpc>
                <a:spcPct val="100000"/>
              </a:lnSpc>
              <a:spcBef>
                <a:spcPts val="1205"/>
              </a:spcBef>
            </a:pPr>
            <a:r>
              <a:rPr sz="2000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兼</a:t>
            </a:r>
            <a:r>
              <a:rPr sz="2000" b="1" spc="2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有</a:t>
            </a:r>
            <a:r>
              <a:rPr sz="2000" b="1" spc="10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按</a:t>
            </a:r>
            <a:r>
              <a:rPr sz="2000" b="1" spc="-5" dirty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钮</a:t>
            </a:r>
            <a:r>
              <a:rPr sz="20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手动复</a:t>
            </a:r>
            <a:r>
              <a:rPr sz="2000" b="1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和手</a:t>
            </a:r>
            <a:r>
              <a:rPr sz="20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复位</a:t>
            </a:r>
            <a:r>
              <a:rPr sz="2000" b="1" spc="2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路见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下</a:t>
            </a:r>
            <a:r>
              <a:rPr sz="2000" b="1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图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16251" y="3401015"/>
            <a:ext cx="4955722" cy="2633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49090" y="6228527"/>
            <a:ext cx="254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800" b="1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图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1426" y="6228527"/>
            <a:ext cx="9461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800" b="1" spc="10" dirty="0">
                <a:solidFill>
                  <a:srgbClr val="3333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复位电路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46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8600" y="282575"/>
            <a:ext cx="2924810" cy="553998"/>
          </a:xfrm>
        </p:spPr>
        <p:txBody>
          <a:bodyPr/>
          <a:lstStyle/>
          <a:p>
            <a:r>
              <a:rPr lang="zh-CN" altLang="en-US" sz="3600" dirty="0"/>
              <a:t>作业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600200" y="1524000"/>
            <a:ext cx="2971800" cy="1846659"/>
          </a:xfrm>
        </p:spPr>
        <p:txBody>
          <a:bodyPr/>
          <a:lstStyle/>
          <a:p>
            <a:r>
              <a:rPr lang="en-US" altLang="zh-CN" sz="4000" dirty="0"/>
              <a:t>1-7</a:t>
            </a:r>
          </a:p>
          <a:p>
            <a:r>
              <a:rPr lang="en-US" altLang="zh-CN" sz="4000" dirty="0"/>
              <a:t>10</a:t>
            </a:r>
          </a:p>
          <a:p>
            <a:r>
              <a:rPr lang="en-US" altLang="zh-CN" sz="4000" dirty="0"/>
              <a:t>14-19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lang="en-US" altLang="zh-CN" spc="-5" smtClean="0"/>
              <a:t>47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193852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3853</TotalTime>
  <Words>2349</Words>
  <Application>Microsoft Office PowerPoint</Application>
  <PresentationFormat>全屏显示(4:3)</PresentationFormat>
  <Paragraphs>330</Paragraphs>
  <Slides>47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2" baseType="lpstr">
      <vt:lpstr>EuroRoman</vt:lpstr>
      <vt:lpstr>Microsoft JhengHei</vt:lpstr>
      <vt:lpstr>PingFang SC</vt:lpstr>
      <vt:lpstr>华文楷体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Marlett</vt:lpstr>
      <vt:lpstr>Times New Roman</vt:lpstr>
      <vt:lpstr>Wingdings</vt:lpstr>
      <vt:lpstr>Office Theme</vt:lpstr>
      <vt:lpstr>PowerPoint 演示文稿</vt:lpstr>
      <vt:lpstr>目  录</vt:lpstr>
      <vt:lpstr>第二章 MCS-51单片机的结构和原理</vt:lpstr>
      <vt:lpstr>2.1 89C51单片机的内部结构及特点</vt:lpstr>
      <vt:lpstr>PowerPoint 演示文稿</vt:lpstr>
      <vt:lpstr>2.1 89C51单片机的内部结构及特点</vt:lpstr>
      <vt:lpstr>2.2 89C51单片机的引脚及功能</vt:lpstr>
      <vt:lpstr>§2.2.2   89C51单片机引脚功能</vt:lpstr>
      <vt:lpstr>4. I/O端口P0 P1 P2 P3</vt:lpstr>
      <vt:lpstr>PowerPoint 演示文稿</vt:lpstr>
      <vt:lpstr>- 工作原理</vt:lpstr>
      <vt:lpstr>- 工作原理</vt:lpstr>
      <vt:lpstr>- 工作原理</vt:lpstr>
      <vt:lpstr>- 工作原理</vt:lpstr>
      <vt:lpstr>PowerPoint 演示文稿</vt:lpstr>
      <vt:lpstr> P1口</vt:lpstr>
      <vt:lpstr> P1口</vt:lpstr>
      <vt:lpstr> P2口</vt:lpstr>
      <vt:lpstr>P3口</vt:lpstr>
      <vt:lpstr>P3口</vt:lpstr>
      <vt:lpstr>端口小结</vt:lpstr>
      <vt:lpstr>2.3 89C51存储器配置</vt:lpstr>
      <vt:lpstr>二、用户角度</vt:lpstr>
      <vt:lpstr>2.3.1程序存储器地址空间</vt:lpstr>
      <vt:lpstr>2.3.1  程序存储器地址空间</vt:lpstr>
      <vt:lpstr>2.3.1数据存储器地址空间</vt:lpstr>
      <vt:lpstr>2.3.1数据存储器地址空间</vt:lpstr>
      <vt:lpstr>PowerPoint 演示文稿</vt:lpstr>
      <vt:lpstr>PowerPoint 演示文稿</vt:lpstr>
      <vt:lpstr>PowerPoint 演示文稿</vt:lpstr>
      <vt:lpstr>特殊功能寄存器</vt:lpstr>
      <vt:lpstr>特殊功能寄存器（SFR）     -psw寄存器</vt:lpstr>
      <vt:lpstr>特殊功能寄存器（SFR）</vt:lpstr>
      <vt:lpstr>特殊功能寄存器（SFR）</vt:lpstr>
      <vt:lpstr>特殊功能寄存器</vt:lpstr>
      <vt:lpstr>存储器结构总结</vt:lpstr>
      <vt:lpstr>§2.4 CPU时序</vt:lpstr>
      <vt:lpstr>§2.4 CPU时序</vt:lpstr>
      <vt:lpstr>§2.4 CPU时序</vt:lpstr>
      <vt:lpstr>§2.4 CPU时序</vt:lpstr>
      <vt:lpstr>§2.4 CPU时序</vt:lpstr>
      <vt:lpstr>§2.4 CPU时序</vt:lpstr>
      <vt:lpstr>§2.5 复位操作</vt:lpstr>
      <vt:lpstr>§2.5 复位操作</vt:lpstr>
      <vt:lpstr>§2.5 复位操作 </vt:lpstr>
      <vt:lpstr>复位操作与复位电路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www.pptbz.com</dc:creator>
  <cp:lastModifiedBy>陈佩</cp:lastModifiedBy>
  <cp:revision>51</cp:revision>
  <dcterms:created xsi:type="dcterms:W3CDTF">2020-02-03T07:44:00Z</dcterms:created>
  <dcterms:modified xsi:type="dcterms:W3CDTF">2022-01-20T08:50:43Z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2020-02-03T00:00:00Z</vt:filetime>
  </property>
  <property fmtid="{D5CDD505-2E9C-101B-9397-08002B2CF9AE}" pid="5" name="KSOProductBuildVer">
    <vt:lpwstr>2052-11.1.0.9339</vt:lpwstr>
  </property>
</Properties>
</file>