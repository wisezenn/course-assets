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2"/>
  </p:notesMasterIdLst>
  <p:handoutMasterIdLst>
    <p:handoutMasterId r:id="rId23"/>
  </p:handoutMasterIdLst>
  <p:sldIdLst>
    <p:sldId id="256" r:id="rId3"/>
    <p:sldId id="270" r:id="rId4"/>
    <p:sldId id="271" r:id="rId5"/>
    <p:sldId id="280" r:id="rId6"/>
    <p:sldId id="281" r:id="rId7"/>
    <p:sldId id="288" r:id="rId8"/>
    <p:sldId id="275" r:id="rId9"/>
    <p:sldId id="308" r:id="rId10"/>
    <p:sldId id="311" r:id="rId11"/>
    <p:sldId id="313" r:id="rId12"/>
    <p:sldId id="317" r:id="rId13"/>
    <p:sldId id="319" r:id="rId14"/>
    <p:sldId id="321" r:id="rId15"/>
    <p:sldId id="465" r:id="rId16"/>
    <p:sldId id="466" r:id="rId17"/>
    <p:sldId id="268" r:id="rId18"/>
    <p:sldId id="359" r:id="rId19"/>
    <p:sldId id="362" r:id="rId20"/>
    <p:sldId id="363" r:id="rId2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2">
          <p15:clr>
            <a:srgbClr val="A4A3A4"/>
          </p15:clr>
        </p15:guide>
        <p15:guide id="2" pos="21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FFFF66"/>
    <a:srgbClr val="00FF00"/>
    <a:srgbClr val="CC00FF"/>
    <a:srgbClr val="CC3399"/>
    <a:srgbClr val="340EBE"/>
    <a:srgbClr val="957BF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842"/>
        <p:guide pos="2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63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strike="noStrike" noProof="1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zh-CN" altLang="en-US" sz="1200" strike="noStrike" noProof="1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strike="noStrike" noProof="1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18436" name="幻灯片图像占位符 20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437" name="文本占位符 2052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zh-CN" altLang="en-US" sz="1200" strike="noStrike" noProof="1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7414"/>
          <p:cNvGrpSpPr/>
          <p:nvPr userDrawn="1"/>
        </p:nvGrpSpPr>
        <p:grpSpPr>
          <a:xfrm>
            <a:off x="0" y="0"/>
            <a:ext cx="914400" cy="6878638"/>
            <a:chOff x="0" y="-6"/>
            <a:chExt cx="981" cy="4333"/>
          </a:xfrm>
        </p:grpSpPr>
        <p:sp>
          <p:nvSpPr>
            <p:cNvPr id="3075" name="矩形 17415"/>
            <p:cNvSpPr/>
            <p:nvPr/>
          </p:nvSpPr>
          <p:spPr>
            <a:xfrm>
              <a:off x="453" y="2151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6" name="矩形 17416"/>
            <p:cNvSpPr/>
            <p:nvPr/>
          </p:nvSpPr>
          <p:spPr>
            <a:xfrm>
              <a:off x="0" y="2151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7" name="矩形 17417"/>
            <p:cNvSpPr/>
            <p:nvPr/>
          </p:nvSpPr>
          <p:spPr>
            <a:xfrm>
              <a:off x="222" y="2151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8" name="矩形 17418"/>
            <p:cNvSpPr/>
            <p:nvPr/>
          </p:nvSpPr>
          <p:spPr>
            <a:xfrm>
              <a:off x="567" y="2160"/>
              <a:ext cx="204" cy="2161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79" name="任意多边形 17419"/>
            <p:cNvSpPr/>
            <p:nvPr/>
          </p:nvSpPr>
          <p:spPr>
            <a:xfrm>
              <a:off x="222" y="2636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" name="任意多边形 17420"/>
            <p:cNvSpPr/>
            <p:nvPr/>
          </p:nvSpPr>
          <p:spPr>
            <a:xfrm>
              <a:off x="222" y="2908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1" name="任意多边形 17421"/>
            <p:cNvSpPr/>
            <p:nvPr/>
          </p:nvSpPr>
          <p:spPr>
            <a:xfrm>
              <a:off x="222" y="3165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任意多边形 17422"/>
            <p:cNvSpPr/>
            <p:nvPr/>
          </p:nvSpPr>
          <p:spPr>
            <a:xfrm>
              <a:off x="222" y="3420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任意多边形 17423"/>
            <p:cNvSpPr/>
            <p:nvPr/>
          </p:nvSpPr>
          <p:spPr>
            <a:xfrm>
              <a:off x="222" y="367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任意多边形 17424"/>
            <p:cNvSpPr/>
            <p:nvPr/>
          </p:nvSpPr>
          <p:spPr>
            <a:xfrm>
              <a:off x="301" y="3932"/>
              <a:ext cx="265" cy="392"/>
            </a:xfrm>
            <a:custGeom>
              <a:avLst/>
              <a:gdLst/>
              <a:ahLst/>
              <a:cxnLst/>
              <a:rect l="0" t="0" r="0" b="0"/>
              <a:pathLst>
                <a:path w="265" h="392">
                  <a:moveTo>
                    <a:pt x="264" y="52"/>
                  </a:moveTo>
                  <a:lnTo>
                    <a:pt x="264" y="194"/>
                  </a:lnTo>
                  <a:lnTo>
                    <a:pt x="256" y="188"/>
                  </a:lnTo>
                  <a:lnTo>
                    <a:pt x="236" y="188"/>
                  </a:lnTo>
                  <a:lnTo>
                    <a:pt x="221" y="194"/>
                  </a:lnTo>
                  <a:lnTo>
                    <a:pt x="205" y="209"/>
                  </a:lnTo>
                  <a:lnTo>
                    <a:pt x="162" y="261"/>
                  </a:lnTo>
                  <a:lnTo>
                    <a:pt x="66" y="366"/>
                  </a:lnTo>
                  <a:lnTo>
                    <a:pt x="45" y="391"/>
                  </a:lnTo>
                  <a:lnTo>
                    <a:pt x="0" y="391"/>
                  </a:lnTo>
                  <a:lnTo>
                    <a:pt x="178" y="190"/>
                  </a:lnTo>
                  <a:lnTo>
                    <a:pt x="218" y="138"/>
                  </a:lnTo>
                  <a:lnTo>
                    <a:pt x="233" y="111"/>
                  </a:lnTo>
                  <a:lnTo>
                    <a:pt x="246" y="84"/>
                  </a:lnTo>
                  <a:lnTo>
                    <a:pt x="256" y="39"/>
                  </a:lnTo>
                  <a:lnTo>
                    <a:pt x="264" y="0"/>
                  </a:lnTo>
                  <a:lnTo>
                    <a:pt x="264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任意多边形 17425"/>
            <p:cNvSpPr/>
            <p:nvPr/>
          </p:nvSpPr>
          <p:spPr>
            <a:xfrm>
              <a:off x="222" y="2366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任意多边形 17426"/>
            <p:cNvSpPr/>
            <p:nvPr/>
          </p:nvSpPr>
          <p:spPr>
            <a:xfrm>
              <a:off x="222" y="2151"/>
              <a:ext cx="346" cy="575"/>
            </a:xfrm>
            <a:custGeom>
              <a:avLst/>
              <a:gdLst/>
              <a:ahLst/>
              <a:cxnLst/>
              <a:rect l="0" t="0" r="0" b="0"/>
              <a:pathLst>
                <a:path w="346" h="575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3"/>
                  </a:lnTo>
                  <a:lnTo>
                    <a:pt x="30" y="433"/>
                  </a:lnTo>
                  <a:lnTo>
                    <a:pt x="17" y="463"/>
                  </a:lnTo>
                  <a:lnTo>
                    <a:pt x="10" y="510"/>
                  </a:lnTo>
                  <a:lnTo>
                    <a:pt x="0" y="574"/>
                  </a:lnTo>
                  <a:lnTo>
                    <a:pt x="0" y="293"/>
                  </a:lnTo>
                  <a:lnTo>
                    <a:pt x="5" y="320"/>
                  </a:lnTo>
                  <a:lnTo>
                    <a:pt x="10" y="332"/>
                  </a:lnTo>
                  <a:lnTo>
                    <a:pt x="20" y="338"/>
                  </a:lnTo>
                  <a:lnTo>
                    <a:pt x="30" y="341"/>
                  </a:lnTo>
                  <a:lnTo>
                    <a:pt x="45" y="341"/>
                  </a:lnTo>
                  <a:lnTo>
                    <a:pt x="60" y="335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7" name="矩形 17427"/>
            <p:cNvSpPr/>
            <p:nvPr/>
          </p:nvSpPr>
          <p:spPr>
            <a:xfrm>
              <a:off x="453" y="-3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88" name="矩形 17428"/>
            <p:cNvSpPr/>
            <p:nvPr/>
          </p:nvSpPr>
          <p:spPr>
            <a:xfrm>
              <a:off x="0" y="-3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89" name="矩形 17429"/>
            <p:cNvSpPr/>
            <p:nvPr/>
          </p:nvSpPr>
          <p:spPr>
            <a:xfrm>
              <a:off x="222" y="-3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90" name="矩形 17430"/>
            <p:cNvSpPr/>
            <p:nvPr/>
          </p:nvSpPr>
          <p:spPr>
            <a:xfrm>
              <a:off x="567" y="-3"/>
              <a:ext cx="204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91" name="任意多边形 17431"/>
            <p:cNvSpPr/>
            <p:nvPr/>
          </p:nvSpPr>
          <p:spPr>
            <a:xfrm>
              <a:off x="222" y="49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任意多边形 17432"/>
            <p:cNvSpPr/>
            <p:nvPr/>
          </p:nvSpPr>
          <p:spPr>
            <a:xfrm>
              <a:off x="222" y="754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任意多边形 17433"/>
            <p:cNvSpPr/>
            <p:nvPr/>
          </p:nvSpPr>
          <p:spPr>
            <a:xfrm>
              <a:off x="222" y="1010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任意多边形 17434"/>
            <p:cNvSpPr/>
            <p:nvPr/>
          </p:nvSpPr>
          <p:spPr>
            <a:xfrm>
              <a:off x="222" y="126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任意多边形 17435"/>
            <p:cNvSpPr/>
            <p:nvPr/>
          </p:nvSpPr>
          <p:spPr>
            <a:xfrm>
              <a:off x="222" y="1522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6" name="任意多边形 17436"/>
            <p:cNvSpPr/>
            <p:nvPr/>
          </p:nvSpPr>
          <p:spPr>
            <a:xfrm>
              <a:off x="219" y="4178"/>
              <a:ext cx="349" cy="149"/>
            </a:xfrm>
            <a:custGeom>
              <a:avLst/>
              <a:gdLst/>
              <a:ahLst/>
              <a:cxnLst/>
              <a:rect l="0" t="0" r="0" b="0"/>
              <a:pathLst>
                <a:path w="349" h="149">
                  <a:moveTo>
                    <a:pt x="345" y="52"/>
                  </a:moveTo>
                  <a:lnTo>
                    <a:pt x="348" y="144"/>
                  </a:lnTo>
                  <a:lnTo>
                    <a:pt x="0" y="148"/>
                  </a:lnTo>
                  <a:lnTo>
                    <a:pt x="299" y="143"/>
                  </a:lnTo>
                  <a:lnTo>
                    <a:pt x="315" y="111"/>
                  </a:lnTo>
                  <a:lnTo>
                    <a:pt x="328" y="84"/>
                  </a:lnTo>
                  <a:lnTo>
                    <a:pt x="338" y="39"/>
                  </a:lnTo>
                  <a:lnTo>
                    <a:pt x="345" y="0"/>
                  </a:lnTo>
                  <a:lnTo>
                    <a:pt x="345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任意多边形 17437"/>
            <p:cNvSpPr/>
            <p:nvPr/>
          </p:nvSpPr>
          <p:spPr>
            <a:xfrm>
              <a:off x="222" y="211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任意多边形 17438"/>
            <p:cNvSpPr/>
            <p:nvPr/>
          </p:nvSpPr>
          <p:spPr>
            <a:xfrm>
              <a:off x="222" y="-3"/>
              <a:ext cx="346" cy="574"/>
            </a:xfrm>
            <a:custGeom>
              <a:avLst/>
              <a:gdLst/>
              <a:ahLst/>
              <a:cxnLst/>
              <a:rect l="0" t="0" r="0" b="0"/>
              <a:pathLst>
                <a:path w="346" h="574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2"/>
                  </a:lnTo>
                  <a:lnTo>
                    <a:pt x="30" y="432"/>
                  </a:lnTo>
                  <a:lnTo>
                    <a:pt x="17" y="462"/>
                  </a:lnTo>
                  <a:lnTo>
                    <a:pt x="10" y="509"/>
                  </a:lnTo>
                  <a:lnTo>
                    <a:pt x="0" y="573"/>
                  </a:lnTo>
                  <a:lnTo>
                    <a:pt x="0" y="292"/>
                  </a:lnTo>
                  <a:lnTo>
                    <a:pt x="5" y="319"/>
                  </a:lnTo>
                  <a:lnTo>
                    <a:pt x="10" y="331"/>
                  </a:lnTo>
                  <a:lnTo>
                    <a:pt x="20" y="337"/>
                  </a:lnTo>
                  <a:lnTo>
                    <a:pt x="30" y="340"/>
                  </a:lnTo>
                  <a:lnTo>
                    <a:pt x="45" y="340"/>
                  </a:lnTo>
                  <a:lnTo>
                    <a:pt x="60" y="334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任意多边形 17439"/>
            <p:cNvSpPr/>
            <p:nvPr/>
          </p:nvSpPr>
          <p:spPr>
            <a:xfrm>
              <a:off x="224" y="-6"/>
              <a:ext cx="154" cy="294"/>
            </a:xfrm>
            <a:custGeom>
              <a:avLst/>
              <a:gdLst/>
              <a:ahLst/>
              <a:cxnLst/>
              <a:rect l="0" t="0" r="0" b="0"/>
              <a:pathLst>
                <a:path w="154" h="294">
                  <a:moveTo>
                    <a:pt x="153" y="3"/>
                  </a:moveTo>
                  <a:lnTo>
                    <a:pt x="50" y="122"/>
                  </a:lnTo>
                  <a:lnTo>
                    <a:pt x="30" y="152"/>
                  </a:lnTo>
                  <a:lnTo>
                    <a:pt x="17" y="182"/>
                  </a:lnTo>
                  <a:lnTo>
                    <a:pt x="10" y="229"/>
                  </a:lnTo>
                  <a:lnTo>
                    <a:pt x="0" y="293"/>
                  </a:lnTo>
                  <a:lnTo>
                    <a:pt x="0" y="12"/>
                  </a:lnTo>
                  <a:lnTo>
                    <a:pt x="5" y="39"/>
                  </a:lnTo>
                  <a:lnTo>
                    <a:pt x="10" y="51"/>
                  </a:lnTo>
                  <a:lnTo>
                    <a:pt x="20" y="57"/>
                  </a:lnTo>
                  <a:lnTo>
                    <a:pt x="30" y="60"/>
                  </a:lnTo>
                  <a:lnTo>
                    <a:pt x="45" y="60"/>
                  </a:lnTo>
                  <a:lnTo>
                    <a:pt x="60" y="54"/>
                  </a:lnTo>
                  <a:lnTo>
                    <a:pt x="110" y="0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0" name="任意多边形 17440"/>
            <p:cNvSpPr/>
            <p:nvPr/>
          </p:nvSpPr>
          <p:spPr>
            <a:xfrm>
              <a:off x="222" y="179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1" name="矩形 17441"/>
            <p:cNvSpPr/>
            <p:nvPr/>
          </p:nvSpPr>
          <p:spPr>
            <a:xfrm>
              <a:off x="771" y="0"/>
              <a:ext cx="210" cy="4319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02" name="直接连接符 17442"/>
            <p:cNvSpPr/>
            <p:nvPr/>
          </p:nvSpPr>
          <p:spPr>
            <a:xfrm>
              <a:off x="13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103" name="直接连接符 17443"/>
            <p:cNvSpPr/>
            <p:nvPr/>
          </p:nvSpPr>
          <p:spPr>
            <a:xfrm>
              <a:off x="64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3104" name="组合 17444"/>
          <p:cNvGrpSpPr/>
          <p:nvPr userDrawn="1"/>
        </p:nvGrpSpPr>
        <p:grpSpPr>
          <a:xfrm>
            <a:off x="523875" y="1428750"/>
            <a:ext cx="1381125" cy="1466850"/>
            <a:chOff x="330" y="900"/>
            <a:chExt cx="1320" cy="1320"/>
          </a:xfrm>
        </p:grpSpPr>
        <p:sp>
          <p:nvSpPr>
            <p:cNvPr id="3105" name="矩形 17445"/>
            <p:cNvSpPr/>
            <p:nvPr/>
          </p:nvSpPr>
          <p:spPr>
            <a:xfrm>
              <a:off x="975" y="900"/>
              <a:ext cx="675" cy="1320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3106" name="组合 17446"/>
            <p:cNvGrpSpPr/>
            <p:nvPr/>
          </p:nvGrpSpPr>
          <p:grpSpPr>
            <a:xfrm>
              <a:off x="330" y="1015"/>
              <a:ext cx="1079" cy="1060"/>
              <a:chOff x="330" y="1015"/>
              <a:chExt cx="1079" cy="1060"/>
            </a:xfrm>
          </p:grpSpPr>
          <p:grpSp>
            <p:nvGrpSpPr>
              <p:cNvPr id="3107" name="组合 17447"/>
              <p:cNvGrpSpPr/>
              <p:nvPr/>
            </p:nvGrpSpPr>
            <p:grpSpPr>
              <a:xfrm>
                <a:off x="330" y="1015"/>
                <a:ext cx="1079" cy="1060"/>
                <a:chOff x="330" y="1015"/>
                <a:chExt cx="1079" cy="1060"/>
              </a:xfrm>
            </p:grpSpPr>
            <p:grpSp>
              <p:nvGrpSpPr>
                <p:cNvPr id="3108" name="组合 17448"/>
                <p:cNvGrpSpPr/>
                <p:nvPr/>
              </p:nvGrpSpPr>
              <p:grpSpPr>
                <a:xfrm>
                  <a:off x="330" y="1015"/>
                  <a:ext cx="1079" cy="1060"/>
                  <a:chOff x="330" y="1015"/>
                  <a:chExt cx="1079" cy="1060"/>
                </a:xfrm>
              </p:grpSpPr>
              <p:sp>
                <p:nvSpPr>
                  <p:cNvPr id="3109" name="矩形 17449"/>
                  <p:cNvSpPr/>
                  <p:nvPr/>
                </p:nvSpPr>
                <p:spPr>
                  <a:xfrm>
                    <a:off x="333" y="1910"/>
                    <a:ext cx="1074" cy="165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6A6340"/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 anchor="t"/>
                  <a:lstStyle/>
                  <a:p>
                    <a:pPr lvl="0" eaLnBrk="1" hangingPunct="1"/>
                    <a:endParaRPr 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110" name="矩形 17450"/>
                  <p:cNvSpPr/>
                  <p:nvPr/>
                </p:nvSpPr>
                <p:spPr>
                  <a:xfrm>
                    <a:off x="333" y="1015"/>
                    <a:ext cx="1074" cy="165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6A6340"/>
                      </a:gs>
                      <a:gs pos="100000">
                        <a:schemeClr val="accent1"/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 anchor="t"/>
                  <a:lstStyle/>
                  <a:p>
                    <a:pPr lvl="0" eaLnBrk="1" hangingPunct="1"/>
                    <a:endParaRPr 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111" name="任意多边形 17451"/>
                  <p:cNvSpPr/>
                  <p:nvPr/>
                </p:nvSpPr>
                <p:spPr>
                  <a:xfrm rot="5400000" flipV="1">
                    <a:off x="-91" y="1446"/>
                    <a:ext cx="1028" cy="186"/>
                  </a:xfrm>
                  <a:custGeom>
                    <a:avLst/>
                    <a:gdLst/>
                    <a:ahLst/>
                    <a:cxnLst>
                      <a:cxn ang="0">
                        <a:pos x="20277" y="10800"/>
                      </a:cxn>
                      <a:cxn ang="90">
                        <a:pos x="10800" y="21600"/>
                      </a:cxn>
                      <a:cxn ang="180">
                        <a:pos x="1322" y="10800"/>
                      </a:cxn>
                      <a:cxn ang="270">
                        <a:pos x="10800" y="0"/>
                      </a:cxn>
                    </a:cxnLst>
                    <a:rect l="0" t="0" r="0" b="0"/>
                    <a:pathLst>
                      <a:path w="21600" h="21600">
                        <a:moveTo>
                          <a:pt x="0" y="0"/>
                        </a:moveTo>
                        <a:lnTo>
                          <a:pt x="2645" y="21600"/>
                        </a:lnTo>
                        <a:lnTo>
                          <a:pt x="18955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A6340"/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2" name="任意多边形 17452"/>
                  <p:cNvSpPr/>
                  <p:nvPr/>
                </p:nvSpPr>
                <p:spPr>
                  <a:xfrm rot="-5400000" flipH="1" flipV="1">
                    <a:off x="802" y="1436"/>
                    <a:ext cx="1028" cy="186"/>
                  </a:xfrm>
                  <a:custGeom>
                    <a:avLst/>
                    <a:gdLst/>
                    <a:ahLst/>
                    <a:cxnLst>
                      <a:cxn ang="0">
                        <a:pos x="20277" y="10800"/>
                      </a:cxn>
                      <a:cxn ang="90">
                        <a:pos x="10800" y="21600"/>
                      </a:cxn>
                      <a:cxn ang="180">
                        <a:pos x="1322" y="10800"/>
                      </a:cxn>
                      <a:cxn ang="270">
                        <a:pos x="10800" y="0"/>
                      </a:cxn>
                    </a:cxnLst>
                    <a:rect l="0" t="0" r="0" b="0"/>
                    <a:pathLst>
                      <a:path w="21600" h="21600">
                        <a:moveTo>
                          <a:pt x="0" y="0"/>
                        </a:moveTo>
                        <a:lnTo>
                          <a:pt x="2645" y="21600"/>
                        </a:lnTo>
                        <a:lnTo>
                          <a:pt x="18955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6A6340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13" name="矩形 17453"/>
                <p:cNvSpPr/>
                <p:nvPr/>
              </p:nvSpPr>
              <p:spPr>
                <a:xfrm>
                  <a:off x="433" y="1111"/>
                  <a:ext cx="874" cy="868"/>
                </a:xfrm>
                <a:prstGeom prst="rect">
                  <a:avLst/>
                </a:pr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>
                  <a:noFill/>
                </a:ln>
              </p:spPr>
              <p:txBody>
                <a:bodyPr anchor="t"/>
                <a:lstStyle/>
                <a:p>
                  <a:pPr lvl="0" eaLnBrk="1" hangingPunct="1"/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14" name="椭圆 17454"/>
                <p:cNvSpPr/>
                <p:nvPr/>
              </p:nvSpPr>
              <p:spPr>
                <a:xfrm>
                  <a:off x="484" y="1170"/>
                  <a:ext cx="772" cy="75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15" name="椭圆 17455"/>
                <p:cNvSpPr/>
                <p:nvPr/>
              </p:nvSpPr>
              <p:spPr>
                <a:xfrm>
                  <a:off x="559" y="1241"/>
                  <a:ext cx="622" cy="60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16" name="椭圆 17456"/>
                <p:cNvSpPr/>
                <p:nvPr/>
              </p:nvSpPr>
              <p:spPr>
                <a:xfrm>
                  <a:off x="624" y="1303"/>
                  <a:ext cx="492" cy="48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117" name="组合 17457"/>
              <p:cNvGrpSpPr/>
              <p:nvPr/>
            </p:nvGrpSpPr>
            <p:grpSpPr>
              <a:xfrm>
                <a:off x="634" y="1345"/>
                <a:ext cx="447" cy="402"/>
                <a:chOff x="634" y="1345"/>
                <a:chExt cx="447" cy="402"/>
              </a:xfrm>
            </p:grpSpPr>
            <p:sp>
              <p:nvSpPr>
                <p:cNvPr id="3118" name="任意多边形 17458"/>
                <p:cNvSpPr/>
                <p:nvPr/>
              </p:nvSpPr>
              <p:spPr>
                <a:xfrm>
                  <a:off x="856" y="1409"/>
                  <a:ext cx="34" cy="288"/>
                </a:xfrm>
                <a:custGeom>
                  <a:avLst/>
                  <a:gdLst/>
                  <a:ahLst/>
                  <a:cxnLst>
                    <a:cxn ang="270">
                      <a:pos x="0" y="0"/>
                    </a:cxn>
                    <a:cxn ang="90">
                      <a:pos x="0" y="43200"/>
                    </a:cxn>
                    <a:cxn ang="90">
                      <a:pos x="0" y="21600"/>
                    </a:cxn>
                  </a:cxnLst>
                  <a:rect l="0" t="0" r="0" b="0"/>
                  <a:pathLst>
                    <a:path w="21600" h="43200" fill="none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</a:path>
                    <a:path w="21600" h="43200" stroke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9" name="任意多边形 17459"/>
                <p:cNvSpPr/>
                <p:nvPr/>
              </p:nvSpPr>
              <p:spPr>
                <a:xfrm>
                  <a:off x="827" y="1409"/>
                  <a:ext cx="34" cy="288"/>
                </a:xfrm>
                <a:custGeom>
                  <a:avLst/>
                  <a:gdLst/>
                  <a:ahLst/>
                  <a:cxnLst>
                    <a:cxn ang="90">
                      <a:pos x="21599" y="43200"/>
                    </a:cxn>
                    <a:cxn ang="270">
                      <a:pos x="21600" y="0"/>
                    </a:cxn>
                    <a:cxn ang="90">
                      <a:pos x="21600" y="21600"/>
                    </a:cxn>
                  </a:cxnLst>
                  <a:rect l="0" t="0" r="0" b="0"/>
                  <a:pathLst>
                    <a:path w="21600" h="43200" fill="none">
                      <a:moveTo>
                        <a:pt x="21599" y="43200"/>
                      </a:moveTo>
                      <a:cubicBezTo>
                        <a:pt x="9670" y="43199"/>
                        <a:pt x="0" y="33529"/>
                        <a:pt x="0" y="21600"/>
                      </a:cubicBezTo>
                      <a:cubicBezTo>
                        <a:pt x="0" y="9671"/>
                        <a:pt x="9671" y="0"/>
                        <a:pt x="21600" y="0"/>
                      </a:cubicBezTo>
                    </a:path>
                    <a:path w="21600" h="43200" stroke="0">
                      <a:moveTo>
                        <a:pt x="21599" y="43200"/>
                      </a:moveTo>
                      <a:cubicBezTo>
                        <a:pt x="9670" y="43199"/>
                        <a:pt x="0" y="33529"/>
                        <a:pt x="0" y="21600"/>
                      </a:cubicBezTo>
                      <a:cubicBezTo>
                        <a:pt x="0" y="9671"/>
                        <a:pt x="9671" y="0"/>
                        <a:pt x="21600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0" name="圆角矩形 17460"/>
                <p:cNvSpPr/>
                <p:nvPr/>
              </p:nvSpPr>
              <p:spPr>
                <a:xfrm>
                  <a:off x="798" y="1694"/>
                  <a:ext cx="122" cy="53"/>
                </a:xfrm>
                <a:prstGeom prst="roundRect">
                  <a:avLst>
                    <a:gd name="adj" fmla="val 49995"/>
                  </a:avLst>
                </a:prstGeom>
                <a:gradFill rotWithShape="0">
                  <a:gsLst>
                    <a:gs pos="0">
                      <a:srgbClr val="6A6340"/>
                    </a:gs>
                    <a:gs pos="5000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anchor="t"/>
                <a:lstStyle/>
                <a:p>
                  <a:pPr lvl="0" eaLnBrk="1" hangingPunct="1"/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21" name="任意多边形 17461"/>
                <p:cNvSpPr/>
                <p:nvPr/>
              </p:nvSpPr>
              <p:spPr>
                <a:xfrm>
                  <a:off x="634" y="1467"/>
                  <a:ext cx="221" cy="2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1" h="230">
                      <a:moveTo>
                        <a:pt x="220" y="229"/>
                      </a:moveTo>
                      <a:lnTo>
                        <a:pt x="212" y="204"/>
                      </a:lnTo>
                      <a:lnTo>
                        <a:pt x="202" y="180"/>
                      </a:lnTo>
                      <a:lnTo>
                        <a:pt x="194" y="158"/>
                      </a:lnTo>
                      <a:lnTo>
                        <a:pt x="190" y="136"/>
                      </a:lnTo>
                      <a:lnTo>
                        <a:pt x="188" y="111"/>
                      </a:lnTo>
                      <a:lnTo>
                        <a:pt x="185" y="85"/>
                      </a:lnTo>
                      <a:lnTo>
                        <a:pt x="183" y="72"/>
                      </a:lnTo>
                      <a:lnTo>
                        <a:pt x="181" y="61"/>
                      </a:lnTo>
                      <a:lnTo>
                        <a:pt x="178" y="52"/>
                      </a:lnTo>
                      <a:lnTo>
                        <a:pt x="173" y="43"/>
                      </a:lnTo>
                      <a:lnTo>
                        <a:pt x="169" y="37"/>
                      </a:lnTo>
                      <a:lnTo>
                        <a:pt x="164" y="30"/>
                      </a:lnTo>
                      <a:lnTo>
                        <a:pt x="157" y="24"/>
                      </a:lnTo>
                      <a:lnTo>
                        <a:pt x="150" y="18"/>
                      </a:lnTo>
                      <a:lnTo>
                        <a:pt x="143" y="13"/>
                      </a:lnTo>
                      <a:lnTo>
                        <a:pt x="134" y="9"/>
                      </a:lnTo>
                      <a:lnTo>
                        <a:pt x="124" y="5"/>
                      </a:lnTo>
                      <a:lnTo>
                        <a:pt x="112" y="2"/>
                      </a:lnTo>
                      <a:lnTo>
                        <a:pt x="100" y="0"/>
                      </a:lnTo>
                      <a:lnTo>
                        <a:pt x="88" y="0"/>
                      </a:lnTo>
                      <a:lnTo>
                        <a:pt x="76" y="0"/>
                      </a:lnTo>
                      <a:lnTo>
                        <a:pt x="65" y="2"/>
                      </a:lnTo>
                      <a:lnTo>
                        <a:pt x="54" y="7"/>
                      </a:lnTo>
                      <a:lnTo>
                        <a:pt x="45" y="10"/>
                      </a:lnTo>
                      <a:lnTo>
                        <a:pt x="35" y="16"/>
                      </a:lnTo>
                      <a:lnTo>
                        <a:pt x="25" y="24"/>
                      </a:lnTo>
                      <a:lnTo>
                        <a:pt x="18" y="31"/>
                      </a:lnTo>
                      <a:lnTo>
                        <a:pt x="11" y="41"/>
                      </a:lnTo>
                      <a:lnTo>
                        <a:pt x="5" y="51"/>
                      </a:lnTo>
                      <a:lnTo>
                        <a:pt x="1" y="63"/>
                      </a:lnTo>
                      <a:lnTo>
                        <a:pt x="0" y="73"/>
                      </a:lnTo>
                      <a:lnTo>
                        <a:pt x="0" y="79"/>
                      </a:lnTo>
                      <a:lnTo>
                        <a:pt x="3" y="72"/>
                      </a:lnTo>
                      <a:lnTo>
                        <a:pt x="8" y="67"/>
                      </a:lnTo>
                      <a:lnTo>
                        <a:pt x="15" y="64"/>
                      </a:lnTo>
                      <a:lnTo>
                        <a:pt x="25" y="60"/>
                      </a:lnTo>
                      <a:lnTo>
                        <a:pt x="35" y="58"/>
                      </a:lnTo>
                      <a:lnTo>
                        <a:pt x="46" y="57"/>
                      </a:lnTo>
                      <a:lnTo>
                        <a:pt x="56" y="57"/>
                      </a:lnTo>
                      <a:lnTo>
                        <a:pt x="67" y="60"/>
                      </a:lnTo>
                      <a:lnTo>
                        <a:pt x="74" y="63"/>
                      </a:lnTo>
                      <a:lnTo>
                        <a:pt x="81" y="67"/>
                      </a:lnTo>
                      <a:lnTo>
                        <a:pt x="87" y="73"/>
                      </a:lnTo>
                      <a:lnTo>
                        <a:pt x="91" y="78"/>
                      </a:lnTo>
                      <a:lnTo>
                        <a:pt x="93" y="85"/>
                      </a:lnTo>
                      <a:lnTo>
                        <a:pt x="95" y="92"/>
                      </a:lnTo>
                      <a:lnTo>
                        <a:pt x="96" y="102"/>
                      </a:lnTo>
                      <a:lnTo>
                        <a:pt x="98" y="112"/>
                      </a:lnTo>
                      <a:lnTo>
                        <a:pt x="100" y="124"/>
                      </a:lnTo>
                      <a:lnTo>
                        <a:pt x="103" y="135"/>
                      </a:lnTo>
                      <a:lnTo>
                        <a:pt x="106" y="147"/>
                      </a:lnTo>
                      <a:lnTo>
                        <a:pt x="111" y="158"/>
                      </a:lnTo>
                      <a:lnTo>
                        <a:pt x="116" y="168"/>
                      </a:lnTo>
                      <a:lnTo>
                        <a:pt x="123" y="180"/>
                      </a:lnTo>
                      <a:lnTo>
                        <a:pt x="131" y="190"/>
                      </a:lnTo>
                      <a:lnTo>
                        <a:pt x="140" y="199"/>
                      </a:lnTo>
                      <a:lnTo>
                        <a:pt x="150" y="207"/>
                      </a:lnTo>
                      <a:lnTo>
                        <a:pt x="163" y="215"/>
                      </a:lnTo>
                      <a:lnTo>
                        <a:pt x="172" y="219"/>
                      </a:lnTo>
                      <a:lnTo>
                        <a:pt x="183" y="223"/>
                      </a:lnTo>
                      <a:lnTo>
                        <a:pt x="194" y="226"/>
                      </a:lnTo>
                      <a:lnTo>
                        <a:pt x="207" y="228"/>
                      </a:lnTo>
                      <a:lnTo>
                        <a:pt x="220" y="229"/>
                      </a:lnTo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2" name="任意多边形 17462"/>
                <p:cNvSpPr/>
                <p:nvPr/>
              </p:nvSpPr>
              <p:spPr>
                <a:xfrm>
                  <a:off x="859" y="1467"/>
                  <a:ext cx="222" cy="2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" h="230">
                      <a:moveTo>
                        <a:pt x="0" y="229"/>
                      </a:moveTo>
                      <a:lnTo>
                        <a:pt x="7" y="204"/>
                      </a:lnTo>
                      <a:lnTo>
                        <a:pt x="17" y="180"/>
                      </a:lnTo>
                      <a:lnTo>
                        <a:pt x="25" y="158"/>
                      </a:lnTo>
                      <a:lnTo>
                        <a:pt x="29" y="136"/>
                      </a:lnTo>
                      <a:lnTo>
                        <a:pt x="31" y="111"/>
                      </a:lnTo>
                      <a:lnTo>
                        <a:pt x="34" y="85"/>
                      </a:lnTo>
                      <a:lnTo>
                        <a:pt x="36" y="72"/>
                      </a:lnTo>
                      <a:lnTo>
                        <a:pt x="38" y="61"/>
                      </a:lnTo>
                      <a:lnTo>
                        <a:pt x="41" y="52"/>
                      </a:lnTo>
                      <a:lnTo>
                        <a:pt x="46" y="43"/>
                      </a:lnTo>
                      <a:lnTo>
                        <a:pt x="50" y="37"/>
                      </a:lnTo>
                      <a:lnTo>
                        <a:pt x="56" y="30"/>
                      </a:lnTo>
                      <a:lnTo>
                        <a:pt x="62" y="24"/>
                      </a:lnTo>
                      <a:lnTo>
                        <a:pt x="69" y="18"/>
                      </a:lnTo>
                      <a:lnTo>
                        <a:pt x="77" y="13"/>
                      </a:lnTo>
                      <a:lnTo>
                        <a:pt x="86" y="9"/>
                      </a:lnTo>
                      <a:lnTo>
                        <a:pt x="96" y="5"/>
                      </a:lnTo>
                      <a:lnTo>
                        <a:pt x="108" y="2"/>
                      </a:lnTo>
                      <a:lnTo>
                        <a:pt x="120" y="0"/>
                      </a:lnTo>
                      <a:lnTo>
                        <a:pt x="132" y="0"/>
                      </a:lnTo>
                      <a:lnTo>
                        <a:pt x="143" y="0"/>
                      </a:lnTo>
                      <a:lnTo>
                        <a:pt x="155" y="2"/>
                      </a:lnTo>
                      <a:lnTo>
                        <a:pt x="165" y="7"/>
                      </a:lnTo>
                      <a:lnTo>
                        <a:pt x="175" y="10"/>
                      </a:lnTo>
                      <a:lnTo>
                        <a:pt x="184" y="16"/>
                      </a:lnTo>
                      <a:lnTo>
                        <a:pt x="195" y="24"/>
                      </a:lnTo>
                      <a:lnTo>
                        <a:pt x="201" y="31"/>
                      </a:lnTo>
                      <a:lnTo>
                        <a:pt x="209" y="41"/>
                      </a:lnTo>
                      <a:lnTo>
                        <a:pt x="215" y="51"/>
                      </a:lnTo>
                      <a:lnTo>
                        <a:pt x="219" y="63"/>
                      </a:lnTo>
                      <a:lnTo>
                        <a:pt x="221" y="73"/>
                      </a:lnTo>
                      <a:lnTo>
                        <a:pt x="220" y="79"/>
                      </a:lnTo>
                      <a:lnTo>
                        <a:pt x="217" y="72"/>
                      </a:lnTo>
                      <a:lnTo>
                        <a:pt x="212" y="67"/>
                      </a:lnTo>
                      <a:lnTo>
                        <a:pt x="205" y="64"/>
                      </a:lnTo>
                      <a:lnTo>
                        <a:pt x="195" y="60"/>
                      </a:lnTo>
                      <a:lnTo>
                        <a:pt x="184" y="58"/>
                      </a:lnTo>
                      <a:lnTo>
                        <a:pt x="174" y="57"/>
                      </a:lnTo>
                      <a:lnTo>
                        <a:pt x="164" y="57"/>
                      </a:lnTo>
                      <a:lnTo>
                        <a:pt x="153" y="60"/>
                      </a:lnTo>
                      <a:lnTo>
                        <a:pt x="145" y="63"/>
                      </a:lnTo>
                      <a:lnTo>
                        <a:pt x="139" y="67"/>
                      </a:lnTo>
                      <a:lnTo>
                        <a:pt x="132" y="73"/>
                      </a:lnTo>
                      <a:lnTo>
                        <a:pt x="129" y="78"/>
                      </a:lnTo>
                      <a:lnTo>
                        <a:pt x="127" y="85"/>
                      </a:lnTo>
                      <a:lnTo>
                        <a:pt x="125" y="92"/>
                      </a:lnTo>
                      <a:lnTo>
                        <a:pt x="123" y="102"/>
                      </a:lnTo>
                      <a:lnTo>
                        <a:pt x="122" y="112"/>
                      </a:lnTo>
                      <a:lnTo>
                        <a:pt x="120" y="124"/>
                      </a:lnTo>
                      <a:lnTo>
                        <a:pt x="117" y="135"/>
                      </a:lnTo>
                      <a:lnTo>
                        <a:pt x="113" y="147"/>
                      </a:lnTo>
                      <a:lnTo>
                        <a:pt x="109" y="158"/>
                      </a:lnTo>
                      <a:lnTo>
                        <a:pt x="104" y="168"/>
                      </a:lnTo>
                      <a:lnTo>
                        <a:pt x="97" y="180"/>
                      </a:lnTo>
                      <a:lnTo>
                        <a:pt x="89" y="190"/>
                      </a:lnTo>
                      <a:lnTo>
                        <a:pt x="79" y="199"/>
                      </a:lnTo>
                      <a:lnTo>
                        <a:pt x="69" y="207"/>
                      </a:lnTo>
                      <a:lnTo>
                        <a:pt x="57" y="215"/>
                      </a:lnTo>
                      <a:lnTo>
                        <a:pt x="47" y="219"/>
                      </a:lnTo>
                      <a:lnTo>
                        <a:pt x="37" y="223"/>
                      </a:lnTo>
                      <a:lnTo>
                        <a:pt x="25" y="226"/>
                      </a:lnTo>
                      <a:lnTo>
                        <a:pt x="12" y="228"/>
                      </a:lnTo>
                      <a:lnTo>
                        <a:pt x="0" y="229"/>
                      </a:lnTo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3" name="椭圆 17463"/>
                <p:cNvSpPr/>
                <p:nvPr/>
              </p:nvSpPr>
              <p:spPr>
                <a:xfrm>
                  <a:off x="829" y="1345"/>
                  <a:ext cx="56" cy="5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3124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10" name="标题 17409"/>
          <p:cNvSpPr>
            <a:spLocks noGrp="1"/>
          </p:cNvSpPr>
          <p:nvPr>
            <p:ph type="ctrTitle" sz="quarter"/>
          </p:nvPr>
        </p:nvSpPr>
        <p:spPr>
          <a:xfrm>
            <a:off x="1905000" y="1428750"/>
            <a:ext cx="7237730" cy="1466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lIns="92075" tIns="46038" rIns="92075" bIns="46038"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7411" name="副标题 17410"/>
          <p:cNvSpPr>
            <a:spLocks noGrp="1"/>
          </p:cNvSpPr>
          <p:nvPr>
            <p:ph type="subTitle" sz="quarter" idx="1"/>
          </p:nvPr>
        </p:nvSpPr>
        <p:spPr>
          <a:xfrm>
            <a:off x="1905000" y="4124325"/>
            <a:ext cx="7237413" cy="1752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>
            <a:lvl1pPr marL="0" lvl="0" indent="0"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Tx/>
              <a:buFontTx/>
              <a:buNone/>
              <a:defRPr/>
            </a:lvl2pPr>
            <a:lvl3pPr marL="914400" lvl="2" indent="0" algn="ctr">
              <a:buClr>
                <a:schemeClr val="hlink"/>
              </a:buClr>
              <a:buSzTx/>
              <a:buFontTx/>
              <a:buNone/>
              <a:defRPr/>
            </a:lvl3pPr>
            <a:lvl4pPr marL="1371600" lvl="3" indent="0" algn="ctr">
              <a:buClr>
                <a:schemeClr val="hlink"/>
              </a:buClr>
              <a:buSzTx/>
              <a:buFontTx/>
              <a:buNone/>
              <a:defRPr/>
            </a:lvl4pPr>
            <a:lvl5pPr marL="1828800" lvl="4" indent="0" algn="ctr">
              <a:buClr>
                <a:schemeClr val="hlink"/>
              </a:buClr>
              <a:buSzTx/>
              <a:buFontTx/>
              <a:buNone/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7412" name="日期占位符 17411"/>
          <p:cNvSpPr>
            <a:spLocks noGrp="1"/>
          </p:cNvSpPr>
          <p:nvPr>
            <p:ph type="dt" sz="quarter" idx="2"/>
          </p:nvPr>
        </p:nvSpPr>
        <p:spPr>
          <a:xfrm>
            <a:off x="2819400" y="54102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>
              <a:defRPr sz="3200" b="1">
                <a:latin typeface="Arial" panose="020B0604020202020204" pitchFamily="34" charset="0"/>
              </a:defRPr>
            </a:lvl1pPr>
          </a:lstStyle>
          <a:p>
            <a:pPr eaLnBrk="1" fontAlgn="base" hangingPunct="1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2021/3/18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7413" name="页脚占位符 17412"/>
          <p:cNvSpPr>
            <a:spLocks noGrp="1"/>
          </p:cNvSpPr>
          <p:nvPr>
            <p:ph type="ftr" sz="quarter" idx="3"/>
          </p:nvPr>
        </p:nvSpPr>
        <p:spPr>
          <a:xfrm>
            <a:off x="3767138" y="63198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ctr">
              <a:defRPr sz="1400"/>
            </a:lvl1pPr>
          </a:lstStyle>
          <a:p>
            <a:pPr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7414" name="灯片编号占位符 17413"/>
          <p:cNvSpPr>
            <a:spLocks noGrp="1"/>
          </p:cNvSpPr>
          <p:nvPr>
            <p:ph type="sldNum" sz="quarter" idx="4"/>
          </p:nvPr>
        </p:nvSpPr>
        <p:spPr>
          <a:xfrm>
            <a:off x="7196138" y="63198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r">
              <a:defRPr sz="1400"/>
            </a:lvl1pPr>
          </a:lstStyle>
          <a:p>
            <a:pPr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8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4070" y="0"/>
            <a:ext cx="8287385" cy="79629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0"/>
            <a:ext cx="8324215" cy="77724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4123516" cy="47148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77622" y="1524000"/>
            <a:ext cx="4123516" cy="47148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6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9945" y="0"/>
            <a:ext cx="8314055" cy="76962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28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0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4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8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785" y="0"/>
            <a:ext cx="8324215" cy="625475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b"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2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6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0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67980" y="0"/>
            <a:ext cx="1132840" cy="62388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6189542" cy="60102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4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8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17414"/>
          <p:cNvGrpSpPr/>
          <p:nvPr userDrawn="1"/>
        </p:nvGrpSpPr>
        <p:grpSpPr>
          <a:xfrm>
            <a:off x="0" y="0"/>
            <a:ext cx="914400" cy="6878638"/>
            <a:chOff x="0" y="-6"/>
            <a:chExt cx="981" cy="4333"/>
          </a:xfrm>
        </p:grpSpPr>
        <p:sp>
          <p:nvSpPr>
            <p:cNvPr id="15363" name="矩形 17415"/>
            <p:cNvSpPr/>
            <p:nvPr/>
          </p:nvSpPr>
          <p:spPr>
            <a:xfrm>
              <a:off x="453" y="2151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4" name="矩形 17416"/>
            <p:cNvSpPr/>
            <p:nvPr/>
          </p:nvSpPr>
          <p:spPr>
            <a:xfrm>
              <a:off x="0" y="2151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5" name="矩形 17417"/>
            <p:cNvSpPr/>
            <p:nvPr/>
          </p:nvSpPr>
          <p:spPr>
            <a:xfrm>
              <a:off x="222" y="2151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6" name="矩形 17418"/>
            <p:cNvSpPr/>
            <p:nvPr/>
          </p:nvSpPr>
          <p:spPr>
            <a:xfrm>
              <a:off x="567" y="2160"/>
              <a:ext cx="204" cy="2161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7" name="任意多边形 17419"/>
            <p:cNvSpPr/>
            <p:nvPr/>
          </p:nvSpPr>
          <p:spPr>
            <a:xfrm>
              <a:off x="222" y="2636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任意多边形 17420"/>
            <p:cNvSpPr/>
            <p:nvPr/>
          </p:nvSpPr>
          <p:spPr>
            <a:xfrm>
              <a:off x="222" y="2908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任意多边形 17421"/>
            <p:cNvSpPr/>
            <p:nvPr/>
          </p:nvSpPr>
          <p:spPr>
            <a:xfrm>
              <a:off x="222" y="3165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任意多边形 17422"/>
            <p:cNvSpPr/>
            <p:nvPr/>
          </p:nvSpPr>
          <p:spPr>
            <a:xfrm>
              <a:off x="222" y="3420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任意多边形 17423"/>
            <p:cNvSpPr/>
            <p:nvPr/>
          </p:nvSpPr>
          <p:spPr>
            <a:xfrm>
              <a:off x="222" y="367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任意多边形 17424"/>
            <p:cNvSpPr/>
            <p:nvPr/>
          </p:nvSpPr>
          <p:spPr>
            <a:xfrm>
              <a:off x="301" y="3932"/>
              <a:ext cx="265" cy="392"/>
            </a:xfrm>
            <a:custGeom>
              <a:avLst/>
              <a:gdLst/>
              <a:ahLst/>
              <a:cxnLst/>
              <a:rect l="0" t="0" r="0" b="0"/>
              <a:pathLst>
                <a:path w="265" h="392">
                  <a:moveTo>
                    <a:pt x="264" y="52"/>
                  </a:moveTo>
                  <a:lnTo>
                    <a:pt x="264" y="194"/>
                  </a:lnTo>
                  <a:lnTo>
                    <a:pt x="256" y="188"/>
                  </a:lnTo>
                  <a:lnTo>
                    <a:pt x="236" y="188"/>
                  </a:lnTo>
                  <a:lnTo>
                    <a:pt x="221" y="194"/>
                  </a:lnTo>
                  <a:lnTo>
                    <a:pt x="205" y="209"/>
                  </a:lnTo>
                  <a:lnTo>
                    <a:pt x="162" y="261"/>
                  </a:lnTo>
                  <a:lnTo>
                    <a:pt x="66" y="366"/>
                  </a:lnTo>
                  <a:lnTo>
                    <a:pt x="45" y="391"/>
                  </a:lnTo>
                  <a:lnTo>
                    <a:pt x="0" y="391"/>
                  </a:lnTo>
                  <a:lnTo>
                    <a:pt x="178" y="190"/>
                  </a:lnTo>
                  <a:lnTo>
                    <a:pt x="218" y="138"/>
                  </a:lnTo>
                  <a:lnTo>
                    <a:pt x="233" y="111"/>
                  </a:lnTo>
                  <a:lnTo>
                    <a:pt x="246" y="84"/>
                  </a:lnTo>
                  <a:lnTo>
                    <a:pt x="256" y="39"/>
                  </a:lnTo>
                  <a:lnTo>
                    <a:pt x="264" y="0"/>
                  </a:lnTo>
                  <a:lnTo>
                    <a:pt x="264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任意多边形 17425"/>
            <p:cNvSpPr/>
            <p:nvPr/>
          </p:nvSpPr>
          <p:spPr>
            <a:xfrm>
              <a:off x="222" y="2366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任意多边形 17426"/>
            <p:cNvSpPr/>
            <p:nvPr/>
          </p:nvSpPr>
          <p:spPr>
            <a:xfrm>
              <a:off x="222" y="2151"/>
              <a:ext cx="346" cy="575"/>
            </a:xfrm>
            <a:custGeom>
              <a:avLst/>
              <a:gdLst/>
              <a:ahLst/>
              <a:cxnLst/>
              <a:rect l="0" t="0" r="0" b="0"/>
              <a:pathLst>
                <a:path w="346" h="575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3"/>
                  </a:lnTo>
                  <a:lnTo>
                    <a:pt x="30" y="433"/>
                  </a:lnTo>
                  <a:lnTo>
                    <a:pt x="17" y="463"/>
                  </a:lnTo>
                  <a:lnTo>
                    <a:pt x="10" y="510"/>
                  </a:lnTo>
                  <a:lnTo>
                    <a:pt x="0" y="574"/>
                  </a:lnTo>
                  <a:lnTo>
                    <a:pt x="0" y="293"/>
                  </a:lnTo>
                  <a:lnTo>
                    <a:pt x="5" y="320"/>
                  </a:lnTo>
                  <a:lnTo>
                    <a:pt x="10" y="332"/>
                  </a:lnTo>
                  <a:lnTo>
                    <a:pt x="20" y="338"/>
                  </a:lnTo>
                  <a:lnTo>
                    <a:pt x="30" y="341"/>
                  </a:lnTo>
                  <a:lnTo>
                    <a:pt x="45" y="341"/>
                  </a:lnTo>
                  <a:lnTo>
                    <a:pt x="60" y="335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矩形 17427"/>
            <p:cNvSpPr/>
            <p:nvPr/>
          </p:nvSpPr>
          <p:spPr>
            <a:xfrm>
              <a:off x="453" y="-3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6" name="矩形 17428"/>
            <p:cNvSpPr/>
            <p:nvPr/>
          </p:nvSpPr>
          <p:spPr>
            <a:xfrm>
              <a:off x="0" y="-3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7" name="矩形 17429"/>
            <p:cNvSpPr/>
            <p:nvPr/>
          </p:nvSpPr>
          <p:spPr>
            <a:xfrm>
              <a:off x="222" y="-3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8" name="矩形 17430"/>
            <p:cNvSpPr/>
            <p:nvPr/>
          </p:nvSpPr>
          <p:spPr>
            <a:xfrm>
              <a:off x="567" y="-3"/>
              <a:ext cx="204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9" name="任意多边形 17431"/>
            <p:cNvSpPr/>
            <p:nvPr/>
          </p:nvSpPr>
          <p:spPr>
            <a:xfrm>
              <a:off x="222" y="49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任意多边形 17432"/>
            <p:cNvSpPr/>
            <p:nvPr/>
          </p:nvSpPr>
          <p:spPr>
            <a:xfrm>
              <a:off x="222" y="754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任意多边形 17433"/>
            <p:cNvSpPr/>
            <p:nvPr/>
          </p:nvSpPr>
          <p:spPr>
            <a:xfrm>
              <a:off x="222" y="1010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任意多边形 17434"/>
            <p:cNvSpPr/>
            <p:nvPr/>
          </p:nvSpPr>
          <p:spPr>
            <a:xfrm>
              <a:off x="222" y="126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任意多边形 17435"/>
            <p:cNvSpPr/>
            <p:nvPr/>
          </p:nvSpPr>
          <p:spPr>
            <a:xfrm>
              <a:off x="222" y="1522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任意多边形 17436"/>
            <p:cNvSpPr/>
            <p:nvPr/>
          </p:nvSpPr>
          <p:spPr>
            <a:xfrm>
              <a:off x="219" y="4178"/>
              <a:ext cx="349" cy="149"/>
            </a:xfrm>
            <a:custGeom>
              <a:avLst/>
              <a:gdLst/>
              <a:ahLst/>
              <a:cxnLst/>
              <a:rect l="0" t="0" r="0" b="0"/>
              <a:pathLst>
                <a:path w="349" h="149">
                  <a:moveTo>
                    <a:pt x="345" y="52"/>
                  </a:moveTo>
                  <a:lnTo>
                    <a:pt x="348" y="144"/>
                  </a:lnTo>
                  <a:lnTo>
                    <a:pt x="0" y="148"/>
                  </a:lnTo>
                  <a:lnTo>
                    <a:pt x="299" y="143"/>
                  </a:lnTo>
                  <a:lnTo>
                    <a:pt x="315" y="111"/>
                  </a:lnTo>
                  <a:lnTo>
                    <a:pt x="328" y="84"/>
                  </a:lnTo>
                  <a:lnTo>
                    <a:pt x="338" y="39"/>
                  </a:lnTo>
                  <a:lnTo>
                    <a:pt x="345" y="0"/>
                  </a:lnTo>
                  <a:lnTo>
                    <a:pt x="345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任意多边形 17437"/>
            <p:cNvSpPr/>
            <p:nvPr/>
          </p:nvSpPr>
          <p:spPr>
            <a:xfrm>
              <a:off x="222" y="211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任意多边形 17438"/>
            <p:cNvSpPr/>
            <p:nvPr/>
          </p:nvSpPr>
          <p:spPr>
            <a:xfrm>
              <a:off x="222" y="-3"/>
              <a:ext cx="346" cy="574"/>
            </a:xfrm>
            <a:custGeom>
              <a:avLst/>
              <a:gdLst/>
              <a:ahLst/>
              <a:cxnLst/>
              <a:rect l="0" t="0" r="0" b="0"/>
              <a:pathLst>
                <a:path w="346" h="574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2"/>
                  </a:lnTo>
                  <a:lnTo>
                    <a:pt x="30" y="432"/>
                  </a:lnTo>
                  <a:lnTo>
                    <a:pt x="17" y="462"/>
                  </a:lnTo>
                  <a:lnTo>
                    <a:pt x="10" y="509"/>
                  </a:lnTo>
                  <a:lnTo>
                    <a:pt x="0" y="573"/>
                  </a:lnTo>
                  <a:lnTo>
                    <a:pt x="0" y="292"/>
                  </a:lnTo>
                  <a:lnTo>
                    <a:pt x="5" y="319"/>
                  </a:lnTo>
                  <a:lnTo>
                    <a:pt x="10" y="331"/>
                  </a:lnTo>
                  <a:lnTo>
                    <a:pt x="20" y="337"/>
                  </a:lnTo>
                  <a:lnTo>
                    <a:pt x="30" y="340"/>
                  </a:lnTo>
                  <a:lnTo>
                    <a:pt x="45" y="340"/>
                  </a:lnTo>
                  <a:lnTo>
                    <a:pt x="60" y="334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任意多边形 17439"/>
            <p:cNvSpPr/>
            <p:nvPr/>
          </p:nvSpPr>
          <p:spPr>
            <a:xfrm>
              <a:off x="224" y="-6"/>
              <a:ext cx="154" cy="294"/>
            </a:xfrm>
            <a:custGeom>
              <a:avLst/>
              <a:gdLst/>
              <a:ahLst/>
              <a:cxnLst/>
              <a:rect l="0" t="0" r="0" b="0"/>
              <a:pathLst>
                <a:path w="154" h="294">
                  <a:moveTo>
                    <a:pt x="153" y="3"/>
                  </a:moveTo>
                  <a:lnTo>
                    <a:pt x="50" y="122"/>
                  </a:lnTo>
                  <a:lnTo>
                    <a:pt x="30" y="152"/>
                  </a:lnTo>
                  <a:lnTo>
                    <a:pt x="17" y="182"/>
                  </a:lnTo>
                  <a:lnTo>
                    <a:pt x="10" y="229"/>
                  </a:lnTo>
                  <a:lnTo>
                    <a:pt x="0" y="293"/>
                  </a:lnTo>
                  <a:lnTo>
                    <a:pt x="0" y="12"/>
                  </a:lnTo>
                  <a:lnTo>
                    <a:pt x="5" y="39"/>
                  </a:lnTo>
                  <a:lnTo>
                    <a:pt x="10" y="51"/>
                  </a:lnTo>
                  <a:lnTo>
                    <a:pt x="20" y="57"/>
                  </a:lnTo>
                  <a:lnTo>
                    <a:pt x="30" y="60"/>
                  </a:lnTo>
                  <a:lnTo>
                    <a:pt x="45" y="60"/>
                  </a:lnTo>
                  <a:lnTo>
                    <a:pt x="60" y="54"/>
                  </a:lnTo>
                  <a:lnTo>
                    <a:pt x="110" y="0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任意多边形 17440"/>
            <p:cNvSpPr/>
            <p:nvPr/>
          </p:nvSpPr>
          <p:spPr>
            <a:xfrm>
              <a:off x="222" y="179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矩形 17441"/>
            <p:cNvSpPr/>
            <p:nvPr/>
          </p:nvSpPr>
          <p:spPr>
            <a:xfrm>
              <a:off x="771" y="0"/>
              <a:ext cx="210" cy="4319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90" name="直接连接符 17442"/>
            <p:cNvSpPr/>
            <p:nvPr/>
          </p:nvSpPr>
          <p:spPr>
            <a:xfrm>
              <a:off x="13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5391" name="直接连接符 17443"/>
            <p:cNvSpPr/>
            <p:nvPr/>
          </p:nvSpPr>
          <p:spPr>
            <a:xfrm>
              <a:off x="64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15392" name="组合 17444"/>
          <p:cNvGrpSpPr/>
          <p:nvPr userDrawn="1"/>
        </p:nvGrpSpPr>
        <p:grpSpPr>
          <a:xfrm>
            <a:off x="523875" y="1428750"/>
            <a:ext cx="1381125" cy="1466850"/>
            <a:chOff x="330" y="900"/>
            <a:chExt cx="1320" cy="1320"/>
          </a:xfrm>
        </p:grpSpPr>
        <p:sp>
          <p:nvSpPr>
            <p:cNvPr id="15393" name="矩形 17445"/>
            <p:cNvSpPr/>
            <p:nvPr/>
          </p:nvSpPr>
          <p:spPr>
            <a:xfrm>
              <a:off x="975" y="900"/>
              <a:ext cx="675" cy="1320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15394" name="组合 17446"/>
            <p:cNvGrpSpPr/>
            <p:nvPr/>
          </p:nvGrpSpPr>
          <p:grpSpPr>
            <a:xfrm>
              <a:off x="330" y="1015"/>
              <a:ext cx="1079" cy="1060"/>
              <a:chOff x="330" y="1015"/>
              <a:chExt cx="1079" cy="1060"/>
            </a:xfrm>
          </p:grpSpPr>
          <p:grpSp>
            <p:nvGrpSpPr>
              <p:cNvPr id="15395" name="组合 17447"/>
              <p:cNvGrpSpPr/>
              <p:nvPr/>
            </p:nvGrpSpPr>
            <p:grpSpPr>
              <a:xfrm>
                <a:off x="330" y="1015"/>
                <a:ext cx="1079" cy="1060"/>
                <a:chOff x="330" y="1015"/>
                <a:chExt cx="1079" cy="1060"/>
              </a:xfrm>
            </p:grpSpPr>
            <p:grpSp>
              <p:nvGrpSpPr>
                <p:cNvPr id="15396" name="组合 17448"/>
                <p:cNvGrpSpPr/>
                <p:nvPr/>
              </p:nvGrpSpPr>
              <p:grpSpPr>
                <a:xfrm>
                  <a:off x="330" y="1015"/>
                  <a:ext cx="1079" cy="1060"/>
                  <a:chOff x="330" y="1015"/>
                  <a:chExt cx="1079" cy="1060"/>
                </a:xfrm>
              </p:grpSpPr>
              <p:sp>
                <p:nvSpPr>
                  <p:cNvPr id="15397" name="矩形 17449"/>
                  <p:cNvSpPr/>
                  <p:nvPr/>
                </p:nvSpPr>
                <p:spPr>
                  <a:xfrm>
                    <a:off x="333" y="1910"/>
                    <a:ext cx="1074" cy="165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6A6340"/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 anchor="t"/>
                  <a:lstStyle/>
                  <a:p>
                    <a:pPr lvl="0" eaLnBrk="1" hangingPunct="1"/>
                    <a:endParaRPr 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398" name="矩形 17450"/>
                  <p:cNvSpPr/>
                  <p:nvPr/>
                </p:nvSpPr>
                <p:spPr>
                  <a:xfrm>
                    <a:off x="333" y="1015"/>
                    <a:ext cx="1074" cy="165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6A6340"/>
                      </a:gs>
                      <a:gs pos="100000">
                        <a:schemeClr val="accent1"/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 anchor="t"/>
                  <a:lstStyle/>
                  <a:p>
                    <a:pPr lvl="0" eaLnBrk="1" hangingPunct="1"/>
                    <a:endParaRPr lang="zh-CN" sz="2400" dirty="0">
                      <a:latin typeface="Times New Roman" panose="0202060305040502030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5399" name="任意多边形 17451"/>
                  <p:cNvSpPr/>
                  <p:nvPr/>
                </p:nvSpPr>
                <p:spPr>
                  <a:xfrm rot="5400000" flipV="1">
                    <a:off x="-91" y="1446"/>
                    <a:ext cx="1028" cy="186"/>
                  </a:xfrm>
                  <a:custGeom>
                    <a:avLst/>
                    <a:gdLst/>
                    <a:ahLst/>
                    <a:cxnLst>
                      <a:cxn ang="0">
                        <a:pos x="20277" y="10800"/>
                      </a:cxn>
                      <a:cxn ang="90">
                        <a:pos x="10800" y="21600"/>
                      </a:cxn>
                      <a:cxn ang="180">
                        <a:pos x="1322" y="10800"/>
                      </a:cxn>
                      <a:cxn ang="270">
                        <a:pos x="10800" y="0"/>
                      </a:cxn>
                    </a:cxnLst>
                    <a:rect l="0" t="0" r="0" b="0"/>
                    <a:pathLst>
                      <a:path w="21600" h="21600">
                        <a:moveTo>
                          <a:pt x="0" y="0"/>
                        </a:moveTo>
                        <a:lnTo>
                          <a:pt x="2645" y="21600"/>
                        </a:lnTo>
                        <a:lnTo>
                          <a:pt x="18955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6A6340"/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00" name="任意多边形 17452"/>
                  <p:cNvSpPr/>
                  <p:nvPr/>
                </p:nvSpPr>
                <p:spPr>
                  <a:xfrm rot="-5400000" flipH="1" flipV="1">
                    <a:off x="802" y="1436"/>
                    <a:ext cx="1028" cy="186"/>
                  </a:xfrm>
                  <a:custGeom>
                    <a:avLst/>
                    <a:gdLst/>
                    <a:ahLst/>
                    <a:cxnLst>
                      <a:cxn ang="0">
                        <a:pos x="20277" y="10800"/>
                      </a:cxn>
                      <a:cxn ang="90">
                        <a:pos x="10800" y="21600"/>
                      </a:cxn>
                      <a:cxn ang="180">
                        <a:pos x="1322" y="10800"/>
                      </a:cxn>
                      <a:cxn ang="270">
                        <a:pos x="10800" y="0"/>
                      </a:cxn>
                    </a:cxnLst>
                    <a:rect l="0" t="0" r="0" b="0"/>
                    <a:pathLst>
                      <a:path w="21600" h="21600">
                        <a:moveTo>
                          <a:pt x="0" y="0"/>
                        </a:moveTo>
                        <a:lnTo>
                          <a:pt x="2645" y="21600"/>
                        </a:lnTo>
                        <a:lnTo>
                          <a:pt x="18955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1"/>
                      </a:gs>
                      <a:gs pos="100000">
                        <a:srgbClr val="6A6340"/>
                      </a:gs>
                    </a:gsLst>
                    <a:lin ang="0" scaled="1"/>
                    <a:tileRect/>
                  </a:gra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401" name="矩形 17453"/>
                <p:cNvSpPr/>
                <p:nvPr/>
              </p:nvSpPr>
              <p:spPr>
                <a:xfrm>
                  <a:off x="433" y="1111"/>
                  <a:ext cx="874" cy="868"/>
                </a:xfrm>
                <a:prstGeom prst="rect">
                  <a:avLst/>
                </a:pr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>
                  <a:noFill/>
                </a:ln>
              </p:spPr>
              <p:txBody>
                <a:bodyPr anchor="t"/>
                <a:lstStyle/>
                <a:p>
                  <a:pPr lvl="0" eaLnBrk="1" hangingPunct="1"/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02" name="椭圆 17454"/>
                <p:cNvSpPr/>
                <p:nvPr/>
              </p:nvSpPr>
              <p:spPr>
                <a:xfrm>
                  <a:off x="484" y="1170"/>
                  <a:ext cx="772" cy="75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03" name="椭圆 17455"/>
                <p:cNvSpPr/>
                <p:nvPr/>
              </p:nvSpPr>
              <p:spPr>
                <a:xfrm>
                  <a:off x="559" y="1241"/>
                  <a:ext cx="622" cy="60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04" name="椭圆 17456"/>
                <p:cNvSpPr/>
                <p:nvPr/>
              </p:nvSpPr>
              <p:spPr>
                <a:xfrm>
                  <a:off x="624" y="1303"/>
                  <a:ext cx="492" cy="48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405" name="组合 17457"/>
              <p:cNvGrpSpPr/>
              <p:nvPr/>
            </p:nvGrpSpPr>
            <p:grpSpPr>
              <a:xfrm>
                <a:off x="634" y="1345"/>
                <a:ext cx="447" cy="402"/>
                <a:chOff x="634" y="1345"/>
                <a:chExt cx="447" cy="402"/>
              </a:xfrm>
            </p:grpSpPr>
            <p:sp>
              <p:nvSpPr>
                <p:cNvPr id="15406" name="任意多边形 17458"/>
                <p:cNvSpPr/>
                <p:nvPr/>
              </p:nvSpPr>
              <p:spPr>
                <a:xfrm>
                  <a:off x="856" y="1409"/>
                  <a:ext cx="34" cy="288"/>
                </a:xfrm>
                <a:custGeom>
                  <a:avLst/>
                  <a:gdLst/>
                  <a:ahLst/>
                  <a:cxnLst>
                    <a:cxn ang="270">
                      <a:pos x="0" y="0"/>
                    </a:cxn>
                    <a:cxn ang="90">
                      <a:pos x="0" y="43200"/>
                    </a:cxn>
                    <a:cxn ang="90">
                      <a:pos x="0" y="21600"/>
                    </a:cxn>
                  </a:cxnLst>
                  <a:rect l="0" t="0" r="0" b="0"/>
                  <a:pathLst>
                    <a:path w="21600" h="43200" fill="none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</a:path>
                    <a:path w="21600" h="43200" stroke="0">
                      <a:moveTo>
                        <a:pt x="0" y="0"/>
                      </a:moveTo>
                      <a:cubicBezTo>
                        <a:pt x="11929" y="0"/>
                        <a:pt x="21600" y="9671"/>
                        <a:pt x="21600" y="21600"/>
                      </a:cubicBezTo>
                      <a:cubicBezTo>
                        <a:pt x="21600" y="33529"/>
                        <a:pt x="11929" y="43200"/>
                        <a:pt x="0" y="432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7" name="任意多边形 17459"/>
                <p:cNvSpPr/>
                <p:nvPr/>
              </p:nvSpPr>
              <p:spPr>
                <a:xfrm>
                  <a:off x="827" y="1409"/>
                  <a:ext cx="34" cy="288"/>
                </a:xfrm>
                <a:custGeom>
                  <a:avLst/>
                  <a:gdLst/>
                  <a:ahLst/>
                  <a:cxnLst>
                    <a:cxn ang="90">
                      <a:pos x="21599" y="43200"/>
                    </a:cxn>
                    <a:cxn ang="270">
                      <a:pos x="21600" y="0"/>
                    </a:cxn>
                    <a:cxn ang="90">
                      <a:pos x="21600" y="21600"/>
                    </a:cxn>
                  </a:cxnLst>
                  <a:rect l="0" t="0" r="0" b="0"/>
                  <a:pathLst>
                    <a:path w="21600" h="43200" fill="none">
                      <a:moveTo>
                        <a:pt x="21599" y="43200"/>
                      </a:moveTo>
                      <a:cubicBezTo>
                        <a:pt x="9670" y="43199"/>
                        <a:pt x="0" y="33529"/>
                        <a:pt x="0" y="21600"/>
                      </a:cubicBezTo>
                      <a:cubicBezTo>
                        <a:pt x="0" y="9671"/>
                        <a:pt x="9671" y="0"/>
                        <a:pt x="21600" y="0"/>
                      </a:cubicBezTo>
                    </a:path>
                    <a:path w="21600" h="43200" stroke="0">
                      <a:moveTo>
                        <a:pt x="21599" y="43200"/>
                      </a:moveTo>
                      <a:cubicBezTo>
                        <a:pt x="9670" y="43199"/>
                        <a:pt x="0" y="33529"/>
                        <a:pt x="0" y="21600"/>
                      </a:cubicBezTo>
                      <a:cubicBezTo>
                        <a:pt x="0" y="9671"/>
                        <a:pt x="9671" y="0"/>
                        <a:pt x="21600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6A6340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8" name="圆角矩形 17460"/>
                <p:cNvSpPr/>
                <p:nvPr/>
              </p:nvSpPr>
              <p:spPr>
                <a:xfrm>
                  <a:off x="798" y="1694"/>
                  <a:ext cx="122" cy="53"/>
                </a:xfrm>
                <a:prstGeom prst="roundRect">
                  <a:avLst>
                    <a:gd name="adj" fmla="val 49995"/>
                  </a:avLst>
                </a:prstGeom>
                <a:gradFill rotWithShape="0">
                  <a:gsLst>
                    <a:gs pos="0">
                      <a:srgbClr val="6A6340"/>
                    </a:gs>
                    <a:gs pos="5000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anchor="t"/>
                <a:lstStyle/>
                <a:p>
                  <a:pPr lvl="0" eaLnBrk="1" hangingPunct="1"/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09" name="任意多边形 17461"/>
                <p:cNvSpPr/>
                <p:nvPr/>
              </p:nvSpPr>
              <p:spPr>
                <a:xfrm>
                  <a:off x="634" y="1467"/>
                  <a:ext cx="221" cy="2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1" h="230">
                      <a:moveTo>
                        <a:pt x="220" y="229"/>
                      </a:moveTo>
                      <a:lnTo>
                        <a:pt x="212" y="204"/>
                      </a:lnTo>
                      <a:lnTo>
                        <a:pt x="202" y="180"/>
                      </a:lnTo>
                      <a:lnTo>
                        <a:pt x="194" y="158"/>
                      </a:lnTo>
                      <a:lnTo>
                        <a:pt x="190" y="136"/>
                      </a:lnTo>
                      <a:lnTo>
                        <a:pt x="188" y="111"/>
                      </a:lnTo>
                      <a:lnTo>
                        <a:pt x="185" y="85"/>
                      </a:lnTo>
                      <a:lnTo>
                        <a:pt x="183" y="72"/>
                      </a:lnTo>
                      <a:lnTo>
                        <a:pt x="181" y="61"/>
                      </a:lnTo>
                      <a:lnTo>
                        <a:pt x="178" y="52"/>
                      </a:lnTo>
                      <a:lnTo>
                        <a:pt x="173" y="43"/>
                      </a:lnTo>
                      <a:lnTo>
                        <a:pt x="169" y="37"/>
                      </a:lnTo>
                      <a:lnTo>
                        <a:pt x="164" y="30"/>
                      </a:lnTo>
                      <a:lnTo>
                        <a:pt x="157" y="24"/>
                      </a:lnTo>
                      <a:lnTo>
                        <a:pt x="150" y="18"/>
                      </a:lnTo>
                      <a:lnTo>
                        <a:pt x="143" y="13"/>
                      </a:lnTo>
                      <a:lnTo>
                        <a:pt x="134" y="9"/>
                      </a:lnTo>
                      <a:lnTo>
                        <a:pt x="124" y="5"/>
                      </a:lnTo>
                      <a:lnTo>
                        <a:pt x="112" y="2"/>
                      </a:lnTo>
                      <a:lnTo>
                        <a:pt x="100" y="0"/>
                      </a:lnTo>
                      <a:lnTo>
                        <a:pt x="88" y="0"/>
                      </a:lnTo>
                      <a:lnTo>
                        <a:pt x="76" y="0"/>
                      </a:lnTo>
                      <a:lnTo>
                        <a:pt x="65" y="2"/>
                      </a:lnTo>
                      <a:lnTo>
                        <a:pt x="54" y="7"/>
                      </a:lnTo>
                      <a:lnTo>
                        <a:pt x="45" y="10"/>
                      </a:lnTo>
                      <a:lnTo>
                        <a:pt x="35" y="16"/>
                      </a:lnTo>
                      <a:lnTo>
                        <a:pt x="25" y="24"/>
                      </a:lnTo>
                      <a:lnTo>
                        <a:pt x="18" y="31"/>
                      </a:lnTo>
                      <a:lnTo>
                        <a:pt x="11" y="41"/>
                      </a:lnTo>
                      <a:lnTo>
                        <a:pt x="5" y="51"/>
                      </a:lnTo>
                      <a:lnTo>
                        <a:pt x="1" y="63"/>
                      </a:lnTo>
                      <a:lnTo>
                        <a:pt x="0" y="73"/>
                      </a:lnTo>
                      <a:lnTo>
                        <a:pt x="0" y="79"/>
                      </a:lnTo>
                      <a:lnTo>
                        <a:pt x="3" y="72"/>
                      </a:lnTo>
                      <a:lnTo>
                        <a:pt x="8" y="67"/>
                      </a:lnTo>
                      <a:lnTo>
                        <a:pt x="15" y="64"/>
                      </a:lnTo>
                      <a:lnTo>
                        <a:pt x="25" y="60"/>
                      </a:lnTo>
                      <a:lnTo>
                        <a:pt x="35" y="58"/>
                      </a:lnTo>
                      <a:lnTo>
                        <a:pt x="46" y="57"/>
                      </a:lnTo>
                      <a:lnTo>
                        <a:pt x="56" y="57"/>
                      </a:lnTo>
                      <a:lnTo>
                        <a:pt x="67" y="60"/>
                      </a:lnTo>
                      <a:lnTo>
                        <a:pt x="74" y="63"/>
                      </a:lnTo>
                      <a:lnTo>
                        <a:pt x="81" y="67"/>
                      </a:lnTo>
                      <a:lnTo>
                        <a:pt x="87" y="73"/>
                      </a:lnTo>
                      <a:lnTo>
                        <a:pt x="91" y="78"/>
                      </a:lnTo>
                      <a:lnTo>
                        <a:pt x="93" y="85"/>
                      </a:lnTo>
                      <a:lnTo>
                        <a:pt x="95" y="92"/>
                      </a:lnTo>
                      <a:lnTo>
                        <a:pt x="96" y="102"/>
                      </a:lnTo>
                      <a:lnTo>
                        <a:pt x="98" y="112"/>
                      </a:lnTo>
                      <a:lnTo>
                        <a:pt x="100" y="124"/>
                      </a:lnTo>
                      <a:lnTo>
                        <a:pt x="103" y="135"/>
                      </a:lnTo>
                      <a:lnTo>
                        <a:pt x="106" y="147"/>
                      </a:lnTo>
                      <a:lnTo>
                        <a:pt x="111" y="158"/>
                      </a:lnTo>
                      <a:lnTo>
                        <a:pt x="116" y="168"/>
                      </a:lnTo>
                      <a:lnTo>
                        <a:pt x="123" y="180"/>
                      </a:lnTo>
                      <a:lnTo>
                        <a:pt x="131" y="190"/>
                      </a:lnTo>
                      <a:lnTo>
                        <a:pt x="140" y="199"/>
                      </a:lnTo>
                      <a:lnTo>
                        <a:pt x="150" y="207"/>
                      </a:lnTo>
                      <a:lnTo>
                        <a:pt x="163" y="215"/>
                      </a:lnTo>
                      <a:lnTo>
                        <a:pt x="172" y="219"/>
                      </a:lnTo>
                      <a:lnTo>
                        <a:pt x="183" y="223"/>
                      </a:lnTo>
                      <a:lnTo>
                        <a:pt x="194" y="226"/>
                      </a:lnTo>
                      <a:lnTo>
                        <a:pt x="207" y="228"/>
                      </a:lnTo>
                      <a:lnTo>
                        <a:pt x="220" y="229"/>
                      </a:lnTo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0" name="任意多边形 17462"/>
                <p:cNvSpPr/>
                <p:nvPr/>
              </p:nvSpPr>
              <p:spPr>
                <a:xfrm>
                  <a:off x="859" y="1467"/>
                  <a:ext cx="222" cy="23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2" h="230">
                      <a:moveTo>
                        <a:pt x="0" y="229"/>
                      </a:moveTo>
                      <a:lnTo>
                        <a:pt x="7" y="204"/>
                      </a:lnTo>
                      <a:lnTo>
                        <a:pt x="17" y="180"/>
                      </a:lnTo>
                      <a:lnTo>
                        <a:pt x="25" y="158"/>
                      </a:lnTo>
                      <a:lnTo>
                        <a:pt x="29" y="136"/>
                      </a:lnTo>
                      <a:lnTo>
                        <a:pt x="31" y="111"/>
                      </a:lnTo>
                      <a:lnTo>
                        <a:pt x="34" y="85"/>
                      </a:lnTo>
                      <a:lnTo>
                        <a:pt x="36" y="72"/>
                      </a:lnTo>
                      <a:lnTo>
                        <a:pt x="38" y="61"/>
                      </a:lnTo>
                      <a:lnTo>
                        <a:pt x="41" y="52"/>
                      </a:lnTo>
                      <a:lnTo>
                        <a:pt x="46" y="43"/>
                      </a:lnTo>
                      <a:lnTo>
                        <a:pt x="50" y="37"/>
                      </a:lnTo>
                      <a:lnTo>
                        <a:pt x="56" y="30"/>
                      </a:lnTo>
                      <a:lnTo>
                        <a:pt x="62" y="24"/>
                      </a:lnTo>
                      <a:lnTo>
                        <a:pt x="69" y="18"/>
                      </a:lnTo>
                      <a:lnTo>
                        <a:pt x="77" y="13"/>
                      </a:lnTo>
                      <a:lnTo>
                        <a:pt x="86" y="9"/>
                      </a:lnTo>
                      <a:lnTo>
                        <a:pt x="96" y="5"/>
                      </a:lnTo>
                      <a:lnTo>
                        <a:pt x="108" y="2"/>
                      </a:lnTo>
                      <a:lnTo>
                        <a:pt x="120" y="0"/>
                      </a:lnTo>
                      <a:lnTo>
                        <a:pt x="132" y="0"/>
                      </a:lnTo>
                      <a:lnTo>
                        <a:pt x="143" y="0"/>
                      </a:lnTo>
                      <a:lnTo>
                        <a:pt x="155" y="2"/>
                      </a:lnTo>
                      <a:lnTo>
                        <a:pt x="165" y="7"/>
                      </a:lnTo>
                      <a:lnTo>
                        <a:pt x="175" y="10"/>
                      </a:lnTo>
                      <a:lnTo>
                        <a:pt x="184" y="16"/>
                      </a:lnTo>
                      <a:lnTo>
                        <a:pt x="195" y="24"/>
                      </a:lnTo>
                      <a:lnTo>
                        <a:pt x="201" y="31"/>
                      </a:lnTo>
                      <a:lnTo>
                        <a:pt x="209" y="41"/>
                      </a:lnTo>
                      <a:lnTo>
                        <a:pt x="215" y="51"/>
                      </a:lnTo>
                      <a:lnTo>
                        <a:pt x="219" y="63"/>
                      </a:lnTo>
                      <a:lnTo>
                        <a:pt x="221" y="73"/>
                      </a:lnTo>
                      <a:lnTo>
                        <a:pt x="220" y="79"/>
                      </a:lnTo>
                      <a:lnTo>
                        <a:pt x="217" y="72"/>
                      </a:lnTo>
                      <a:lnTo>
                        <a:pt x="212" y="67"/>
                      </a:lnTo>
                      <a:lnTo>
                        <a:pt x="205" y="64"/>
                      </a:lnTo>
                      <a:lnTo>
                        <a:pt x="195" y="60"/>
                      </a:lnTo>
                      <a:lnTo>
                        <a:pt x="184" y="58"/>
                      </a:lnTo>
                      <a:lnTo>
                        <a:pt x="174" y="57"/>
                      </a:lnTo>
                      <a:lnTo>
                        <a:pt x="164" y="57"/>
                      </a:lnTo>
                      <a:lnTo>
                        <a:pt x="153" y="60"/>
                      </a:lnTo>
                      <a:lnTo>
                        <a:pt x="145" y="63"/>
                      </a:lnTo>
                      <a:lnTo>
                        <a:pt x="139" y="67"/>
                      </a:lnTo>
                      <a:lnTo>
                        <a:pt x="132" y="73"/>
                      </a:lnTo>
                      <a:lnTo>
                        <a:pt x="129" y="78"/>
                      </a:lnTo>
                      <a:lnTo>
                        <a:pt x="127" y="85"/>
                      </a:lnTo>
                      <a:lnTo>
                        <a:pt x="125" y="92"/>
                      </a:lnTo>
                      <a:lnTo>
                        <a:pt x="123" y="102"/>
                      </a:lnTo>
                      <a:lnTo>
                        <a:pt x="122" y="112"/>
                      </a:lnTo>
                      <a:lnTo>
                        <a:pt x="120" y="124"/>
                      </a:lnTo>
                      <a:lnTo>
                        <a:pt x="117" y="135"/>
                      </a:lnTo>
                      <a:lnTo>
                        <a:pt x="113" y="147"/>
                      </a:lnTo>
                      <a:lnTo>
                        <a:pt x="109" y="158"/>
                      </a:lnTo>
                      <a:lnTo>
                        <a:pt x="104" y="168"/>
                      </a:lnTo>
                      <a:lnTo>
                        <a:pt x="97" y="180"/>
                      </a:lnTo>
                      <a:lnTo>
                        <a:pt x="89" y="190"/>
                      </a:lnTo>
                      <a:lnTo>
                        <a:pt x="79" y="199"/>
                      </a:lnTo>
                      <a:lnTo>
                        <a:pt x="69" y="207"/>
                      </a:lnTo>
                      <a:lnTo>
                        <a:pt x="57" y="215"/>
                      </a:lnTo>
                      <a:lnTo>
                        <a:pt x="47" y="219"/>
                      </a:lnTo>
                      <a:lnTo>
                        <a:pt x="37" y="223"/>
                      </a:lnTo>
                      <a:lnTo>
                        <a:pt x="25" y="226"/>
                      </a:lnTo>
                      <a:lnTo>
                        <a:pt x="12" y="228"/>
                      </a:lnTo>
                      <a:lnTo>
                        <a:pt x="0" y="229"/>
                      </a:lnTo>
                    </a:path>
                  </a:pathLst>
                </a:cu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11" name="椭圆 17463"/>
                <p:cNvSpPr/>
                <p:nvPr/>
              </p:nvSpPr>
              <p:spPr>
                <a:xfrm>
                  <a:off x="829" y="1345"/>
                  <a:ext cx="56" cy="5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rgbClr val="6A634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lIns="92075" tIns="46038" rIns="92075" bIns="46038" anchor="ctr"/>
                <a:lstStyle/>
                <a:p>
                  <a:pPr lvl="0" eaLnBrk="1" hangingPunct="1">
                    <a:spcBef>
                      <a:spcPct val="50000"/>
                    </a:spcBef>
                  </a:pPr>
                  <a:endParaRPr lang="zh-CN" sz="2400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15412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10" name="标题 17409"/>
          <p:cNvSpPr>
            <a:spLocks noGrp="1"/>
          </p:cNvSpPr>
          <p:nvPr>
            <p:ph type="ctrTitle" sz="quarter"/>
          </p:nvPr>
        </p:nvSpPr>
        <p:spPr>
          <a:xfrm>
            <a:off x="1905000" y="1428750"/>
            <a:ext cx="7237730" cy="14668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lIns="92075" tIns="46038" rIns="92075" bIns="46038"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7411" name="副标题 17410"/>
          <p:cNvSpPr>
            <a:spLocks noGrp="1"/>
          </p:cNvSpPr>
          <p:nvPr>
            <p:ph type="subTitle" sz="quarter" idx="1"/>
          </p:nvPr>
        </p:nvSpPr>
        <p:spPr>
          <a:xfrm>
            <a:off x="1905000" y="4124325"/>
            <a:ext cx="7237413" cy="1752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>
            <a:lvl1pPr marL="0" lvl="0" indent="0"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Tx/>
              <a:buFontTx/>
              <a:buNone/>
              <a:defRPr/>
            </a:lvl2pPr>
            <a:lvl3pPr marL="914400" lvl="2" indent="0" algn="ctr">
              <a:buClr>
                <a:schemeClr val="hlink"/>
              </a:buClr>
              <a:buSzTx/>
              <a:buFontTx/>
              <a:buNone/>
              <a:defRPr/>
            </a:lvl3pPr>
            <a:lvl4pPr marL="1371600" lvl="3" indent="0" algn="ctr">
              <a:buClr>
                <a:schemeClr val="hlink"/>
              </a:buClr>
              <a:buSzTx/>
              <a:buFontTx/>
              <a:buNone/>
              <a:defRPr/>
            </a:lvl4pPr>
            <a:lvl5pPr marL="1828800" lvl="4" indent="0" algn="ctr">
              <a:buClr>
                <a:schemeClr val="hlink"/>
              </a:buClr>
              <a:buSzTx/>
              <a:buFontTx/>
              <a:buNone/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7412" name="日期占位符 17411"/>
          <p:cNvSpPr>
            <a:spLocks noGrp="1"/>
          </p:cNvSpPr>
          <p:nvPr>
            <p:ph type="dt" sz="quarter" idx="2"/>
          </p:nvPr>
        </p:nvSpPr>
        <p:spPr>
          <a:xfrm>
            <a:off x="2819400" y="54102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>
              <a:defRPr sz="3200" b="1">
                <a:latin typeface="Arial" panose="020B0604020202020204" pitchFamily="34" charset="0"/>
              </a:defRPr>
            </a:lvl1pPr>
          </a:lstStyle>
          <a:p>
            <a:pPr eaLnBrk="1" fontAlgn="base" hangingPunct="1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2021/3/18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7413" name="页脚占位符 17412"/>
          <p:cNvSpPr>
            <a:spLocks noGrp="1"/>
          </p:cNvSpPr>
          <p:nvPr>
            <p:ph type="ftr" sz="quarter" idx="3"/>
          </p:nvPr>
        </p:nvSpPr>
        <p:spPr>
          <a:xfrm>
            <a:off x="3767138" y="63198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ctr">
              <a:defRPr sz="1400"/>
            </a:lvl1pPr>
          </a:lstStyle>
          <a:p>
            <a:pPr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7414" name="灯片编号占位符 17413"/>
          <p:cNvSpPr>
            <a:spLocks noGrp="1"/>
          </p:cNvSpPr>
          <p:nvPr>
            <p:ph type="sldNum" sz="quarter" idx="4"/>
          </p:nvPr>
        </p:nvSpPr>
        <p:spPr>
          <a:xfrm>
            <a:off x="7196138" y="63198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r">
              <a:defRPr sz="1400"/>
            </a:lvl1pPr>
          </a:lstStyle>
          <a:p>
            <a:pPr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7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4070" y="0"/>
            <a:ext cx="8287385" cy="79629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150" y="0"/>
            <a:ext cx="8324215" cy="77724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4123516" cy="47148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77622" y="1524000"/>
            <a:ext cx="4123516" cy="471487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9945" y="0"/>
            <a:ext cx="8314055" cy="76962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28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9785" y="0"/>
            <a:ext cx="8324215" cy="625475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b"/>
          <a:lstStyle>
            <a:lvl1pPr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67980" y="0"/>
            <a:ext cx="1132840" cy="62388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6189542" cy="60102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6385"/>
          <p:cNvGrpSpPr/>
          <p:nvPr/>
        </p:nvGrpSpPr>
        <p:grpSpPr>
          <a:xfrm>
            <a:off x="0" y="-9525"/>
            <a:ext cx="838200" cy="6878638"/>
            <a:chOff x="0" y="-6"/>
            <a:chExt cx="981" cy="4333"/>
          </a:xfrm>
        </p:grpSpPr>
        <p:sp>
          <p:nvSpPr>
            <p:cNvPr id="1027" name="矩形 16386"/>
            <p:cNvSpPr/>
            <p:nvPr/>
          </p:nvSpPr>
          <p:spPr>
            <a:xfrm>
              <a:off x="453" y="2151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8" name="矩形 16387"/>
            <p:cNvSpPr/>
            <p:nvPr/>
          </p:nvSpPr>
          <p:spPr>
            <a:xfrm>
              <a:off x="0" y="2151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9" name="矩形 16388"/>
            <p:cNvSpPr/>
            <p:nvPr/>
          </p:nvSpPr>
          <p:spPr>
            <a:xfrm>
              <a:off x="222" y="2151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30" name="矩形 16389"/>
            <p:cNvSpPr/>
            <p:nvPr/>
          </p:nvSpPr>
          <p:spPr>
            <a:xfrm>
              <a:off x="567" y="2160"/>
              <a:ext cx="204" cy="2161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31" name="任意多边形 16390"/>
            <p:cNvSpPr/>
            <p:nvPr/>
          </p:nvSpPr>
          <p:spPr>
            <a:xfrm>
              <a:off x="222" y="2636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任意多边形 16391"/>
            <p:cNvSpPr/>
            <p:nvPr/>
          </p:nvSpPr>
          <p:spPr>
            <a:xfrm>
              <a:off x="222" y="2908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任意多边形 16392"/>
            <p:cNvSpPr/>
            <p:nvPr/>
          </p:nvSpPr>
          <p:spPr>
            <a:xfrm>
              <a:off x="222" y="3165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任意多边形 16393"/>
            <p:cNvSpPr/>
            <p:nvPr/>
          </p:nvSpPr>
          <p:spPr>
            <a:xfrm>
              <a:off x="222" y="3420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任意多边形 16394"/>
            <p:cNvSpPr/>
            <p:nvPr/>
          </p:nvSpPr>
          <p:spPr>
            <a:xfrm>
              <a:off x="222" y="367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任意多边形 16395"/>
            <p:cNvSpPr/>
            <p:nvPr/>
          </p:nvSpPr>
          <p:spPr>
            <a:xfrm>
              <a:off x="301" y="3932"/>
              <a:ext cx="265" cy="392"/>
            </a:xfrm>
            <a:custGeom>
              <a:avLst/>
              <a:gdLst/>
              <a:ahLst/>
              <a:cxnLst/>
              <a:rect l="0" t="0" r="0" b="0"/>
              <a:pathLst>
                <a:path w="265" h="392">
                  <a:moveTo>
                    <a:pt x="264" y="52"/>
                  </a:moveTo>
                  <a:lnTo>
                    <a:pt x="264" y="194"/>
                  </a:lnTo>
                  <a:lnTo>
                    <a:pt x="256" y="188"/>
                  </a:lnTo>
                  <a:lnTo>
                    <a:pt x="236" y="188"/>
                  </a:lnTo>
                  <a:lnTo>
                    <a:pt x="221" y="194"/>
                  </a:lnTo>
                  <a:lnTo>
                    <a:pt x="205" y="209"/>
                  </a:lnTo>
                  <a:lnTo>
                    <a:pt x="162" y="261"/>
                  </a:lnTo>
                  <a:lnTo>
                    <a:pt x="66" y="366"/>
                  </a:lnTo>
                  <a:lnTo>
                    <a:pt x="45" y="391"/>
                  </a:lnTo>
                  <a:lnTo>
                    <a:pt x="0" y="391"/>
                  </a:lnTo>
                  <a:lnTo>
                    <a:pt x="178" y="190"/>
                  </a:lnTo>
                  <a:lnTo>
                    <a:pt x="218" y="138"/>
                  </a:lnTo>
                  <a:lnTo>
                    <a:pt x="233" y="111"/>
                  </a:lnTo>
                  <a:lnTo>
                    <a:pt x="246" y="84"/>
                  </a:lnTo>
                  <a:lnTo>
                    <a:pt x="256" y="39"/>
                  </a:lnTo>
                  <a:lnTo>
                    <a:pt x="264" y="0"/>
                  </a:lnTo>
                  <a:lnTo>
                    <a:pt x="264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任意多边形 16396"/>
            <p:cNvSpPr/>
            <p:nvPr/>
          </p:nvSpPr>
          <p:spPr>
            <a:xfrm>
              <a:off x="222" y="2366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任意多边形 16397"/>
            <p:cNvSpPr/>
            <p:nvPr/>
          </p:nvSpPr>
          <p:spPr>
            <a:xfrm>
              <a:off x="222" y="2151"/>
              <a:ext cx="346" cy="575"/>
            </a:xfrm>
            <a:custGeom>
              <a:avLst/>
              <a:gdLst/>
              <a:ahLst/>
              <a:cxnLst/>
              <a:rect l="0" t="0" r="0" b="0"/>
              <a:pathLst>
                <a:path w="346" h="575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3"/>
                  </a:lnTo>
                  <a:lnTo>
                    <a:pt x="30" y="433"/>
                  </a:lnTo>
                  <a:lnTo>
                    <a:pt x="17" y="463"/>
                  </a:lnTo>
                  <a:lnTo>
                    <a:pt x="10" y="510"/>
                  </a:lnTo>
                  <a:lnTo>
                    <a:pt x="0" y="574"/>
                  </a:lnTo>
                  <a:lnTo>
                    <a:pt x="0" y="293"/>
                  </a:lnTo>
                  <a:lnTo>
                    <a:pt x="5" y="320"/>
                  </a:lnTo>
                  <a:lnTo>
                    <a:pt x="10" y="332"/>
                  </a:lnTo>
                  <a:lnTo>
                    <a:pt x="20" y="338"/>
                  </a:lnTo>
                  <a:lnTo>
                    <a:pt x="30" y="341"/>
                  </a:lnTo>
                  <a:lnTo>
                    <a:pt x="45" y="341"/>
                  </a:lnTo>
                  <a:lnTo>
                    <a:pt x="60" y="335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矩形 16398"/>
            <p:cNvSpPr/>
            <p:nvPr/>
          </p:nvSpPr>
          <p:spPr>
            <a:xfrm>
              <a:off x="453" y="-3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0" name="矩形 16399"/>
            <p:cNvSpPr/>
            <p:nvPr/>
          </p:nvSpPr>
          <p:spPr>
            <a:xfrm>
              <a:off x="0" y="-3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1" name="矩形 16400"/>
            <p:cNvSpPr/>
            <p:nvPr/>
          </p:nvSpPr>
          <p:spPr>
            <a:xfrm>
              <a:off x="222" y="-3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2" name="矩形 16401"/>
            <p:cNvSpPr/>
            <p:nvPr/>
          </p:nvSpPr>
          <p:spPr>
            <a:xfrm>
              <a:off x="567" y="-3"/>
              <a:ext cx="204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3" name="任意多边形 16402"/>
            <p:cNvSpPr/>
            <p:nvPr/>
          </p:nvSpPr>
          <p:spPr>
            <a:xfrm>
              <a:off x="222" y="49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任意多边形 16403"/>
            <p:cNvSpPr/>
            <p:nvPr/>
          </p:nvSpPr>
          <p:spPr>
            <a:xfrm>
              <a:off x="222" y="754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任意多边形 16404"/>
            <p:cNvSpPr/>
            <p:nvPr/>
          </p:nvSpPr>
          <p:spPr>
            <a:xfrm>
              <a:off x="222" y="1010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任意多边形 16405"/>
            <p:cNvSpPr/>
            <p:nvPr/>
          </p:nvSpPr>
          <p:spPr>
            <a:xfrm>
              <a:off x="222" y="126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任意多边形 16406"/>
            <p:cNvSpPr/>
            <p:nvPr/>
          </p:nvSpPr>
          <p:spPr>
            <a:xfrm>
              <a:off x="222" y="1522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任意多边形 16407"/>
            <p:cNvSpPr/>
            <p:nvPr/>
          </p:nvSpPr>
          <p:spPr>
            <a:xfrm>
              <a:off x="219" y="4178"/>
              <a:ext cx="349" cy="149"/>
            </a:xfrm>
            <a:custGeom>
              <a:avLst/>
              <a:gdLst/>
              <a:ahLst/>
              <a:cxnLst/>
              <a:rect l="0" t="0" r="0" b="0"/>
              <a:pathLst>
                <a:path w="349" h="149">
                  <a:moveTo>
                    <a:pt x="345" y="52"/>
                  </a:moveTo>
                  <a:lnTo>
                    <a:pt x="348" y="144"/>
                  </a:lnTo>
                  <a:lnTo>
                    <a:pt x="0" y="148"/>
                  </a:lnTo>
                  <a:lnTo>
                    <a:pt x="299" y="143"/>
                  </a:lnTo>
                  <a:lnTo>
                    <a:pt x="315" y="111"/>
                  </a:lnTo>
                  <a:lnTo>
                    <a:pt x="328" y="84"/>
                  </a:lnTo>
                  <a:lnTo>
                    <a:pt x="338" y="39"/>
                  </a:lnTo>
                  <a:lnTo>
                    <a:pt x="345" y="0"/>
                  </a:lnTo>
                  <a:lnTo>
                    <a:pt x="345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任意多边形 16408"/>
            <p:cNvSpPr/>
            <p:nvPr/>
          </p:nvSpPr>
          <p:spPr>
            <a:xfrm>
              <a:off x="222" y="211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任意多边形 16409"/>
            <p:cNvSpPr/>
            <p:nvPr/>
          </p:nvSpPr>
          <p:spPr>
            <a:xfrm>
              <a:off x="222" y="-3"/>
              <a:ext cx="346" cy="574"/>
            </a:xfrm>
            <a:custGeom>
              <a:avLst/>
              <a:gdLst/>
              <a:ahLst/>
              <a:cxnLst/>
              <a:rect l="0" t="0" r="0" b="0"/>
              <a:pathLst>
                <a:path w="346" h="574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2"/>
                  </a:lnTo>
                  <a:lnTo>
                    <a:pt x="30" y="432"/>
                  </a:lnTo>
                  <a:lnTo>
                    <a:pt x="17" y="462"/>
                  </a:lnTo>
                  <a:lnTo>
                    <a:pt x="10" y="509"/>
                  </a:lnTo>
                  <a:lnTo>
                    <a:pt x="0" y="573"/>
                  </a:lnTo>
                  <a:lnTo>
                    <a:pt x="0" y="292"/>
                  </a:lnTo>
                  <a:lnTo>
                    <a:pt x="5" y="319"/>
                  </a:lnTo>
                  <a:lnTo>
                    <a:pt x="10" y="331"/>
                  </a:lnTo>
                  <a:lnTo>
                    <a:pt x="20" y="337"/>
                  </a:lnTo>
                  <a:lnTo>
                    <a:pt x="30" y="340"/>
                  </a:lnTo>
                  <a:lnTo>
                    <a:pt x="45" y="340"/>
                  </a:lnTo>
                  <a:lnTo>
                    <a:pt x="60" y="334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任意多边形 16410"/>
            <p:cNvSpPr/>
            <p:nvPr/>
          </p:nvSpPr>
          <p:spPr>
            <a:xfrm>
              <a:off x="224" y="-6"/>
              <a:ext cx="154" cy="294"/>
            </a:xfrm>
            <a:custGeom>
              <a:avLst/>
              <a:gdLst/>
              <a:ahLst/>
              <a:cxnLst/>
              <a:rect l="0" t="0" r="0" b="0"/>
              <a:pathLst>
                <a:path w="154" h="294">
                  <a:moveTo>
                    <a:pt x="153" y="3"/>
                  </a:moveTo>
                  <a:lnTo>
                    <a:pt x="50" y="122"/>
                  </a:lnTo>
                  <a:lnTo>
                    <a:pt x="30" y="152"/>
                  </a:lnTo>
                  <a:lnTo>
                    <a:pt x="17" y="182"/>
                  </a:lnTo>
                  <a:lnTo>
                    <a:pt x="10" y="229"/>
                  </a:lnTo>
                  <a:lnTo>
                    <a:pt x="0" y="293"/>
                  </a:lnTo>
                  <a:lnTo>
                    <a:pt x="0" y="12"/>
                  </a:lnTo>
                  <a:lnTo>
                    <a:pt x="5" y="39"/>
                  </a:lnTo>
                  <a:lnTo>
                    <a:pt x="10" y="51"/>
                  </a:lnTo>
                  <a:lnTo>
                    <a:pt x="20" y="57"/>
                  </a:lnTo>
                  <a:lnTo>
                    <a:pt x="30" y="60"/>
                  </a:lnTo>
                  <a:lnTo>
                    <a:pt x="45" y="60"/>
                  </a:lnTo>
                  <a:lnTo>
                    <a:pt x="60" y="54"/>
                  </a:lnTo>
                  <a:lnTo>
                    <a:pt x="110" y="0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任意多边形 16411"/>
            <p:cNvSpPr/>
            <p:nvPr/>
          </p:nvSpPr>
          <p:spPr>
            <a:xfrm>
              <a:off x="222" y="179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矩形 16412"/>
            <p:cNvSpPr/>
            <p:nvPr/>
          </p:nvSpPr>
          <p:spPr>
            <a:xfrm>
              <a:off x="771" y="0"/>
              <a:ext cx="210" cy="4319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54" name="直接连接符 16413"/>
            <p:cNvSpPr/>
            <p:nvPr/>
          </p:nvSpPr>
          <p:spPr>
            <a:xfrm>
              <a:off x="13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055" name="直接连接符 16414"/>
            <p:cNvSpPr/>
            <p:nvPr/>
          </p:nvSpPr>
          <p:spPr>
            <a:xfrm>
              <a:off x="64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056" name="标题 16415"/>
          <p:cNvSpPr>
            <a:spLocks noGrp="1"/>
          </p:cNvSpPr>
          <p:nvPr>
            <p:ph type="title"/>
          </p:nvPr>
        </p:nvSpPr>
        <p:spPr>
          <a:xfrm>
            <a:off x="838200" y="-9525"/>
            <a:ext cx="8339138" cy="7381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57" name="文本占位符 16416"/>
          <p:cNvSpPr>
            <a:spLocks noGrp="1"/>
          </p:cNvSpPr>
          <p:nvPr>
            <p:ph type="body"/>
          </p:nvPr>
        </p:nvSpPr>
        <p:spPr>
          <a:xfrm>
            <a:off x="685800" y="1524000"/>
            <a:ext cx="8415338" cy="4714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6418" name="日期占位符 16417"/>
          <p:cNvSpPr>
            <a:spLocks noGrp="1"/>
          </p:cNvSpPr>
          <p:nvPr>
            <p:ph type="dt" sz="half" idx="2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>
              <a:defRPr sz="1400"/>
            </a:lvl1pPr>
          </a:lstStyle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6419" name="页脚占位符 16418"/>
          <p:cNvSpPr>
            <a:spLocks noGrp="1"/>
          </p:cNvSpPr>
          <p:nvPr>
            <p:ph type="ftr" sz="quarter" idx="3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ctr">
              <a:defRPr sz="1400"/>
            </a:lvl1pPr>
          </a:lstStyle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6420" name="灯片编号占位符 16419"/>
          <p:cNvSpPr>
            <a:spLocks noGrp="1"/>
          </p:cNvSpPr>
          <p:nvPr>
            <p:ph type="sldNum" sz="quarter" idx="4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32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–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6385"/>
          <p:cNvGrpSpPr/>
          <p:nvPr userDrawn="1"/>
        </p:nvGrpSpPr>
        <p:grpSpPr>
          <a:xfrm>
            <a:off x="0" y="-9525"/>
            <a:ext cx="838200" cy="6878638"/>
            <a:chOff x="0" y="-6"/>
            <a:chExt cx="981" cy="4333"/>
          </a:xfrm>
        </p:grpSpPr>
        <p:sp>
          <p:nvSpPr>
            <p:cNvPr id="2051" name="矩形 16386"/>
            <p:cNvSpPr/>
            <p:nvPr/>
          </p:nvSpPr>
          <p:spPr>
            <a:xfrm>
              <a:off x="453" y="2151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2" name="矩形 16387"/>
            <p:cNvSpPr/>
            <p:nvPr/>
          </p:nvSpPr>
          <p:spPr>
            <a:xfrm>
              <a:off x="0" y="2151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3" name="矩形 16388"/>
            <p:cNvSpPr/>
            <p:nvPr/>
          </p:nvSpPr>
          <p:spPr>
            <a:xfrm>
              <a:off x="222" y="2151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4" name="矩形 16389"/>
            <p:cNvSpPr/>
            <p:nvPr/>
          </p:nvSpPr>
          <p:spPr>
            <a:xfrm>
              <a:off x="567" y="2160"/>
              <a:ext cx="204" cy="2161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55" name="任意多边形 16390"/>
            <p:cNvSpPr/>
            <p:nvPr/>
          </p:nvSpPr>
          <p:spPr>
            <a:xfrm>
              <a:off x="222" y="2636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任意多边形 16391"/>
            <p:cNvSpPr/>
            <p:nvPr/>
          </p:nvSpPr>
          <p:spPr>
            <a:xfrm>
              <a:off x="222" y="2908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" name="任意多边形 16392"/>
            <p:cNvSpPr/>
            <p:nvPr/>
          </p:nvSpPr>
          <p:spPr>
            <a:xfrm>
              <a:off x="222" y="3165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任意多边形 16393"/>
            <p:cNvSpPr/>
            <p:nvPr/>
          </p:nvSpPr>
          <p:spPr>
            <a:xfrm>
              <a:off x="222" y="3420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任意多边形 16394"/>
            <p:cNvSpPr/>
            <p:nvPr/>
          </p:nvSpPr>
          <p:spPr>
            <a:xfrm>
              <a:off x="222" y="367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任意多边形 16395"/>
            <p:cNvSpPr/>
            <p:nvPr/>
          </p:nvSpPr>
          <p:spPr>
            <a:xfrm>
              <a:off x="301" y="3932"/>
              <a:ext cx="265" cy="392"/>
            </a:xfrm>
            <a:custGeom>
              <a:avLst/>
              <a:gdLst/>
              <a:ahLst/>
              <a:cxnLst/>
              <a:rect l="0" t="0" r="0" b="0"/>
              <a:pathLst>
                <a:path w="265" h="392">
                  <a:moveTo>
                    <a:pt x="264" y="52"/>
                  </a:moveTo>
                  <a:lnTo>
                    <a:pt x="264" y="194"/>
                  </a:lnTo>
                  <a:lnTo>
                    <a:pt x="256" y="188"/>
                  </a:lnTo>
                  <a:lnTo>
                    <a:pt x="236" y="188"/>
                  </a:lnTo>
                  <a:lnTo>
                    <a:pt x="221" y="194"/>
                  </a:lnTo>
                  <a:lnTo>
                    <a:pt x="205" y="209"/>
                  </a:lnTo>
                  <a:lnTo>
                    <a:pt x="162" y="261"/>
                  </a:lnTo>
                  <a:lnTo>
                    <a:pt x="66" y="366"/>
                  </a:lnTo>
                  <a:lnTo>
                    <a:pt x="45" y="391"/>
                  </a:lnTo>
                  <a:lnTo>
                    <a:pt x="0" y="391"/>
                  </a:lnTo>
                  <a:lnTo>
                    <a:pt x="178" y="190"/>
                  </a:lnTo>
                  <a:lnTo>
                    <a:pt x="218" y="138"/>
                  </a:lnTo>
                  <a:lnTo>
                    <a:pt x="233" y="111"/>
                  </a:lnTo>
                  <a:lnTo>
                    <a:pt x="246" y="84"/>
                  </a:lnTo>
                  <a:lnTo>
                    <a:pt x="256" y="39"/>
                  </a:lnTo>
                  <a:lnTo>
                    <a:pt x="264" y="0"/>
                  </a:lnTo>
                  <a:lnTo>
                    <a:pt x="264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任意多边形 16396"/>
            <p:cNvSpPr/>
            <p:nvPr/>
          </p:nvSpPr>
          <p:spPr>
            <a:xfrm>
              <a:off x="222" y="2366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任意多边形 16397"/>
            <p:cNvSpPr/>
            <p:nvPr/>
          </p:nvSpPr>
          <p:spPr>
            <a:xfrm>
              <a:off x="222" y="2151"/>
              <a:ext cx="346" cy="575"/>
            </a:xfrm>
            <a:custGeom>
              <a:avLst/>
              <a:gdLst/>
              <a:ahLst/>
              <a:cxnLst/>
              <a:rect l="0" t="0" r="0" b="0"/>
              <a:pathLst>
                <a:path w="346" h="575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3"/>
                  </a:lnTo>
                  <a:lnTo>
                    <a:pt x="30" y="433"/>
                  </a:lnTo>
                  <a:lnTo>
                    <a:pt x="17" y="463"/>
                  </a:lnTo>
                  <a:lnTo>
                    <a:pt x="10" y="510"/>
                  </a:lnTo>
                  <a:lnTo>
                    <a:pt x="0" y="574"/>
                  </a:lnTo>
                  <a:lnTo>
                    <a:pt x="0" y="293"/>
                  </a:lnTo>
                  <a:lnTo>
                    <a:pt x="5" y="320"/>
                  </a:lnTo>
                  <a:lnTo>
                    <a:pt x="10" y="332"/>
                  </a:lnTo>
                  <a:lnTo>
                    <a:pt x="20" y="338"/>
                  </a:lnTo>
                  <a:lnTo>
                    <a:pt x="30" y="341"/>
                  </a:lnTo>
                  <a:lnTo>
                    <a:pt x="45" y="341"/>
                  </a:lnTo>
                  <a:lnTo>
                    <a:pt x="60" y="335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矩形 16398"/>
            <p:cNvSpPr/>
            <p:nvPr/>
          </p:nvSpPr>
          <p:spPr>
            <a:xfrm>
              <a:off x="453" y="-3"/>
              <a:ext cx="114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64" name="矩形 16399"/>
            <p:cNvSpPr/>
            <p:nvPr/>
          </p:nvSpPr>
          <p:spPr>
            <a:xfrm>
              <a:off x="0" y="-3"/>
              <a:ext cx="221" cy="217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65" name="矩形 16400"/>
            <p:cNvSpPr/>
            <p:nvPr/>
          </p:nvSpPr>
          <p:spPr>
            <a:xfrm>
              <a:off x="222" y="-3"/>
              <a:ext cx="231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66" name="矩形 16401"/>
            <p:cNvSpPr/>
            <p:nvPr/>
          </p:nvSpPr>
          <p:spPr>
            <a:xfrm>
              <a:off x="567" y="-3"/>
              <a:ext cx="204" cy="2170"/>
            </a:xfrm>
            <a:prstGeom prst="rect">
              <a:avLst/>
            </a:prstGeom>
            <a:gradFill rotWithShape="0">
              <a:gsLst>
                <a:gs pos="0">
                  <a:srgbClr val="6A6340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lIns="92075" tIns="46038" rIns="92075" bIns="46038" anchor="ctr"/>
            <a:lstStyle/>
            <a:p>
              <a:pPr lvl="0" eaLnBrk="1" hangingPunct="1">
                <a:spcBef>
                  <a:spcPct val="50000"/>
                </a:spcBef>
              </a:pPr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67" name="任意多边形 16402"/>
            <p:cNvSpPr/>
            <p:nvPr/>
          </p:nvSpPr>
          <p:spPr>
            <a:xfrm>
              <a:off x="222" y="497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" name="任意多边形 16403"/>
            <p:cNvSpPr/>
            <p:nvPr/>
          </p:nvSpPr>
          <p:spPr>
            <a:xfrm>
              <a:off x="222" y="754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" name="任意多边形 16404"/>
            <p:cNvSpPr/>
            <p:nvPr/>
          </p:nvSpPr>
          <p:spPr>
            <a:xfrm>
              <a:off x="222" y="1010"/>
              <a:ext cx="344" cy="645"/>
            </a:xfrm>
            <a:custGeom>
              <a:avLst/>
              <a:gdLst/>
              <a:ahLst/>
              <a:cxnLst/>
              <a:rect l="0" t="0" r="0" b="0"/>
              <a:pathLst>
                <a:path w="344" h="645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5"/>
                  </a:lnTo>
                  <a:lnTo>
                    <a:pt x="50" y="473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0"/>
                  </a:lnTo>
                  <a:lnTo>
                    <a:pt x="0" y="644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任意多边形 16405"/>
            <p:cNvSpPr/>
            <p:nvPr/>
          </p:nvSpPr>
          <p:spPr>
            <a:xfrm>
              <a:off x="222" y="126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任意多边形 16406"/>
            <p:cNvSpPr/>
            <p:nvPr/>
          </p:nvSpPr>
          <p:spPr>
            <a:xfrm>
              <a:off x="222" y="1522"/>
              <a:ext cx="344" cy="647"/>
            </a:xfrm>
            <a:custGeom>
              <a:avLst/>
              <a:gdLst/>
              <a:ahLst/>
              <a:cxnLst/>
              <a:rect l="0" t="0" r="0" b="0"/>
              <a:pathLst>
                <a:path w="344" h="647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1"/>
                  </a:lnTo>
                  <a:lnTo>
                    <a:pt x="146" y="366"/>
                  </a:lnTo>
                  <a:lnTo>
                    <a:pt x="50" y="475"/>
                  </a:lnTo>
                  <a:lnTo>
                    <a:pt x="30" y="505"/>
                  </a:lnTo>
                  <a:lnTo>
                    <a:pt x="17" y="535"/>
                  </a:lnTo>
                  <a:lnTo>
                    <a:pt x="10" y="582"/>
                  </a:lnTo>
                  <a:lnTo>
                    <a:pt x="0" y="646"/>
                  </a:lnTo>
                  <a:lnTo>
                    <a:pt x="0" y="365"/>
                  </a:lnTo>
                  <a:lnTo>
                    <a:pt x="5" y="392"/>
                  </a:lnTo>
                  <a:lnTo>
                    <a:pt x="10" y="404"/>
                  </a:lnTo>
                  <a:lnTo>
                    <a:pt x="20" y="410"/>
                  </a:lnTo>
                  <a:lnTo>
                    <a:pt x="30" y="413"/>
                  </a:lnTo>
                  <a:lnTo>
                    <a:pt x="45" y="413"/>
                  </a:lnTo>
                  <a:lnTo>
                    <a:pt x="60" y="407"/>
                  </a:lnTo>
                  <a:lnTo>
                    <a:pt x="257" y="190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2" name="任意多边形 16407"/>
            <p:cNvSpPr/>
            <p:nvPr/>
          </p:nvSpPr>
          <p:spPr>
            <a:xfrm>
              <a:off x="219" y="4178"/>
              <a:ext cx="349" cy="149"/>
            </a:xfrm>
            <a:custGeom>
              <a:avLst/>
              <a:gdLst/>
              <a:ahLst/>
              <a:cxnLst/>
              <a:rect l="0" t="0" r="0" b="0"/>
              <a:pathLst>
                <a:path w="349" h="149">
                  <a:moveTo>
                    <a:pt x="345" y="52"/>
                  </a:moveTo>
                  <a:lnTo>
                    <a:pt x="348" y="144"/>
                  </a:lnTo>
                  <a:lnTo>
                    <a:pt x="0" y="148"/>
                  </a:lnTo>
                  <a:lnTo>
                    <a:pt x="299" y="143"/>
                  </a:lnTo>
                  <a:lnTo>
                    <a:pt x="315" y="111"/>
                  </a:lnTo>
                  <a:lnTo>
                    <a:pt x="328" y="84"/>
                  </a:lnTo>
                  <a:lnTo>
                    <a:pt x="338" y="39"/>
                  </a:lnTo>
                  <a:lnTo>
                    <a:pt x="345" y="0"/>
                  </a:lnTo>
                  <a:lnTo>
                    <a:pt x="345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3" name="任意多边形 16408"/>
            <p:cNvSpPr/>
            <p:nvPr/>
          </p:nvSpPr>
          <p:spPr>
            <a:xfrm>
              <a:off x="222" y="211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4" name="任意多边形 16409"/>
            <p:cNvSpPr/>
            <p:nvPr/>
          </p:nvSpPr>
          <p:spPr>
            <a:xfrm>
              <a:off x="222" y="-3"/>
              <a:ext cx="346" cy="574"/>
            </a:xfrm>
            <a:custGeom>
              <a:avLst/>
              <a:gdLst/>
              <a:ahLst/>
              <a:cxnLst/>
              <a:rect l="0" t="0" r="0" b="0"/>
              <a:pathLst>
                <a:path w="346" h="574">
                  <a:moveTo>
                    <a:pt x="345" y="0"/>
                  </a:moveTo>
                  <a:lnTo>
                    <a:pt x="343" y="122"/>
                  </a:lnTo>
                  <a:lnTo>
                    <a:pt x="336" y="116"/>
                  </a:lnTo>
                  <a:lnTo>
                    <a:pt x="315" y="116"/>
                  </a:lnTo>
                  <a:lnTo>
                    <a:pt x="300" y="122"/>
                  </a:lnTo>
                  <a:lnTo>
                    <a:pt x="285" y="137"/>
                  </a:lnTo>
                  <a:lnTo>
                    <a:pt x="242" y="188"/>
                  </a:lnTo>
                  <a:lnTo>
                    <a:pt x="146" y="294"/>
                  </a:lnTo>
                  <a:lnTo>
                    <a:pt x="50" y="402"/>
                  </a:lnTo>
                  <a:lnTo>
                    <a:pt x="30" y="432"/>
                  </a:lnTo>
                  <a:lnTo>
                    <a:pt x="17" y="462"/>
                  </a:lnTo>
                  <a:lnTo>
                    <a:pt x="10" y="509"/>
                  </a:lnTo>
                  <a:lnTo>
                    <a:pt x="0" y="573"/>
                  </a:lnTo>
                  <a:lnTo>
                    <a:pt x="0" y="292"/>
                  </a:lnTo>
                  <a:lnTo>
                    <a:pt x="5" y="319"/>
                  </a:lnTo>
                  <a:lnTo>
                    <a:pt x="10" y="331"/>
                  </a:lnTo>
                  <a:lnTo>
                    <a:pt x="20" y="337"/>
                  </a:lnTo>
                  <a:lnTo>
                    <a:pt x="30" y="340"/>
                  </a:lnTo>
                  <a:lnTo>
                    <a:pt x="45" y="340"/>
                  </a:lnTo>
                  <a:lnTo>
                    <a:pt x="60" y="334"/>
                  </a:lnTo>
                  <a:lnTo>
                    <a:pt x="257" y="117"/>
                  </a:lnTo>
                  <a:lnTo>
                    <a:pt x="298" y="66"/>
                  </a:lnTo>
                  <a:lnTo>
                    <a:pt x="313" y="39"/>
                  </a:lnTo>
                  <a:lnTo>
                    <a:pt x="326" y="12"/>
                  </a:lnTo>
                  <a:lnTo>
                    <a:pt x="329" y="0"/>
                  </a:lnTo>
                  <a:lnTo>
                    <a:pt x="345" y="3"/>
                  </a:lnTo>
                  <a:lnTo>
                    <a:pt x="343" y="45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5" name="任意多边形 16410"/>
            <p:cNvSpPr/>
            <p:nvPr/>
          </p:nvSpPr>
          <p:spPr>
            <a:xfrm>
              <a:off x="224" y="-6"/>
              <a:ext cx="154" cy="294"/>
            </a:xfrm>
            <a:custGeom>
              <a:avLst/>
              <a:gdLst/>
              <a:ahLst/>
              <a:cxnLst/>
              <a:rect l="0" t="0" r="0" b="0"/>
              <a:pathLst>
                <a:path w="154" h="294">
                  <a:moveTo>
                    <a:pt x="153" y="3"/>
                  </a:moveTo>
                  <a:lnTo>
                    <a:pt x="50" y="122"/>
                  </a:lnTo>
                  <a:lnTo>
                    <a:pt x="30" y="152"/>
                  </a:lnTo>
                  <a:lnTo>
                    <a:pt x="17" y="182"/>
                  </a:lnTo>
                  <a:lnTo>
                    <a:pt x="10" y="229"/>
                  </a:lnTo>
                  <a:lnTo>
                    <a:pt x="0" y="293"/>
                  </a:lnTo>
                  <a:lnTo>
                    <a:pt x="0" y="12"/>
                  </a:lnTo>
                  <a:lnTo>
                    <a:pt x="5" y="39"/>
                  </a:lnTo>
                  <a:lnTo>
                    <a:pt x="10" y="51"/>
                  </a:lnTo>
                  <a:lnTo>
                    <a:pt x="20" y="57"/>
                  </a:lnTo>
                  <a:lnTo>
                    <a:pt x="30" y="60"/>
                  </a:lnTo>
                  <a:lnTo>
                    <a:pt x="45" y="60"/>
                  </a:lnTo>
                  <a:lnTo>
                    <a:pt x="60" y="54"/>
                  </a:lnTo>
                  <a:lnTo>
                    <a:pt x="110" y="0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6" name="任意多边形 16411"/>
            <p:cNvSpPr/>
            <p:nvPr/>
          </p:nvSpPr>
          <p:spPr>
            <a:xfrm>
              <a:off x="222" y="1796"/>
              <a:ext cx="344" cy="646"/>
            </a:xfrm>
            <a:custGeom>
              <a:avLst/>
              <a:gdLst/>
              <a:ahLst/>
              <a:cxnLst/>
              <a:rect l="0" t="0" r="0" b="0"/>
              <a:pathLst>
                <a:path w="344" h="646">
                  <a:moveTo>
                    <a:pt x="343" y="52"/>
                  </a:moveTo>
                  <a:lnTo>
                    <a:pt x="343" y="194"/>
                  </a:lnTo>
                  <a:lnTo>
                    <a:pt x="335" y="188"/>
                  </a:lnTo>
                  <a:lnTo>
                    <a:pt x="315" y="188"/>
                  </a:lnTo>
                  <a:lnTo>
                    <a:pt x="300" y="194"/>
                  </a:lnTo>
                  <a:lnTo>
                    <a:pt x="284" y="209"/>
                  </a:lnTo>
                  <a:lnTo>
                    <a:pt x="242" y="260"/>
                  </a:lnTo>
                  <a:lnTo>
                    <a:pt x="146" y="366"/>
                  </a:lnTo>
                  <a:lnTo>
                    <a:pt x="50" y="474"/>
                  </a:lnTo>
                  <a:lnTo>
                    <a:pt x="30" y="504"/>
                  </a:lnTo>
                  <a:lnTo>
                    <a:pt x="17" y="534"/>
                  </a:lnTo>
                  <a:lnTo>
                    <a:pt x="10" y="581"/>
                  </a:lnTo>
                  <a:lnTo>
                    <a:pt x="0" y="645"/>
                  </a:lnTo>
                  <a:lnTo>
                    <a:pt x="0" y="364"/>
                  </a:lnTo>
                  <a:lnTo>
                    <a:pt x="5" y="391"/>
                  </a:lnTo>
                  <a:lnTo>
                    <a:pt x="10" y="403"/>
                  </a:lnTo>
                  <a:lnTo>
                    <a:pt x="20" y="409"/>
                  </a:lnTo>
                  <a:lnTo>
                    <a:pt x="30" y="412"/>
                  </a:lnTo>
                  <a:lnTo>
                    <a:pt x="45" y="412"/>
                  </a:lnTo>
                  <a:lnTo>
                    <a:pt x="60" y="406"/>
                  </a:lnTo>
                  <a:lnTo>
                    <a:pt x="257" y="189"/>
                  </a:lnTo>
                  <a:lnTo>
                    <a:pt x="297" y="138"/>
                  </a:lnTo>
                  <a:lnTo>
                    <a:pt x="312" y="111"/>
                  </a:lnTo>
                  <a:lnTo>
                    <a:pt x="325" y="84"/>
                  </a:lnTo>
                  <a:lnTo>
                    <a:pt x="335" y="39"/>
                  </a:lnTo>
                  <a:lnTo>
                    <a:pt x="343" y="0"/>
                  </a:lnTo>
                  <a:lnTo>
                    <a:pt x="343" y="117"/>
                  </a:lnTo>
                </a:path>
              </a:pathLst>
            </a:custGeom>
            <a:gradFill rotWithShape="0">
              <a:gsLst>
                <a:gs pos="0">
                  <a:srgbClr val="6A6340"/>
                </a:gs>
                <a:gs pos="50000">
                  <a:schemeClr val="accent1"/>
                </a:gs>
                <a:gs pos="100000">
                  <a:srgbClr val="6A634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7" name="矩形 16412"/>
            <p:cNvSpPr/>
            <p:nvPr/>
          </p:nvSpPr>
          <p:spPr>
            <a:xfrm>
              <a:off x="771" y="0"/>
              <a:ext cx="210" cy="4319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/>
            <a:lstStyle/>
            <a:p>
              <a:pPr lvl="0" eaLnBrk="1" hangingPunct="1"/>
              <a:endParaRPr lang="zh-CN" sz="24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78" name="直接连接符 16413"/>
            <p:cNvSpPr/>
            <p:nvPr/>
          </p:nvSpPr>
          <p:spPr>
            <a:xfrm>
              <a:off x="13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079" name="直接连接符 16414"/>
            <p:cNvSpPr/>
            <p:nvPr/>
          </p:nvSpPr>
          <p:spPr>
            <a:xfrm>
              <a:off x="645" y="0"/>
              <a:ext cx="0" cy="4319"/>
            </a:xfrm>
            <a:prstGeom prst="line">
              <a:avLst/>
            </a:prstGeom>
            <a:ln w="12700" cap="sq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080" name="标题 16415"/>
          <p:cNvSpPr>
            <a:spLocks noGrp="1"/>
          </p:cNvSpPr>
          <p:nvPr>
            <p:ph type="title"/>
          </p:nvPr>
        </p:nvSpPr>
        <p:spPr>
          <a:xfrm>
            <a:off x="838200" y="-9525"/>
            <a:ext cx="8339138" cy="7381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81" name="文本占位符 16416"/>
          <p:cNvSpPr>
            <a:spLocks noGrp="1"/>
          </p:cNvSpPr>
          <p:nvPr>
            <p:ph type="body"/>
          </p:nvPr>
        </p:nvSpPr>
        <p:spPr>
          <a:xfrm>
            <a:off x="685800" y="1524000"/>
            <a:ext cx="8415338" cy="47148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6418" name="日期占位符 16417"/>
          <p:cNvSpPr>
            <a:spLocks noGrp="1"/>
          </p:cNvSpPr>
          <p:nvPr>
            <p:ph type="dt" sz="half" idx="2"/>
          </p:nvPr>
        </p:nvSpPr>
        <p:spPr>
          <a:xfrm>
            <a:off x="1447800" y="6367463"/>
            <a:ext cx="14097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>
              <a:defRPr sz="1400"/>
            </a:lvl1pPr>
          </a:lstStyle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6419" name="页脚占位符 16418"/>
          <p:cNvSpPr>
            <a:spLocks noGrp="1"/>
          </p:cNvSpPr>
          <p:nvPr>
            <p:ph type="ftr" sz="quarter" idx="3"/>
          </p:nvPr>
        </p:nvSpPr>
        <p:spPr>
          <a:xfrm>
            <a:off x="4243388" y="6342063"/>
            <a:ext cx="2019300" cy="4905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ctr">
              <a:defRPr sz="1400"/>
            </a:lvl1pPr>
          </a:lstStyle>
          <a:p>
            <a:pPr lvl="0" eaLnBrk="1" fontAlgn="base" hangingPunct="1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16420" name="灯片编号占位符 16419"/>
          <p:cNvSpPr>
            <a:spLocks noGrp="1"/>
          </p:cNvSpPr>
          <p:nvPr>
            <p:ph type="sldNum" sz="quarter" idx="4"/>
          </p:nvPr>
        </p:nvSpPr>
        <p:spPr>
          <a:xfrm>
            <a:off x="8024813" y="6334125"/>
            <a:ext cx="1076325" cy="4984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2085" name="矩形 21"/>
          <p:cNvSpPr/>
          <p:nvPr userDrawn="1"/>
        </p:nvSpPr>
        <p:spPr>
          <a:xfrm>
            <a:off x="8623300" y="6378575"/>
            <a:ext cx="519113" cy="479425"/>
          </a:xfrm>
          <a:prstGeom prst="rect">
            <a:avLst/>
          </a:prstGeom>
          <a:gradFill rotWithShape="0">
            <a:gsLst>
              <a:gs pos="0">
                <a:srgbClr val="6A6340"/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/>
          <a:lstStyle/>
          <a:p>
            <a:pPr lvl="0" eaLnBrk="1" hangingPunct="1"/>
            <a:endParaRPr lang="zh-CN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32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–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–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FontTx/>
        <a:buChar char="•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副标题 7170"/>
          <p:cNvSpPr>
            <a:spLocks noGrp="1"/>
          </p:cNvSpPr>
          <p:nvPr>
            <p:ph type="subTitle" sz="quarter" idx="1"/>
          </p:nvPr>
        </p:nvSpPr>
        <p:spPr>
          <a:xfrm>
            <a:off x="2438400" y="2209800"/>
            <a:ext cx="6400800" cy="3886200"/>
          </a:xfrm>
          <a:ln/>
        </p:spPr>
        <p:txBody>
          <a:bodyPr lIns="92075" tIns="46038" rIns="92075" bIns="46038" anchor="t"/>
          <a:lstStyle/>
          <a:p>
            <a:pPr defTabSz="914400">
              <a:buSzTx/>
            </a:pP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§</a:t>
            </a:r>
            <a:r>
              <a:rPr lang="en-US" altLang="zh-CN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6.1  </a:t>
            </a: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定时器概述</a:t>
            </a:r>
            <a:endParaRPr lang="zh-CN" altLang="en-US" sz="2800" kern="1200" baseline="0">
              <a:solidFill>
                <a:srgbClr val="000000"/>
              </a:solidFill>
              <a:latin typeface="宋体" panose="02010600030101010101" pitchFamily="2" charset="-122"/>
              <a:ea typeface="+mn-ea"/>
              <a:cs typeface="+mn-cs"/>
              <a:hlinkClick r:id="" action="ppaction://noaction"/>
            </a:endParaRPr>
          </a:p>
          <a:p>
            <a:pPr defTabSz="914400">
              <a:buSzTx/>
            </a:pP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§</a:t>
            </a:r>
            <a:r>
              <a:rPr lang="en-US" altLang="zh-CN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6.2  </a:t>
            </a: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定时器的控制  </a:t>
            </a:r>
          </a:p>
          <a:p>
            <a:pPr defTabSz="914400">
              <a:buSzTx/>
            </a:pP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§</a:t>
            </a:r>
            <a:r>
              <a:rPr lang="en-US" altLang="zh-CN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6.3  </a:t>
            </a: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" action="ppaction://noaction"/>
              </a:rPr>
              <a:t>定时器的四种模式及应用  </a:t>
            </a:r>
          </a:p>
          <a:p>
            <a:pPr defTabSz="914400">
              <a:buSzTx/>
            </a:pP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§</a:t>
            </a:r>
            <a:r>
              <a:rPr lang="en-US" altLang="zh-CN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6.4  </a:t>
            </a:r>
            <a:r>
              <a:rPr lang="zh-CN" altLang="en-US" sz="2800" kern="1200" baseline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cs typeface="+mn-cs"/>
                <a:hlinkClick r:id="rId2" action="ppaction://hlinksldjump"/>
              </a:rPr>
              <a:t>思考题与习题</a:t>
            </a:r>
            <a:endParaRPr lang="zh-CN" altLang="en-US" sz="2800" kern="1200" baseline="0">
              <a:solidFill>
                <a:srgbClr val="000000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7173" name="标题 7172"/>
          <p:cNvSpPr>
            <a:spLocks noGrp="1"/>
          </p:cNvSpPr>
          <p:nvPr>
            <p:ph type="ctrTitle" sz="quarter"/>
          </p:nvPr>
        </p:nvSpPr>
        <p:spPr>
          <a:xfrm>
            <a:off x="2362200" y="762000"/>
            <a:ext cx="6403975" cy="1295400"/>
          </a:xfrm>
          <a:ln w="12700"/>
        </p:spPr>
        <p:txBody>
          <a:bodyPr vert="horz" wrap="square"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51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第六章 定时器及应用</a:t>
            </a:r>
            <a:endParaRPr kumimoji="0" lang="zh-CN" altLang="en-US" sz="2800" b="1" i="0" u="none" strike="noStrike" kern="1200" cap="none" spc="0" normalizeH="0" baseline="0" noProof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>
          <a:xfrm>
            <a:off x="852488" y="0"/>
            <a:ext cx="8291513" cy="793750"/>
          </a:xfrm>
          <a:solidFill>
            <a:schemeClr val="accent5">
              <a:lumMod val="60000"/>
              <a:lumOff val="40000"/>
            </a:schemeClr>
          </a:solidFill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6.1.1  8051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定时器结构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0482" name="文本占位符 24578"/>
          <p:cNvSpPr>
            <a:spLocks noGrp="1"/>
          </p:cNvSpPr>
          <p:nvPr>
            <p:ph idx="1"/>
          </p:nvPr>
        </p:nvSpPr>
        <p:spPr>
          <a:xfrm>
            <a:off x="852488" y="971550"/>
            <a:ext cx="8001000" cy="1231900"/>
          </a:xfrm>
          <a:ln/>
        </p:spPr>
        <p:txBody>
          <a:bodyPr lIns="92075" tIns="46038" rIns="92075" bIns="46038" anchor="t"/>
          <a:lstStyle/>
          <a:p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有两个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位的定时器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计数器，即定时器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）和定时器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）。它们实际上都是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位加</a:t>
            </a:r>
            <a:r>
              <a:rPr lang="en-US" altLang="zh-CN" sz="2000" dirty="0">
                <a:solidFill>
                  <a:srgbClr val="339966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339966"/>
                </a:solidFill>
                <a:latin typeface="宋体" panose="02010600030101010101" pitchFamily="2" charset="-122"/>
              </a:rPr>
              <a:t>计数器。</a:t>
            </a:r>
            <a:endParaRPr lang="zh-CN" altLang="en-US" sz="2000">
              <a:solidFill>
                <a:srgbClr val="339966"/>
              </a:solidFill>
              <a:latin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由两个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位特殊功能寄存器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TH0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TL0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构成；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TH1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000" dirty="0">
                <a:solidFill>
                  <a:srgbClr val="CC00FF"/>
                </a:solidFill>
                <a:latin typeface="宋体" panose="02010600030101010101" pitchFamily="2" charset="-122"/>
              </a:rPr>
              <a:t>TL1</a:t>
            </a:r>
            <a:r>
              <a:rPr lang="zh-CN" altLang="en-US" sz="2000" dirty="0">
                <a:solidFill>
                  <a:srgbClr val="CC00FF"/>
                </a:solidFill>
                <a:latin typeface="宋体" panose="02010600030101010101" pitchFamily="2" charset="-122"/>
              </a:rPr>
              <a:t>构成。</a:t>
            </a:r>
          </a:p>
        </p:txBody>
      </p:sp>
      <p:graphicFrame>
        <p:nvGraphicFramePr>
          <p:cNvPr id="20483" name="对象 125958"/>
          <p:cNvGraphicFramePr/>
          <p:nvPr/>
        </p:nvGraphicFramePr>
        <p:xfrm>
          <a:off x="1111250" y="2174875"/>
          <a:ext cx="7607300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029700" imgH="4381500" progId="Paint.Picture">
                  <p:embed/>
                </p:oleObj>
              </mc:Choice>
              <mc:Fallback>
                <p:oleObj r:id="rId2" imgW="9029700" imgH="438150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1250" y="2174875"/>
                        <a:ext cx="7607300" cy="351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文本框 125962"/>
          <p:cNvSpPr txBox="1"/>
          <p:nvPr/>
        </p:nvSpPr>
        <p:spPr>
          <a:xfrm>
            <a:off x="3551238" y="6002338"/>
            <a:ext cx="2603500" cy="368300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6-1  89C51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定时器结构</a:t>
            </a:r>
          </a:p>
        </p:txBody>
      </p:sp>
      <p:sp>
        <p:nvSpPr>
          <p:cNvPr id="2048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2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5601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6.1.2  8051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定时器功能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1506" name="文本占位符 25602"/>
          <p:cNvSpPr>
            <a:spLocks noGrp="1"/>
          </p:cNvSpPr>
          <p:nvPr>
            <p:ph idx="1"/>
          </p:nvPr>
        </p:nvSpPr>
        <p:spPr>
          <a:xfrm>
            <a:off x="766763" y="939800"/>
            <a:ext cx="8001000" cy="2486025"/>
          </a:xfrm>
          <a:ln/>
        </p:spPr>
        <p:txBody>
          <a:bodyPr lIns="92075" tIns="46038" rIns="92075" bIns="46038" anchor="t"/>
          <a:lstStyle/>
          <a:p>
            <a:pPr>
              <a:lnSpc>
                <a:spcPct val="140000"/>
              </a:lnSpc>
            </a:pPr>
            <a:r>
              <a:rPr lang="zh-CN" altLang="en-US" sz="1800" dirty="0">
                <a:latin typeface="宋体" panose="02010600030101010101" pitchFamily="2" charset="-122"/>
              </a:rPr>
              <a:t>每个定时器都可由软件设置为 </a:t>
            </a:r>
            <a:r>
              <a:rPr lang="zh-CN" altLang="en-US" sz="1800" u="sng" dirty="0">
                <a:latin typeface="黑体" panose="02010609060101010101" pitchFamily="2" charset="-122"/>
                <a:ea typeface="黑体" panose="02010609060101010101" pitchFamily="2" charset="-122"/>
                <a:hlinkClick r:id="" action="ppaction://noaction"/>
              </a:rPr>
              <a:t>定时工作方式</a:t>
            </a:r>
            <a:r>
              <a:rPr lang="zh-CN" altLang="en-US" sz="1800" dirty="0">
                <a:latin typeface="宋体" panose="02010600030101010101" pitchFamily="2" charset="-122"/>
              </a:rPr>
              <a:t>或  </a:t>
            </a:r>
            <a:r>
              <a:rPr lang="zh-CN" altLang="en-US" sz="1800" u="sng" dirty="0">
                <a:latin typeface="宋体" panose="02010600030101010101" pitchFamily="2" charset="-122"/>
                <a:hlinkClick r:id="" action="ppaction://noaction"/>
              </a:rPr>
              <a:t>计数工作方式</a:t>
            </a:r>
            <a:r>
              <a:rPr lang="zh-CN" altLang="en-US" sz="1800" dirty="0">
                <a:latin typeface="宋体" panose="02010600030101010101" pitchFamily="2" charset="-122"/>
              </a:rPr>
              <a:t>及其他灵活多样的可控功能方式。这些功能由特殊功能寄存器</a:t>
            </a:r>
            <a:r>
              <a:rPr lang="en-US" altLang="zh-CN" sz="1800" dirty="0">
                <a:latin typeface="宋体" panose="02010600030101010101" pitchFamily="2" charset="-122"/>
              </a:rPr>
              <a:t>TMOD</a:t>
            </a:r>
            <a:r>
              <a:rPr lang="zh-CN" altLang="en-US" sz="1800" dirty="0">
                <a:latin typeface="宋体" panose="02010600030101010101" pitchFamily="2" charset="-122"/>
              </a:rPr>
              <a:t>和</a:t>
            </a:r>
            <a:r>
              <a:rPr lang="en-US" altLang="zh-CN" sz="1800" dirty="0">
                <a:latin typeface="宋体" panose="02010600030101010101" pitchFamily="2" charset="-122"/>
              </a:rPr>
              <a:t>TCON</a:t>
            </a:r>
            <a:r>
              <a:rPr lang="zh-CN" altLang="en-US" sz="1800" dirty="0">
                <a:latin typeface="宋体" panose="02010600030101010101" pitchFamily="2" charset="-122"/>
              </a:rPr>
              <a:t>所控制。</a:t>
            </a: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定时器工作不占用</a:t>
            </a:r>
            <a:r>
              <a:rPr lang="en-US" altLang="zh-CN" sz="1800" dirty="0">
                <a:solidFill>
                  <a:srgbClr val="CC00FF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时间，除非定时器</a:t>
            </a:r>
            <a:r>
              <a:rPr lang="en-US" altLang="zh-CN" sz="1800" dirty="0">
                <a:solidFill>
                  <a:srgbClr val="CC00FF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计数器溢出，才能中断</a:t>
            </a:r>
            <a:r>
              <a:rPr lang="en-US" altLang="zh-CN" sz="1800" dirty="0">
                <a:solidFill>
                  <a:srgbClr val="CC00FF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的当前操作。</a:t>
            </a:r>
            <a:endParaRPr lang="zh-CN" altLang="en-US" sz="1800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每个定时器</a:t>
            </a:r>
            <a:r>
              <a:rPr lang="en-US" altLang="zh-CN" sz="1800" dirty="0">
                <a:solidFill>
                  <a:srgbClr val="339933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计数器还有四种工作模式。其中模式</a:t>
            </a:r>
            <a:r>
              <a:rPr lang="en-US" altLang="zh-CN" sz="1800" dirty="0">
                <a:solidFill>
                  <a:srgbClr val="339933"/>
                </a:solidFill>
                <a:latin typeface="宋体" panose="02010600030101010101" pitchFamily="2" charset="-122"/>
              </a:rPr>
              <a:t>0-2</a:t>
            </a: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sz="1800" dirty="0">
                <a:solidFill>
                  <a:srgbClr val="339933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1800" dirty="0">
                <a:solidFill>
                  <a:srgbClr val="339933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是一样的，模式</a:t>
            </a:r>
            <a:r>
              <a:rPr lang="en-US" altLang="zh-CN" sz="1800" dirty="0">
                <a:solidFill>
                  <a:srgbClr val="339933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339933"/>
                </a:solidFill>
                <a:latin typeface="宋体" panose="02010600030101010101" pitchFamily="2" charset="-122"/>
              </a:rPr>
              <a:t>对两者不同。</a:t>
            </a:r>
            <a:endParaRPr lang="zh-CN" altLang="en-US" sz="1800">
              <a:solidFill>
                <a:srgbClr val="339933"/>
              </a:solidFill>
            </a:endParaRPr>
          </a:p>
        </p:txBody>
      </p:sp>
      <p:sp>
        <p:nvSpPr>
          <p:cNvPr id="21507" name="文本占位符 26626"/>
          <p:cNvSpPr>
            <a:spLocks noGrp="1"/>
          </p:cNvSpPr>
          <p:nvPr/>
        </p:nvSpPr>
        <p:spPr>
          <a:xfrm>
            <a:off x="814388" y="3328988"/>
            <a:ext cx="8329612" cy="682625"/>
          </a:xfrm>
          <a:prstGeom prst="rect">
            <a:avLst/>
          </a:prstGeom>
          <a:solidFill>
            <a:srgbClr val="339933"/>
          </a:solidFill>
          <a:ln w="9525">
            <a:noFill/>
          </a:ln>
        </p:spPr>
        <p:txBody>
          <a:bodyPr lIns="92075" tIns="46038" rIns="92075" bIns="46038" anchor="t"/>
          <a:lstStyle/>
          <a:p>
            <a:pPr marL="190500" indent="571500">
              <a:spcBef>
                <a:spcPct val="20000"/>
              </a:spcBef>
              <a:buClr>
                <a:schemeClr val="hlink"/>
              </a:buClr>
            </a:pP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定时器计数</a:t>
            </a:r>
            <a:r>
              <a:rPr lang="en-US" altLang="zh-CN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8051</a:t>
            </a: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片内振荡器输出经</a:t>
            </a:r>
            <a:r>
              <a:rPr lang="en-US" altLang="zh-CN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分频后的脉冲，即每个机器周期使定时器（</a:t>
            </a:r>
            <a:r>
              <a:rPr lang="en-US" altLang="zh-CN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）的数值加</a:t>
            </a:r>
            <a:r>
              <a:rPr lang="en-US" altLang="zh-CN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i="1" dirty="0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直至计满溢出。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矩形 26629"/>
          <p:cNvSpPr/>
          <p:nvPr/>
        </p:nvSpPr>
        <p:spPr>
          <a:xfrm>
            <a:off x="812800" y="4011613"/>
            <a:ext cx="8331200" cy="427037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lIns="92075" tIns="46038" rIns="92075" bIns="46038" anchor="t"/>
          <a:lstStyle/>
          <a:p>
            <a:pPr marL="190500" indent="666750">
              <a:spcBef>
                <a:spcPct val="20000"/>
              </a:spcBef>
              <a:buClr>
                <a:schemeClr val="hlink"/>
              </a:buClr>
            </a:pPr>
            <a:r>
              <a:rPr lang="zh-CN" altLang="en-US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当</a:t>
            </a:r>
            <a:r>
              <a:rPr lang="en-US" altLang="zh-CN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8051</a:t>
            </a:r>
            <a:r>
              <a:rPr lang="zh-CN" altLang="en-US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采用</a:t>
            </a:r>
            <a:r>
              <a:rPr lang="en-US" altLang="zh-CN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12MHz</a:t>
            </a:r>
            <a:r>
              <a:rPr lang="zh-CN" altLang="en-US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晶振时，一个机器周期为</a:t>
            </a:r>
            <a:r>
              <a:rPr lang="en-US" altLang="zh-CN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1μs</a:t>
            </a:r>
            <a:r>
              <a:rPr lang="zh-CN" altLang="en-US" b="1" dirty="0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，计数频率为</a:t>
            </a:r>
            <a:r>
              <a:rPr lang="en-US" altLang="zh-CN" b="1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1MHz</a:t>
            </a:r>
            <a:r>
              <a:rPr lang="zh-CN" altLang="en-US" b="1">
                <a:solidFill>
                  <a:srgbClr val="FEDEF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文本占位符 27650"/>
          <p:cNvSpPr>
            <a:spLocks noGrp="1"/>
          </p:cNvSpPr>
          <p:nvPr/>
        </p:nvSpPr>
        <p:spPr>
          <a:xfrm>
            <a:off x="863600" y="4438650"/>
            <a:ext cx="8280400" cy="18335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通过引脚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P3.4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）和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P3.5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）对外部脉冲信号计数。当输入脉冲信号产生由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至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的下降沿时定时器的值加</a:t>
            </a:r>
            <a:r>
              <a:rPr lang="en-US" altLang="zh-CN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CC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检测一个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至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的跳变需要两个机器周期，故最高计数频率为振荡频率的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1/24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F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为了确保某个电平在变化之前被采样一次，要求电平保持时间至少是一个完整的机器周期。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66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对输入脉冲信号的基本要求。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510" name="对象 129027"/>
          <p:cNvGraphicFramePr/>
          <p:nvPr/>
        </p:nvGraphicFramePr>
        <p:xfrm>
          <a:off x="4010025" y="5635625"/>
          <a:ext cx="13684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39050" imgH="7553325" progId="Paint.Picture">
                  <p:embed/>
                </p:oleObj>
              </mc:Choice>
              <mc:Fallback>
                <p:oleObj r:id="rId2" imgW="7639050" imgH="75533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10025" y="5635625"/>
                        <a:ext cx="1368425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3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6.2.1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工作模式寄存器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TMOD</a:t>
            </a:r>
            <a:endParaRPr kumimoji="0" lang="en-US" altLang="zh-CN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2530" name="文本占位符 34818"/>
          <p:cNvSpPr>
            <a:spLocks noGrp="1"/>
          </p:cNvSpPr>
          <p:nvPr>
            <p:ph idx="1"/>
          </p:nvPr>
        </p:nvSpPr>
        <p:spPr>
          <a:xfrm>
            <a:off x="849313" y="796925"/>
            <a:ext cx="8253412" cy="1766888"/>
          </a:xfrm>
          <a:ln/>
        </p:spPr>
        <p:txBody>
          <a:bodyPr lIns="92075" tIns="46038" rIns="92075" bIns="46038" anchor="t"/>
          <a:lstStyle/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rgbClr val="669900"/>
                </a:solidFill>
                <a:latin typeface="宋体" panose="02010600030101010101" pitchFamily="2" charset="-122"/>
              </a:rPr>
              <a:t>TMOD</a:t>
            </a:r>
            <a:r>
              <a:rPr lang="zh-CN" altLang="en-US" sz="1800" dirty="0">
                <a:solidFill>
                  <a:srgbClr val="669900"/>
                </a:solidFill>
                <a:latin typeface="宋体" panose="02010600030101010101" pitchFamily="2" charset="-122"/>
              </a:rPr>
              <a:t>用于控制</a:t>
            </a:r>
            <a:r>
              <a:rPr lang="en-US" altLang="zh-CN" sz="1800" dirty="0">
                <a:solidFill>
                  <a:srgbClr val="669900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800" dirty="0">
                <a:solidFill>
                  <a:srgbClr val="6699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1800" dirty="0">
                <a:solidFill>
                  <a:srgbClr val="669900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1800" dirty="0">
                <a:solidFill>
                  <a:srgbClr val="669900"/>
                </a:solidFill>
                <a:latin typeface="宋体" panose="02010600030101010101" pitchFamily="2" charset="-122"/>
              </a:rPr>
              <a:t>的工作模式。</a:t>
            </a:r>
            <a:endParaRPr lang="zh-CN" altLang="en-US" sz="1800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rgbClr val="CC00FF"/>
                </a:solidFill>
                <a:latin typeface="宋体" panose="02010600030101010101" pitchFamily="2" charset="-122"/>
              </a:rPr>
              <a:t>TMOD</a:t>
            </a: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不能位寻址，只能用字节设置定时器的工作模式，低半字节设置</a:t>
            </a:r>
            <a:r>
              <a:rPr lang="en-US" altLang="zh-CN" sz="1800" dirty="0">
                <a:solidFill>
                  <a:srgbClr val="CC00FF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800" dirty="0">
                <a:solidFill>
                  <a:srgbClr val="CC00FF"/>
                </a:solidFill>
                <a:latin typeface="宋体" panose="02010600030101010101" pitchFamily="2" charset="-122"/>
              </a:rPr>
              <a:t>，高半字节设置</a:t>
            </a:r>
            <a:r>
              <a:rPr lang="en-US" altLang="zh-CN" sz="1800">
                <a:solidFill>
                  <a:srgbClr val="CC00FF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1800">
                <a:solidFill>
                  <a:srgbClr val="CC00FF"/>
                </a:solidFill>
                <a:latin typeface="宋体" panose="02010600030101010101" pitchFamily="2" charset="-122"/>
              </a:rPr>
              <a:t>。</a:t>
            </a:r>
            <a:endParaRPr lang="zh-CN" altLang="en-US" sz="180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8051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</a:rPr>
              <a:t>系统复位时，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TMOD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</a:rPr>
              <a:t>的所有位被清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800" dirty="0">
                <a:solidFill>
                  <a:srgbClr val="0000FF"/>
                </a:solidFill>
                <a:latin typeface="宋体" panose="02010600030101010101" pitchFamily="2" charset="-122"/>
              </a:rPr>
              <a:t>。</a:t>
            </a:r>
            <a:endParaRPr lang="zh-CN" altLang="en-US" sz="1800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sz="1800" dirty="0">
              <a:latin typeface="宋体" panose="02010600030101010101" pitchFamily="2" charset="-122"/>
            </a:endParaRPr>
          </a:p>
        </p:txBody>
      </p:sp>
      <p:graphicFrame>
        <p:nvGraphicFramePr>
          <p:cNvPr id="22531" name="对象 131080"/>
          <p:cNvGraphicFramePr/>
          <p:nvPr/>
        </p:nvGraphicFramePr>
        <p:xfrm>
          <a:off x="1189038" y="2563813"/>
          <a:ext cx="7639050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670250" imgH="14097000" progId="Paint.Picture">
                  <p:embed/>
                </p:oleObj>
              </mc:Choice>
              <mc:Fallback>
                <p:oleObj r:id="rId2" imgW="28670250" imgH="14097000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9038" y="2563813"/>
                        <a:ext cx="7639050" cy="3671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07" name="对象 98306"/>
          <p:cNvGraphicFramePr>
            <a:graphicFrameLocks noGrp="1"/>
          </p:cNvGraphicFramePr>
          <p:nvPr/>
        </p:nvGraphicFramePr>
        <p:xfrm>
          <a:off x="5473700" y="1243013"/>
          <a:ext cx="36290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640320" imgH="3241040" progId="Word.Document.8">
                  <p:embed/>
                </p:oleObj>
              </mc:Choice>
              <mc:Fallback>
                <p:oleObj r:id="rId4" imgW="7640320" imgH="3241040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73700" y="1243013"/>
                        <a:ext cx="3629025" cy="132080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文本占位符 38914"/>
          <p:cNvSpPr>
            <a:spLocks noGrp="1"/>
          </p:cNvSpPr>
          <p:nvPr/>
        </p:nvSpPr>
        <p:spPr>
          <a:xfrm>
            <a:off x="1162050" y="1243013"/>
            <a:ext cx="4311650" cy="1320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90" marR="0" indent="-72009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400" b="1" i="0" u="none" strike="noStrike" kern="1200" cap="none" spc="0" normalizeH="0" baseline="0" noProof="1">
                <a:solidFill>
                  <a:srgbClr val="9933FF"/>
                </a:solidFill>
                <a:latin typeface="宋体" panose="02010600030101010101" pitchFamily="2" charset="-122"/>
                <a:ea typeface="+mn-ea"/>
                <a:cs typeface="+mn-cs"/>
              </a:rPr>
              <a:t>③ GATE</a:t>
            </a:r>
            <a:r>
              <a:rPr kumimoji="0" lang="en-US" altLang="zh-CN" sz="1400" b="1" i="0" u="none" strike="noStrike" kern="1200" cap="none" spc="0" normalizeH="0" baseline="0" noProof="1">
                <a:solidFill>
                  <a:srgbClr val="9933FF"/>
                </a:solidFill>
                <a:latin typeface="Arial" panose="020B0604020202020204" pitchFamily="34" charset="0"/>
                <a:ea typeface="+mn-ea"/>
                <a:cs typeface="+mn-cs"/>
              </a:rPr>
              <a:t>—</a:t>
            </a:r>
            <a:r>
              <a:rPr kumimoji="0" lang="zh-CN" altLang="en-US" sz="1400" b="1" i="0" u="none" strike="noStrike" kern="1200" cap="none" spc="0" normalizeH="0" baseline="0" noProof="1">
                <a:solidFill>
                  <a:srgbClr val="9933FF"/>
                </a:solidFill>
                <a:latin typeface="宋体" panose="02010600030101010101" pitchFamily="2" charset="-122"/>
                <a:ea typeface="+mn-ea"/>
                <a:cs typeface="+mn-cs"/>
              </a:rPr>
              <a:t>门控位。</a:t>
            </a:r>
          </a:p>
          <a:p>
            <a:pPr marL="720090" marR="0" indent="-72009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4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14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GATE=0</a:t>
            </a:r>
            <a:r>
              <a:rPr kumimoji="0" lang="zh-CN" altLang="en-US" sz="1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，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只要用软件使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TR0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（或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TR1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）置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就可以启动定时器，而不管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/INT0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（或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/INT1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）的电平是高还是低。</a:t>
            </a:r>
            <a:endParaRPr kumimoji="0" lang="zh-CN" altLang="en-US" sz="14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720090" marR="0" indent="-72009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14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GATE=1</a:t>
            </a:r>
            <a:r>
              <a:rPr kumimoji="0" lang="zh-CN" altLang="en-US" sz="14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，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只有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/INT0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（或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/INT1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）引脚为高电平且由软件使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TR0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（或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TR1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）置</a:t>
            </a:r>
            <a:r>
              <a:rPr kumimoji="0" lang="en-US" altLang="zh-CN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12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时，才能启动定时器工作。</a:t>
            </a:r>
          </a:p>
        </p:txBody>
      </p:sp>
      <p:sp>
        <p:nvSpPr>
          <p:cNvPr id="22534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4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/>
      <p:bldP spid="3891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35841"/>
          <p:cNvSpPr>
            <a:spLocks noGrp="1"/>
          </p:cNvSpPr>
          <p:nvPr>
            <p:ph type="title"/>
          </p:nvPr>
        </p:nvSpPr>
        <p:spPr>
          <a:xfrm>
            <a:off x="806450" y="0"/>
            <a:ext cx="8337550" cy="858838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6.2.2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控制器寄存器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TCON</a:t>
            </a:r>
            <a:endParaRPr kumimoji="0" lang="en-US" altLang="zh-CN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3554" name="文本占位符 35842"/>
          <p:cNvSpPr>
            <a:spLocks noGrp="1"/>
          </p:cNvSpPr>
          <p:nvPr>
            <p:ph idx="1"/>
          </p:nvPr>
        </p:nvSpPr>
        <p:spPr>
          <a:xfrm>
            <a:off x="806450" y="944563"/>
            <a:ext cx="8415338" cy="1096962"/>
          </a:xfrm>
          <a:ln/>
        </p:spPr>
        <p:txBody>
          <a:bodyPr lIns="92075" tIns="46038" rIns="92075" bIns="46038" anchor="t"/>
          <a:lstStyle/>
          <a:p>
            <a:pPr>
              <a:lnSpc>
                <a:spcPct val="140000"/>
              </a:lnSpc>
            </a:pPr>
            <a:r>
              <a:rPr lang="en-US" altLang="zh-CN" sz="1800" dirty="0">
                <a:solidFill>
                  <a:srgbClr val="9933FF"/>
                </a:solidFill>
                <a:latin typeface="宋体" panose="02010600030101010101" pitchFamily="2" charset="-122"/>
              </a:rPr>
              <a:t>TCON</a:t>
            </a:r>
            <a:r>
              <a:rPr lang="zh-CN" altLang="en-US" sz="1800" dirty="0">
                <a:solidFill>
                  <a:srgbClr val="9933FF"/>
                </a:solidFill>
                <a:latin typeface="宋体" panose="02010600030101010101" pitchFamily="2" charset="-122"/>
              </a:rPr>
              <a:t>除可字节寻址外，各位还可位寻址</a:t>
            </a:r>
            <a:r>
              <a:rPr lang="zh-CN" altLang="en-US" sz="1800" dirty="0"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en-US" altLang="zh-CN" sz="1800" dirty="0">
                <a:solidFill>
                  <a:srgbClr val="3333FF"/>
                </a:solidFill>
                <a:latin typeface="宋体" panose="02010600030101010101" pitchFamily="2" charset="-122"/>
              </a:rPr>
              <a:t>8051</a:t>
            </a:r>
            <a:r>
              <a:rPr lang="zh-CN" altLang="en-US" sz="1800" dirty="0">
                <a:solidFill>
                  <a:srgbClr val="3333FF"/>
                </a:solidFill>
                <a:latin typeface="宋体" panose="02010600030101010101" pitchFamily="2" charset="-122"/>
              </a:rPr>
              <a:t>系统复位时，</a:t>
            </a:r>
            <a:r>
              <a:rPr lang="en-US" altLang="zh-CN" sz="1800" dirty="0">
                <a:solidFill>
                  <a:srgbClr val="3333FF"/>
                </a:solidFill>
                <a:latin typeface="宋体" panose="02010600030101010101" pitchFamily="2" charset="-122"/>
              </a:rPr>
              <a:t>TCON</a:t>
            </a:r>
            <a:r>
              <a:rPr lang="zh-CN" altLang="en-US" sz="1800" dirty="0">
                <a:solidFill>
                  <a:srgbClr val="3333FF"/>
                </a:solidFill>
                <a:latin typeface="宋体" panose="02010600030101010101" pitchFamily="2" charset="-122"/>
              </a:rPr>
              <a:t>的所有位被清</a:t>
            </a:r>
            <a:r>
              <a:rPr lang="en-US" altLang="zh-CN" sz="1800" dirty="0">
                <a:solidFill>
                  <a:srgbClr val="3333FF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800" dirty="0">
                <a:solidFill>
                  <a:srgbClr val="3333FF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40000"/>
              </a:lnSpc>
            </a:pPr>
            <a:endParaRPr lang="zh-CN" altLang="en-US" sz="1800" dirty="0">
              <a:latin typeface="宋体" panose="02010600030101010101" pitchFamily="2" charset="-122"/>
            </a:endParaRPr>
          </a:p>
        </p:txBody>
      </p:sp>
      <p:graphicFrame>
        <p:nvGraphicFramePr>
          <p:cNvPr id="23555" name="对象 134152"/>
          <p:cNvGraphicFramePr/>
          <p:nvPr/>
        </p:nvGraphicFramePr>
        <p:xfrm>
          <a:off x="1422400" y="1839913"/>
          <a:ext cx="6810375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707225" imgH="10506075" progId="Paint.Picture">
                  <p:embed/>
                </p:oleObj>
              </mc:Choice>
              <mc:Fallback>
                <p:oleObj r:id="rId2" imgW="19707225" imgH="1050607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2400" y="1839913"/>
                        <a:ext cx="6810375" cy="308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50" y="4799013"/>
            <a:ext cx="3797300" cy="1971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7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238" y="4837113"/>
            <a:ext cx="4229100" cy="2058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8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5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3009"/>
          <p:cNvSpPr>
            <a:spLocks noGrp="1"/>
          </p:cNvSpPr>
          <p:nvPr>
            <p:ph type="title"/>
          </p:nvPr>
        </p:nvSpPr>
        <p:spPr>
          <a:xfrm>
            <a:off x="838200" y="-9525"/>
            <a:ext cx="8339138" cy="882650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6.2.2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模式 0 及其应用</a:t>
            </a:r>
            <a:endParaRPr kumimoji="0" lang="en-US" altLang="zh-CN" sz="2800" b="1" i="0" u="none" strike="noStrike" kern="1200" cap="none" spc="0" normalizeH="0" baseline="0" noProof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578" name="文本占位符 43010"/>
          <p:cNvSpPr>
            <a:spLocks noGrp="1"/>
          </p:cNvSpPr>
          <p:nvPr>
            <p:ph type="body" sz="half" idx="1"/>
          </p:nvPr>
        </p:nvSpPr>
        <p:spPr>
          <a:xfrm>
            <a:off x="838200" y="922338"/>
            <a:ext cx="8134350" cy="638175"/>
          </a:xfrm>
          <a:ln/>
        </p:spPr>
        <p:txBody>
          <a:bodyPr lIns="92075" tIns="46038" rIns="92075" bIns="46038" anchor="t"/>
          <a:lstStyle/>
          <a:p>
            <a:pPr marL="381000" indent="0">
              <a:lnSpc>
                <a:spcPct val="13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T0</a:t>
            </a:r>
            <a:r>
              <a:rPr lang="zh-CN" altLang="en-US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在模式 </a:t>
            </a:r>
            <a:r>
              <a:rPr lang="en-US" altLang="zh-CN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0 </a:t>
            </a:r>
            <a:r>
              <a:rPr lang="zh-CN" altLang="en-US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的逻辑电路结构如图所示。（</a:t>
            </a:r>
            <a:r>
              <a:rPr lang="en-US" altLang="zh-CN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T1</a:t>
            </a:r>
            <a:r>
              <a:rPr lang="zh-CN" altLang="en-US" sz="2000" dirty="0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相同）</a:t>
            </a:r>
          </a:p>
        </p:txBody>
      </p:sp>
      <p:graphicFrame>
        <p:nvGraphicFramePr>
          <p:cNvPr id="24579" name="内容占位符 43012"/>
          <p:cNvGraphicFramePr>
            <a:graphicFrameLocks noGrp="1"/>
          </p:cNvGraphicFramePr>
          <p:nvPr>
            <p:ph sz="half" idx="2"/>
          </p:nvPr>
        </p:nvGraphicFramePr>
        <p:xfrm>
          <a:off x="1104900" y="1619250"/>
          <a:ext cx="7985125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7489150" imgH="9096375" progId="Paint.Picture">
                  <p:embed/>
                </p:oleObj>
              </mc:Choice>
              <mc:Fallback>
                <p:oleObj r:id="rId2" imgW="27489150" imgH="9096375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4900" y="1619250"/>
                        <a:ext cx="7985125" cy="2641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文本框 43014"/>
          <p:cNvSpPr txBox="1"/>
          <p:nvPr/>
        </p:nvSpPr>
        <p:spPr>
          <a:xfrm>
            <a:off x="2514600" y="4449763"/>
            <a:ext cx="3817938" cy="368300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T0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（或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）模式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结构－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13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位计数器</a:t>
            </a:r>
          </a:p>
        </p:txBody>
      </p:sp>
      <p:sp>
        <p:nvSpPr>
          <p:cNvPr id="44035" name="文本占位符 44034"/>
          <p:cNvSpPr>
            <a:spLocks noGrp="1"/>
          </p:cNvSpPr>
          <p:nvPr/>
        </p:nvSpPr>
        <p:spPr>
          <a:xfrm>
            <a:off x="1069975" y="4910138"/>
            <a:ext cx="7185025" cy="16462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在这种模式下，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16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位寄存器（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TH0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TL0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）只用了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13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位。其中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TL0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的高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位未用，其余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位为整个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13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位的低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为，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TH0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占高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8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位。当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TL0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的低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位溢出时，向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TH0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进位；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TH0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溢出时，向中断标志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TF0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进位（硬件置位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TF0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+mn-cs"/>
              </a:rPr>
              <a:t>），并申请中断。</a:t>
            </a:r>
            <a:endParaRPr kumimoji="0" lang="zh-CN" altLang="en-US" sz="1600" b="1" i="0" u="none" strike="noStrike" kern="1200" cap="none" spc="0" normalizeH="0" baseline="0" noProof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定时时间为：</a:t>
            </a:r>
          </a:p>
          <a:p>
            <a:pPr marL="342900" marR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  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t=(2</a:t>
            </a:r>
            <a:r>
              <a:rPr kumimoji="0" lang="en-US" altLang="zh-CN" sz="1600" b="1" i="0" u="none" strike="noStrike" kern="1200" cap="none" spc="0" normalizeH="0" baseline="3000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13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－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T0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初值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)×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振荡周期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×12</a:t>
            </a:r>
          </a:p>
        </p:txBody>
      </p:sp>
      <p:sp>
        <p:nvSpPr>
          <p:cNvPr id="24582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6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29697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40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6.3.2  </a:t>
            </a:r>
            <a:r>
              <a:rPr kumimoji="0" lang="zh-CN" altLang="en-US" sz="40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模式 </a:t>
            </a:r>
            <a:r>
              <a:rPr kumimoji="0" lang="en-US" altLang="zh-CN" sz="40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1 </a:t>
            </a:r>
            <a:r>
              <a:rPr kumimoji="0" lang="zh-CN" altLang="en-US" sz="40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及其应用</a:t>
            </a:r>
            <a:endParaRPr kumimoji="0" lang="zh-CN" altLang="en-US" sz="40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5602" name="文本占位符 61442"/>
          <p:cNvSpPr>
            <a:spLocks noGrp="1"/>
          </p:cNvSpPr>
          <p:nvPr>
            <p:ph idx="1"/>
          </p:nvPr>
        </p:nvSpPr>
        <p:spPr>
          <a:xfrm>
            <a:off x="893763" y="950913"/>
            <a:ext cx="8207375" cy="338137"/>
          </a:xfrm>
          <a:ln/>
        </p:spPr>
        <p:txBody>
          <a:bodyPr lIns="92075" tIns="46038" rIns="92075" bIns="46038" anchor="t"/>
          <a:lstStyle/>
          <a:p>
            <a:pPr marL="579755" indent="0" defTabSz="914400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  <a:tabLst>
                <a:tab pos="579755" algn="l"/>
              </a:tabLst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在模式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的逻辑电路结构如 </a:t>
            </a:r>
            <a:r>
              <a:rPr lang="zh-CN" altLang="en-US" sz="1800" u="sng" dirty="0">
                <a:solidFill>
                  <a:srgbClr val="000000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1800" u="sng">
                <a:solidFill>
                  <a:srgbClr val="000000"/>
                </a:solidFill>
                <a:latin typeface="宋体" panose="02010600030101010101" pitchFamily="2" charset="-122"/>
              </a:rPr>
              <a:t>6-7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所示。（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相同）</a:t>
            </a:r>
          </a:p>
        </p:txBody>
      </p:sp>
      <p:sp>
        <p:nvSpPr>
          <p:cNvPr id="25603" name="文本框 61444"/>
          <p:cNvSpPr txBox="1"/>
          <p:nvPr/>
        </p:nvSpPr>
        <p:spPr>
          <a:xfrm>
            <a:off x="2471738" y="4359275"/>
            <a:ext cx="4462462" cy="368300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6-7  T0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（或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）模式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结构－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位计数器</a:t>
            </a:r>
          </a:p>
        </p:txBody>
      </p:sp>
      <p:graphicFrame>
        <p:nvGraphicFramePr>
          <p:cNvPr id="25604" name="对象 61445"/>
          <p:cNvGraphicFramePr/>
          <p:nvPr/>
        </p:nvGraphicFramePr>
        <p:xfrm>
          <a:off x="1223963" y="1641475"/>
          <a:ext cx="7637462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374725" imgH="8524875" progId="Paint.Picture">
                  <p:embed/>
                </p:oleObj>
              </mc:Choice>
              <mc:Fallback>
                <p:oleObj r:id="rId2" imgW="26374725" imgH="8524875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23963" y="1641475"/>
                        <a:ext cx="7637462" cy="2627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文本占位符 62466"/>
          <p:cNvSpPr>
            <a:spLocks noGrp="1"/>
          </p:cNvSpPr>
          <p:nvPr/>
        </p:nvSpPr>
        <p:spPr>
          <a:xfrm>
            <a:off x="1223963" y="4768850"/>
            <a:ext cx="4614862" cy="1736725"/>
          </a:xfrm>
          <a:prstGeom prst="rect">
            <a:avLst/>
          </a:prstGeom>
          <a:solidFill>
            <a:srgbClr val="F0FFC2"/>
          </a:solidFill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该模式对应的是一个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位的定时器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计数器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用于定时工作方式时，定时时间为：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t=(2</a:t>
            </a:r>
            <a:r>
              <a:rPr lang="en-US" altLang="zh-CN" sz="1600" b="1" baseline="30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初值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)×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振荡周期</a:t>
            </a:r>
            <a:r>
              <a:rPr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×12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用于计数工作方式时，计数长度最大为：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2</a:t>
            </a:r>
            <a:r>
              <a:rPr lang="en-US" altLang="en-US" sz="1600" b="1" baseline="30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en-US" altLang="en-US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=65536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（个外部脉冲）</a:t>
            </a:r>
            <a:endParaRPr lang="zh-CN" altLang="en-US" sz="16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endParaRPr lang="zh-CN" altLang="en-US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灯片编号占位符 2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7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文本占位符 63490"/>
          <p:cNvSpPr>
            <a:spLocks noGrp="1"/>
          </p:cNvSpPr>
          <p:nvPr>
            <p:ph idx="1"/>
          </p:nvPr>
        </p:nvSpPr>
        <p:spPr>
          <a:xfrm>
            <a:off x="857250" y="828675"/>
            <a:ext cx="7989888" cy="701675"/>
          </a:xfrm>
          <a:ln/>
        </p:spPr>
        <p:txBody>
          <a:bodyPr lIns="92075" tIns="46038" rIns="92075" bIns="46038" anchor="t"/>
          <a:lstStyle/>
          <a:p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6-1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：用定时器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T1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产生一个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50Hz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的方波，由 </a:t>
            </a:r>
            <a:r>
              <a:rPr lang="zh-CN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P1.1输出。，使用程序查询方式，</a:t>
            </a:r>
            <a:r>
              <a:rPr lang="en-US" altLang="zh-CN" sz="1800" dirty="0" err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fosc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=12MHz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9698" name="标题 29697"/>
          <p:cNvSpPr>
            <a:spLocks noGrp="1"/>
          </p:cNvSpPr>
          <p:nvPr/>
        </p:nvSpPr>
        <p:spPr>
          <a:xfrm>
            <a:off x="857250" y="0"/>
            <a:ext cx="8286750" cy="79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</p:spPr>
        <p:txBody>
          <a:bodyPr lIns="92075" tIns="46038" rIns="92075" bIns="46038"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6.3.2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1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6627" name="文本占位符 64514"/>
          <p:cNvSpPr>
            <a:spLocks noGrp="1"/>
          </p:cNvSpPr>
          <p:nvPr/>
        </p:nvSpPr>
        <p:spPr>
          <a:xfrm>
            <a:off x="931863" y="1460500"/>
            <a:ext cx="3933825" cy="230028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∵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方波周期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T=1/50=0.02s =20ms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∴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10ms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计数初值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为：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X=2</a:t>
            </a:r>
            <a:r>
              <a:rPr lang="en-US" altLang="zh-CN" b="1" baseline="300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12×10×1000/12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=65536</a:t>
            </a:r>
            <a:r>
              <a:rPr lang="zh-CN" altLang="en-US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b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10000=55536=D8F0H</a:t>
            </a:r>
            <a:endParaRPr lang="en-US" altLang="zh-CN" b="1" dirty="0">
              <a:solidFill>
                <a:srgbClr val="CC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endParaRPr lang="en-US" altLang="zh-CN" b="1" dirty="0">
              <a:solidFill>
                <a:srgbClr val="CC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文本占位符 65538"/>
          <p:cNvSpPr>
            <a:spLocks noGrp="1"/>
          </p:cNvSpPr>
          <p:nvPr/>
        </p:nvSpPr>
        <p:spPr>
          <a:xfrm>
            <a:off x="1246188" y="3514725"/>
            <a:ext cx="5416550" cy="27876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源程序清单：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TMOD,#10H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；设置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为模式</a:t>
            </a: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SETB   TR1        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；启动定时</a:t>
            </a:r>
            <a:endParaRPr lang="en-US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LOOP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TL1,#0D8H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；送初值</a:t>
            </a:r>
            <a:endParaRPr lang="en-US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TH1,#0F0H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JNB    TF1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$     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；查询定时时间到否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CLR     TF1                     ;产生溢出，清标志位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CPL     P1.1         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；取反</a:t>
            </a:r>
            <a:endParaRPr lang="en-US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SJMP   LOOP     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；重复循环</a:t>
            </a:r>
          </a:p>
        </p:txBody>
      </p:sp>
      <p:sp>
        <p:nvSpPr>
          <p:cNvPr id="26629" name="灯片编号占位符 2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8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66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66561"/>
          <p:cNvSpPr>
            <a:spLocks noGrp="1"/>
          </p:cNvSpPr>
          <p:nvPr>
            <p:ph type="title"/>
          </p:nvPr>
        </p:nvSpPr>
        <p:spPr>
          <a:xfrm>
            <a:off x="838200" y="-9525"/>
            <a:ext cx="8305800" cy="738188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6.3.3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2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  <a:sym typeface="+mn-ea"/>
            </a:endParaRPr>
          </a:p>
        </p:txBody>
      </p:sp>
      <p:sp>
        <p:nvSpPr>
          <p:cNvPr id="27650" name="文本占位符 66562"/>
          <p:cNvSpPr>
            <a:spLocks noGrp="1"/>
          </p:cNvSpPr>
          <p:nvPr>
            <p:ph type="body" sz="half" idx="1"/>
          </p:nvPr>
        </p:nvSpPr>
        <p:spPr>
          <a:xfrm>
            <a:off x="838200" y="728663"/>
            <a:ext cx="8305800" cy="971550"/>
          </a:xfrm>
          <a:ln/>
        </p:spPr>
        <p:txBody>
          <a:bodyPr lIns="92075" tIns="46038" rIns="92075" bIns="46038" anchor="t"/>
          <a:lstStyle/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en-US" altLang="zh-CN" sz="1800" dirty="0">
                <a:latin typeface="宋体" panose="02010600030101010101" pitchFamily="2" charset="-122"/>
              </a:rPr>
              <a:t>TL0</a:t>
            </a:r>
            <a:r>
              <a:rPr lang="zh-CN" altLang="en-US" sz="1800" dirty="0">
                <a:latin typeface="宋体" panose="02010600030101010101" pitchFamily="2" charset="-122"/>
              </a:rPr>
              <a:t>计数溢出时，不仅使溢出中断标志位</a:t>
            </a:r>
            <a:r>
              <a:rPr lang="en-US" altLang="zh-CN" sz="1800" dirty="0">
                <a:latin typeface="宋体" panose="02010600030101010101" pitchFamily="2" charset="-122"/>
              </a:rPr>
              <a:t>TF0</a:t>
            </a:r>
            <a:r>
              <a:rPr lang="zh-CN" altLang="en-US" sz="1800" dirty="0">
                <a:latin typeface="宋体" panose="02010600030101010101" pitchFamily="2" charset="-122"/>
              </a:rPr>
              <a:t>置</a:t>
            </a:r>
            <a:r>
              <a:rPr lang="en-US" altLang="zh-CN" sz="1800" dirty="0">
                <a:latin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</a:rPr>
              <a:t>，而且还自动把</a:t>
            </a:r>
            <a:r>
              <a:rPr lang="en-US" altLang="zh-CN" sz="1800" dirty="0">
                <a:latin typeface="宋体" panose="02010600030101010101" pitchFamily="2" charset="-122"/>
              </a:rPr>
              <a:t>TH0</a:t>
            </a:r>
            <a:r>
              <a:rPr lang="zh-CN" altLang="en-US" sz="1800" dirty="0">
                <a:latin typeface="宋体" panose="02010600030101010101" pitchFamily="2" charset="-122"/>
              </a:rPr>
              <a:t>中的内容重新装载到</a:t>
            </a:r>
            <a:r>
              <a:rPr lang="en-US" altLang="zh-CN" sz="1800" dirty="0">
                <a:latin typeface="宋体" panose="02010600030101010101" pitchFamily="2" charset="-122"/>
              </a:rPr>
              <a:t>TL0</a:t>
            </a:r>
            <a:r>
              <a:rPr lang="zh-CN" altLang="en-US" sz="1800" dirty="0">
                <a:latin typeface="宋体" panose="02010600030101010101" pitchFamily="2" charset="-122"/>
              </a:rPr>
              <a:t>中。</a:t>
            </a:r>
          </a:p>
          <a:p>
            <a:pPr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TL0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用作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位计数器，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TH0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用以保存初值。</a:t>
            </a:r>
          </a:p>
        </p:txBody>
      </p:sp>
      <p:graphicFrame>
        <p:nvGraphicFramePr>
          <p:cNvPr id="27651" name="内容占位符 66564"/>
          <p:cNvGraphicFramePr>
            <a:graphicFrameLocks noGrp="1"/>
          </p:cNvGraphicFramePr>
          <p:nvPr>
            <p:ph sz="half" idx="2"/>
          </p:nvPr>
        </p:nvGraphicFramePr>
        <p:xfrm>
          <a:off x="1354138" y="1778000"/>
          <a:ext cx="6823075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374725" imgH="8524875" progId="Paint.Picture">
                  <p:embed/>
                </p:oleObj>
              </mc:Choice>
              <mc:Fallback>
                <p:oleObj r:id="rId2" imgW="26374725" imgH="85248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54138" y="1778000"/>
                        <a:ext cx="6823075" cy="2346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文本框 66566"/>
          <p:cNvSpPr txBox="1"/>
          <p:nvPr/>
        </p:nvSpPr>
        <p:spPr>
          <a:xfrm>
            <a:off x="2379663" y="4202113"/>
            <a:ext cx="4808537" cy="398462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none" anchor="t">
            <a:spAutoFit/>
          </a:bodyPr>
          <a:lstStyle/>
          <a:p>
            <a:pPr eaLnBrk="0" hangingPunct="0"/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6-8  T0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（或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）模式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结构－</a:t>
            </a:r>
            <a:r>
              <a:rPr lang="en-US" altLang="zh-CN" sz="2000" b="1" dirty="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Times New Roman" panose="02020603050405020304" charset="0"/>
                <a:ea typeface="宋体" panose="02010600030101010101" pitchFamily="2" charset="-122"/>
              </a:rPr>
              <a:t>位计数器</a:t>
            </a:r>
          </a:p>
        </p:txBody>
      </p:sp>
      <p:pic>
        <p:nvPicPr>
          <p:cNvPr id="2765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138" y="4600575"/>
            <a:ext cx="6791325" cy="2162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4" name="灯片编号占位符 2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9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68609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6.3.3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2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990099"/>
              </a:solidFill>
              <a:latin typeface="楷体_GB2312" pitchFamily="49" charset="-122"/>
              <a:ea typeface="楷体_GB2312" pitchFamily="49" charset="-122"/>
              <a:cs typeface="+mj-cs"/>
              <a:sym typeface="+mn-ea"/>
            </a:endParaRPr>
          </a:p>
        </p:txBody>
      </p:sp>
      <p:sp>
        <p:nvSpPr>
          <p:cNvPr id="28674" name="文本占位符 68610"/>
          <p:cNvSpPr>
            <a:spLocks noGrp="1"/>
          </p:cNvSpPr>
          <p:nvPr>
            <p:ph idx="1"/>
          </p:nvPr>
        </p:nvSpPr>
        <p:spPr>
          <a:xfrm>
            <a:off x="814388" y="796925"/>
            <a:ext cx="8329612" cy="633413"/>
          </a:xfrm>
          <a:ln/>
        </p:spPr>
        <p:txBody>
          <a:bodyPr lIns="92075" tIns="46038" rIns="92075" bIns="46038" anchor="t"/>
          <a:lstStyle/>
          <a:p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6-2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：当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P3.4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引脚上的电平发生负跳变时， 从</a:t>
            </a:r>
            <a:r>
              <a:rPr lang="zh-CN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P1.0输出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en-US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500μs</a:t>
            </a:r>
            <a:r>
              <a:rPr lang="zh-CN" altLang="en-US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的同步脉冲。请编</a:t>
            </a:r>
            <a:r>
              <a:rPr lang="zh-CN" altLang="zh-CN" sz="18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程序实现该功能。查询方式，</a:t>
            </a:r>
            <a:r>
              <a:rPr lang="en-US" altLang="zh-CN" sz="1800" err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fosc</a:t>
            </a:r>
            <a:r>
              <a:rPr lang="en-US" altLang="zh-CN" sz="180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=6MHz</a:t>
            </a:r>
            <a:r>
              <a:rPr lang="zh-CN" altLang="en-US" sz="180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8675" name="文本占位符 69634"/>
          <p:cNvSpPr>
            <a:spLocks noGrp="1"/>
          </p:cNvSpPr>
          <p:nvPr/>
        </p:nvSpPr>
        <p:spPr>
          <a:xfrm>
            <a:off x="814388" y="1430338"/>
            <a:ext cx="3502025" cy="1771650"/>
          </a:xfrm>
          <a:prstGeom prst="rect">
            <a:avLst/>
          </a:prstGeom>
          <a:solidFill>
            <a:srgbClr val="F5EED0"/>
          </a:solidFill>
          <a:ln w="9525">
            <a:noFill/>
          </a:ln>
        </p:spPr>
        <p:txBody>
          <a:bodyPr lIns="92075" tIns="46038" rIns="92075" bIns="46038" anchor="t"/>
          <a:lstStyle/>
          <a:p>
            <a:pPr>
              <a:buClr>
                <a:schemeClr val="hlink"/>
              </a:buClr>
              <a:buSzTx/>
            </a:pP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r>
              <a:rPr lang="zh-CN" altLang="en-US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）模式选择   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为模式</a:t>
            </a:r>
            <a:r>
              <a:rPr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，外部事件计数方式。</a:t>
            </a:r>
          </a:p>
          <a:p>
            <a:pPr>
              <a:buClr>
                <a:schemeClr val="hlink"/>
              </a:buClr>
              <a:buSzTx/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  当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P3.4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引脚上的电平发生负跳变时，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计数器加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，溢出标志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TF0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置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；然后改变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500μs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定时工作方式，并使</a:t>
            </a:r>
            <a:r>
              <a:rPr lang="zh-CN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P1.0输出由1变为0。T0定时到产生溢出，使P1.0输出恢复高电平，T0又恢复外部事件计数方式</a:t>
            </a:r>
          </a:p>
        </p:txBody>
      </p:sp>
      <p:graphicFrame>
        <p:nvGraphicFramePr>
          <p:cNvPr id="28676" name="对象 69635"/>
          <p:cNvGraphicFramePr/>
          <p:nvPr/>
        </p:nvGraphicFramePr>
        <p:xfrm>
          <a:off x="822325" y="5427663"/>
          <a:ext cx="333375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468725" imgH="4714875" progId="Paint.Picture">
                  <p:embed/>
                </p:oleObj>
              </mc:Choice>
              <mc:Fallback>
                <p:oleObj r:id="rId2" imgW="16468725" imgH="471487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325" y="5427663"/>
                        <a:ext cx="3333750" cy="1179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文本占位符 107522"/>
          <p:cNvSpPr>
            <a:spLocks noGrp="1"/>
          </p:cNvSpPr>
          <p:nvPr/>
        </p:nvSpPr>
        <p:spPr>
          <a:xfrm>
            <a:off x="822325" y="3270250"/>
            <a:ext cx="3530600" cy="2073275"/>
          </a:xfrm>
          <a:prstGeom prst="rect">
            <a:avLst/>
          </a:prstGeom>
          <a:solidFill>
            <a:srgbClr val="F5EED0"/>
          </a:solidFill>
          <a:ln w="9525">
            <a:noFill/>
          </a:ln>
        </p:spPr>
        <p:txBody>
          <a:bodyPr lIns="92075" tIns="46038" rIns="92075" bIns="46038" anchor="t"/>
          <a:lstStyle/>
          <a:p>
            <a:pPr>
              <a:buClr>
                <a:schemeClr val="hlink"/>
              </a:buClr>
            </a:pPr>
            <a:r>
              <a:rPr lang="zh-CN" altLang="zh-CN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（2）计算初值    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工作在外部事件计数方式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，当计数到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en-US" sz="1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时，再加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计数器就会溢出。设计数初值为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，当再出现一次外部事件时，计数器溢出。则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:    X+1=2</a:t>
            </a:r>
            <a:r>
              <a:rPr lang="en-US" altLang="zh-CN" sz="1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8      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X= 2</a:t>
            </a:r>
            <a:r>
              <a:rPr lang="en-US" altLang="zh-CN" sz="1400" b="1" baseline="30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1=11111111B=0FFH</a:t>
            </a:r>
            <a:endParaRPr lang="en-US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工作在定时工作方式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，设晶振频率为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6MHz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500μs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相当于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250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个机器周期。因此，初值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为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(2</a:t>
            </a:r>
            <a:r>
              <a:rPr lang="en-US" altLang="en-US" sz="1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－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X)×2μs=500μs    </a:t>
            </a: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X=6=06H</a:t>
            </a:r>
          </a:p>
        </p:txBody>
      </p:sp>
      <p:sp>
        <p:nvSpPr>
          <p:cNvPr id="28678" name="文本占位符 70658"/>
          <p:cNvSpPr>
            <a:spLocks noGrp="1"/>
          </p:cNvSpPr>
          <p:nvPr/>
        </p:nvSpPr>
        <p:spPr>
          <a:xfrm>
            <a:off x="4314825" y="1395413"/>
            <a:ext cx="4829175" cy="51673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400" b="1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）程序清单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START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：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TMOD,#06H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为模式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外部计数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TL0,#0FFH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计数器初值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TH0,#0FFH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SETB   TR0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；启动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计数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LOOP1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JBC     TF0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PTFO1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；查询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溢出标志，  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;TF0=1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时转，且清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TF0=0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SJMP    LOOP1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PTFO1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：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CLR    TR0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；停止计数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TMOD,#02H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为模式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，定时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	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 TL0,#06H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；送初值，定时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500μs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MOV    TH0,#06H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CLR   P1.0                     ; P1.0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清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SETB   TR0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；启动定时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500μs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LOOP2 : JBC   TF0,PTFO2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；查询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溢出标志，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;TF0=1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时转，且清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TF0=0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</a:rPr>
              <a:t>                            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（第一个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500μs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到否？）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SJMP    LOOP2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；等待中断，虚拟主程序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PTFO2 : SETB  P1.0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P1.0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置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CLR  TR0  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；停止计数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SJMP   START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2867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10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/>
      <p:bldP spid="28677" grpId="0" animBg="1"/>
      <p:bldP spid="286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72705"/>
          <p:cNvSpPr>
            <a:spLocks noGrp="1"/>
          </p:cNvSpPr>
          <p:nvPr>
            <p:ph type="title"/>
          </p:nvPr>
        </p:nvSpPr>
        <p:spPr>
          <a:xfrm>
            <a:off x="814388" y="0"/>
            <a:ext cx="8329613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6.3.3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2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990099"/>
              </a:solidFill>
              <a:latin typeface="楷体_GB2312" pitchFamily="49" charset="-122"/>
              <a:ea typeface="楷体_GB2312" pitchFamily="49" charset="-122"/>
              <a:cs typeface="+mj-cs"/>
              <a:sym typeface="+mn-ea"/>
            </a:endParaRPr>
          </a:p>
        </p:txBody>
      </p:sp>
      <p:sp>
        <p:nvSpPr>
          <p:cNvPr id="29698" name="文本占位符 72706"/>
          <p:cNvSpPr>
            <a:spLocks noGrp="1"/>
          </p:cNvSpPr>
          <p:nvPr>
            <p:ph idx="1"/>
          </p:nvPr>
        </p:nvSpPr>
        <p:spPr>
          <a:xfrm>
            <a:off x="874713" y="896938"/>
            <a:ext cx="7951787" cy="1447800"/>
          </a:xfrm>
          <a:ln/>
        </p:spPr>
        <p:txBody>
          <a:bodyPr lIns="92075" tIns="46038" rIns="92075" bIns="46038" anchor="t"/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6-3</a:t>
            </a: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：利用定时器</a:t>
            </a:r>
            <a:r>
              <a:rPr lang="en-US" altLang="zh-CN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T1</a:t>
            </a: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的模式</a:t>
            </a:r>
            <a:r>
              <a:rPr lang="en-US" altLang="zh-CN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对外部信号计数。要求没计满</a:t>
            </a:r>
            <a:r>
              <a:rPr lang="en-US" altLang="zh-CN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次，将 </a:t>
            </a:r>
            <a:r>
              <a:rPr lang="en-US" altLang="zh-CN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P1.0</a:t>
            </a:r>
            <a:r>
              <a:rPr lang="zh-CN" altLang="en-US" sz="20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端取反。</a:t>
            </a:r>
          </a:p>
        </p:txBody>
      </p:sp>
      <p:sp>
        <p:nvSpPr>
          <p:cNvPr id="108547" name="文本占位符 108546"/>
          <p:cNvSpPr>
            <a:spLocks noGrp="1"/>
          </p:cNvSpPr>
          <p:nvPr/>
        </p:nvSpPr>
        <p:spPr>
          <a:xfrm>
            <a:off x="874713" y="1647825"/>
            <a:ext cx="3417888" cy="32131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–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Tx/>
              <a:buChar char="•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解：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</a:rPr>
              <a:t>）选择模式</a:t>
            </a: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外部信号由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P3.5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）引脚输入，每发生一次负跳变计数器加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，每输入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个脉冲，计数器发生溢出中断，中断服务程序将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P1.0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取反一次。</a:t>
            </a: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计数工作方式模式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的模式字为（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TMOD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=60H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。</a:t>
            </a:r>
          </a:p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T0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不用时，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TMOD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的低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位可任取，但不能进入模式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，一般取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29700" name="文本占位符 73730"/>
          <p:cNvSpPr>
            <a:spLocks noGrp="1"/>
          </p:cNvSpPr>
          <p:nvPr/>
        </p:nvSpPr>
        <p:spPr>
          <a:xfrm>
            <a:off x="984250" y="4895850"/>
            <a:ext cx="3402013" cy="11715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）计算</a:t>
            </a:r>
            <a:r>
              <a:rPr lang="en-US" altLang="zh-CN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的计数初值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X= 2</a:t>
            </a:r>
            <a:r>
              <a:rPr lang="en-US" altLang="zh-CN" sz="1600" b="1" baseline="30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100=156=9CH  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:TL1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的初值为</a:t>
            </a:r>
            <a:r>
              <a:rPr lang="en-US" altLang="zh-CN" sz="1600" b="1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9CH</a:t>
            </a:r>
            <a:r>
              <a:rPr lang="zh-CN" altLang="en-US" sz="1600" b="1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重装初值寄存器</a:t>
            </a:r>
            <a:r>
              <a:rPr lang="en-US" altLang="zh-CN" sz="1600" b="1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TH1=9CH</a:t>
            </a:r>
            <a:r>
              <a:rPr lang="zh-CN" altLang="en-US" sz="1600" b="1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9701" name="文本占位符 109570"/>
          <p:cNvSpPr>
            <a:spLocks noGrp="1"/>
          </p:cNvSpPr>
          <p:nvPr/>
        </p:nvSpPr>
        <p:spPr>
          <a:xfrm>
            <a:off x="4100513" y="1527175"/>
            <a:ext cx="4991100" cy="4419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6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）程序清单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MAIN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TMOD,#60H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；设置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为模式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2,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外部计数方式</a:t>
            </a:r>
            <a:endParaRPr lang="en-US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TL1,#9CH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计数器初值</a:t>
            </a:r>
            <a:endParaRPr lang="en-US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MOV    TH1,#9CH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MOV    IE，#88H       ;  定时器开中断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SETB   TR1    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；启动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计数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HERE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SJMP    HERE 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；等待中断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endParaRPr lang="en-US" altLang="zh-CN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600" b="1" dirty="0">
                <a:latin typeface="Arial" panose="020B0604020202020204" pitchFamily="34" charset="0"/>
              </a:rPr>
              <a:t>  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ORG     001BH         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；中断服务程序入口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CPL     P1.0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  RETI</a:t>
            </a:r>
          </a:p>
        </p:txBody>
      </p:sp>
      <p:sp>
        <p:nvSpPr>
          <p:cNvPr id="29702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11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  <p:bldP spid="29700" grpId="0"/>
      <p:bldP spid="297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74753"/>
          <p:cNvSpPr>
            <a:spLocks noGrp="1"/>
          </p:cNvSpPr>
          <p:nvPr>
            <p:ph type="title"/>
          </p:nvPr>
        </p:nvSpPr>
        <p:spPr>
          <a:xfrm>
            <a:off x="814388" y="0"/>
            <a:ext cx="8329613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6.3.4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3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  <a:sym typeface="+mn-ea"/>
            </a:endParaRPr>
          </a:p>
        </p:txBody>
      </p:sp>
      <p:sp>
        <p:nvSpPr>
          <p:cNvPr id="30722" name="文本占位符 74754"/>
          <p:cNvSpPr>
            <a:spLocks noGrp="1"/>
          </p:cNvSpPr>
          <p:nvPr>
            <p:ph idx="1"/>
          </p:nvPr>
        </p:nvSpPr>
        <p:spPr>
          <a:xfrm>
            <a:off x="849313" y="657226"/>
            <a:ext cx="8294687" cy="2641600"/>
          </a:xfrm>
          <a:ln/>
        </p:spPr>
        <p:txBody>
          <a:bodyPr lIns="92075" tIns="46038" rIns="92075" bIns="46038" anchor="t"/>
          <a:lstStyle/>
          <a:p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</a:rPr>
              <a:t>工作模式</a:t>
            </a:r>
            <a:r>
              <a:rPr lang="en-US" altLang="zh-CN" sz="16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sz="1600" dirty="0">
                <a:solidFill>
                  <a:srgbClr val="000000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1600" dirty="0">
                <a:solidFill>
                  <a:srgbClr val="000000"/>
                </a:solidFill>
                <a:latin typeface="宋体" panose="02010600030101010101" pitchFamily="2" charset="-122"/>
              </a:rPr>
              <a:t>大不相同。</a:t>
            </a:r>
          </a:p>
          <a:p>
            <a:pPr lvl="1" indent="313055">
              <a:buNone/>
            </a:pPr>
            <a:r>
              <a:rPr lang="en-US" altLang="zh-CN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T0</a:t>
            </a:r>
            <a:r>
              <a:rPr lang="zh-CN" altLang="en-US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模式</a:t>
            </a:r>
            <a:r>
              <a:rPr lang="en-US" altLang="zh-CN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1600" dirty="0">
                <a:solidFill>
                  <a:srgbClr val="99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的逻辑电路结构</a:t>
            </a:r>
            <a:endParaRPr lang="zh-CN" altLang="en-US" sz="1600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lvl="1" indent="313055">
              <a:buNone/>
            </a:pPr>
            <a:r>
              <a:rPr lang="en-US" altLang="zh-CN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T0</a:t>
            </a:r>
            <a:r>
              <a:rPr lang="zh-CN" altLang="en-US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模式</a:t>
            </a:r>
            <a:r>
              <a:rPr lang="en-US" altLang="zh-CN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下</a:t>
            </a:r>
            <a:r>
              <a:rPr lang="en-US" altLang="zh-CN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T1</a:t>
            </a:r>
            <a:r>
              <a:rPr lang="zh-CN" altLang="en-US" sz="1600" dirty="0">
                <a:solidFill>
                  <a:srgbClr val="340EBE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的逻辑电路结构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rgbClr val="CC3399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600" dirty="0">
                <a:solidFill>
                  <a:srgbClr val="CC3399"/>
                </a:solidFill>
                <a:latin typeface="宋体" panose="02010600030101010101" pitchFamily="2" charset="-122"/>
              </a:rPr>
              <a:t>设置为模式</a:t>
            </a:r>
            <a:r>
              <a:rPr lang="en-US" altLang="zh-CN" sz="1600" dirty="0">
                <a:solidFill>
                  <a:srgbClr val="CC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CC3399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CC3399"/>
                </a:solidFill>
                <a:latin typeface="宋体" panose="02010600030101010101" pitchFamily="2" charset="-122"/>
              </a:rPr>
              <a:t>TL0</a:t>
            </a:r>
            <a:r>
              <a:rPr lang="zh-CN" altLang="en-US" sz="1600" dirty="0">
                <a:solidFill>
                  <a:srgbClr val="CC3399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1600" dirty="0">
                <a:solidFill>
                  <a:srgbClr val="CC3399"/>
                </a:solidFill>
                <a:latin typeface="宋体" panose="02010600030101010101" pitchFamily="2" charset="-122"/>
              </a:rPr>
              <a:t>TH0</a:t>
            </a:r>
            <a:r>
              <a:rPr lang="zh-CN" altLang="en-US" sz="1600" dirty="0">
                <a:solidFill>
                  <a:srgbClr val="CC3399"/>
                </a:solidFill>
                <a:latin typeface="宋体" panose="02010600030101010101" pitchFamily="2" charset="-122"/>
              </a:rPr>
              <a:t>被分成两个相互独立的</a:t>
            </a:r>
            <a:r>
              <a:rPr lang="en-US" altLang="zh-CN" sz="1600" dirty="0">
                <a:solidFill>
                  <a:srgbClr val="CC3399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1600" dirty="0">
                <a:solidFill>
                  <a:srgbClr val="CC3399"/>
                </a:solidFill>
                <a:latin typeface="宋体" panose="02010600030101010101" pitchFamily="2" charset="-122"/>
              </a:rPr>
              <a:t>位计数器。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TL0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用原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的各控制位、引脚和中断源，即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C/T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GATE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TR0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TF0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T0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P3.4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）引脚，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INT0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1600" dirty="0">
                <a:solidFill>
                  <a:srgbClr val="FF6600"/>
                </a:solidFill>
                <a:latin typeface="宋体" panose="02010600030101010101" pitchFamily="2" charset="-122"/>
              </a:rPr>
              <a:t>P3.2</a:t>
            </a:r>
            <a:r>
              <a:rPr lang="zh-CN" altLang="en-US" sz="1600" dirty="0">
                <a:solidFill>
                  <a:srgbClr val="FF6600"/>
                </a:solidFill>
                <a:latin typeface="宋体" panose="02010600030101010101" pitchFamily="2" charset="-122"/>
              </a:rPr>
              <a:t>）引脚。</a:t>
            </a:r>
            <a:r>
              <a:rPr lang="en-US" altLang="zh-CN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TL0</a:t>
            </a:r>
            <a:r>
              <a:rPr lang="zh-CN" altLang="en-US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可工作在定时器方式和计数器方式。其功能和操作与模式</a:t>
            </a:r>
            <a:r>
              <a:rPr lang="en-US" altLang="zh-CN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、模式</a:t>
            </a:r>
            <a:r>
              <a:rPr lang="en-US" altLang="zh-CN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相同（只是</a:t>
            </a:r>
            <a:r>
              <a:rPr lang="en-US" altLang="zh-CN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1600" dirty="0">
                <a:solidFill>
                  <a:schemeClr val="folHlink"/>
                </a:solidFill>
                <a:latin typeface="宋体" panose="02010600030101010101" pitchFamily="2" charset="-122"/>
              </a:rPr>
              <a:t>位）。</a:t>
            </a:r>
            <a:endParaRPr lang="en-US" altLang="zh-CN" sz="1600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</a:rPr>
              <a:t>TH0</a:t>
            </a:r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</a:rPr>
              <a:t>仅可用作简单的内部定时功能</a:t>
            </a:r>
          </a:p>
          <a:p>
            <a:pPr lvl="1" indent="313055">
              <a:buNone/>
            </a:pPr>
            <a:endParaRPr lang="zh-CN" altLang="en-US" sz="1600" dirty="0">
              <a:solidFill>
                <a:srgbClr val="340EBE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23" name="文本占位符 110594"/>
          <p:cNvSpPr>
            <a:spLocks noGrp="1"/>
          </p:cNvSpPr>
          <p:nvPr/>
        </p:nvSpPr>
        <p:spPr>
          <a:xfrm>
            <a:off x="814388" y="2049463"/>
            <a:ext cx="8299450" cy="16367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endParaRPr lang="zh-CN" altLang="en-US" sz="1600" b="1">
              <a:solidFill>
                <a:schemeClr val="fol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4" name="文本框 141315"/>
          <p:cNvSpPr txBox="1"/>
          <p:nvPr/>
        </p:nvSpPr>
        <p:spPr>
          <a:xfrm>
            <a:off x="1401763" y="4953000"/>
            <a:ext cx="2365375" cy="307975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sz="1400" b="1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1400" b="1" dirty="0">
                <a:latin typeface="Times New Roman" panose="02020603050405020304" charset="0"/>
                <a:ea typeface="宋体" panose="02010600030101010101" pitchFamily="2" charset="-122"/>
              </a:rPr>
              <a:t>6-10  T0</a:t>
            </a:r>
            <a:r>
              <a:rPr lang="zh-CN" altLang="en-US" sz="1400" b="1" dirty="0">
                <a:latin typeface="Times New Roman" panose="02020603050405020304" charset="0"/>
                <a:ea typeface="宋体" panose="02010600030101010101" pitchFamily="2" charset="-122"/>
              </a:rPr>
              <a:t>模式</a:t>
            </a:r>
            <a:r>
              <a:rPr lang="en-US" altLang="zh-CN" sz="1400" b="1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1400" b="1" dirty="0">
                <a:latin typeface="Times New Roman" panose="02020603050405020304" charset="0"/>
                <a:ea typeface="宋体" panose="02010600030101010101" pitchFamily="2" charset="-122"/>
              </a:rPr>
              <a:t>结构</a:t>
            </a:r>
          </a:p>
        </p:txBody>
      </p:sp>
      <p:graphicFrame>
        <p:nvGraphicFramePr>
          <p:cNvPr id="30725" name="对象 141316"/>
          <p:cNvGraphicFramePr/>
          <p:nvPr>
            <p:extLst>
              <p:ext uri="{D42A27DB-BD31-4B8C-83A1-F6EECF244321}">
                <p14:modId xmlns:p14="http://schemas.microsoft.com/office/powerpoint/2010/main" val="2640238433"/>
              </p:ext>
            </p:extLst>
          </p:nvPr>
        </p:nvGraphicFramePr>
        <p:xfrm>
          <a:off x="836481" y="2968625"/>
          <a:ext cx="3841750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374725" imgH="10306050" progId="Paint.Picture">
                  <p:embed/>
                </p:oleObj>
              </mc:Choice>
              <mc:Fallback>
                <p:oleObj r:id="rId2" imgW="26374725" imgH="10306050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481" y="2968625"/>
                        <a:ext cx="3841750" cy="193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对象 143363"/>
          <p:cNvGraphicFramePr/>
          <p:nvPr>
            <p:extLst>
              <p:ext uri="{D42A27DB-BD31-4B8C-83A1-F6EECF244321}">
                <p14:modId xmlns:p14="http://schemas.microsoft.com/office/powerpoint/2010/main" val="368279791"/>
              </p:ext>
            </p:extLst>
          </p:nvPr>
        </p:nvGraphicFramePr>
        <p:xfrm>
          <a:off x="4691063" y="2968625"/>
          <a:ext cx="4291012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1603950" imgH="9134475" progId="Paint.Picture">
                  <p:embed/>
                </p:oleObj>
              </mc:Choice>
              <mc:Fallback>
                <p:oleObj r:id="rId4" imgW="31603950" imgH="9134475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91063" y="2968625"/>
                        <a:ext cx="4291012" cy="193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文本框 143366"/>
          <p:cNvSpPr txBox="1"/>
          <p:nvPr/>
        </p:nvSpPr>
        <p:spPr>
          <a:xfrm>
            <a:off x="5426075" y="4953000"/>
            <a:ext cx="2524125" cy="338138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 wrap="square" anchor="t">
            <a:spAutoFit/>
          </a:bodyPr>
          <a:lstStyle/>
          <a:p>
            <a:pPr eaLnBrk="0" hangingPunct="0"/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</a:rPr>
              <a:t>6-11  T0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模式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结构</a:t>
            </a:r>
          </a:p>
        </p:txBody>
      </p:sp>
      <p:sp>
        <p:nvSpPr>
          <p:cNvPr id="30728" name="文本框 1"/>
          <p:cNvSpPr txBox="1"/>
          <p:nvPr/>
        </p:nvSpPr>
        <p:spPr>
          <a:xfrm>
            <a:off x="814388" y="5362575"/>
            <a:ext cx="8299450" cy="127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定时器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无工作模式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状态。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用作模式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仍可设置为模式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占用了定时器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的控制位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TR1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的中断标志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TF1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，其启动和关闭仅受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TR1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的控制。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计数器开关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已被接通，此时，仅用</a:t>
            </a:r>
            <a:r>
              <a:rPr lang="en-US" altLang="zh-CN" sz="1600" b="1" dirty="0"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控制位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C/T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切换其定时或计数器工作方式就可使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T1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运行。当计数器溢出时，只能将输出送入串行口或用于不需要中断的场合</a:t>
            </a: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。一般作波特率发生器。</a:t>
            </a:r>
          </a:p>
        </p:txBody>
      </p:sp>
      <p:sp>
        <p:nvSpPr>
          <p:cNvPr id="30729" name="灯片编号占位符 2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12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76801"/>
          <p:cNvSpPr>
            <a:spLocks noGrp="1"/>
          </p:cNvSpPr>
          <p:nvPr>
            <p:ph type="title"/>
          </p:nvPr>
        </p:nvSpPr>
        <p:spPr>
          <a:xfrm>
            <a:off x="814388" y="0"/>
            <a:ext cx="8329613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6.3.4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模式 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3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及其应用</a:t>
            </a:r>
            <a:endParaRPr kumimoji="0" lang="zh-CN" altLang="en-US" sz="2800" b="1" i="0" u="none" strike="noStrike" kern="1200" cap="none" spc="0" normalizeH="0" baseline="0" noProof="1">
              <a:solidFill>
                <a:srgbClr val="990099"/>
              </a:solidFill>
              <a:latin typeface="楷体_GB2312" pitchFamily="49" charset="-122"/>
              <a:ea typeface="楷体_GB2312" pitchFamily="49" charset="-122"/>
              <a:cs typeface="+mj-cs"/>
              <a:sym typeface="+mn-ea"/>
            </a:endParaRPr>
          </a:p>
        </p:txBody>
      </p:sp>
      <p:sp>
        <p:nvSpPr>
          <p:cNvPr id="76803" name="文本占位符 76802"/>
          <p:cNvSpPr>
            <a:spLocks noGrp="1"/>
          </p:cNvSpPr>
          <p:nvPr>
            <p:ph idx="1"/>
          </p:nvPr>
        </p:nvSpPr>
        <p:spPr>
          <a:xfrm>
            <a:off x="814388" y="796925"/>
            <a:ext cx="8329613" cy="3021013"/>
          </a:xfrm>
        </p:spPr>
        <p:txBody>
          <a:bodyPr lIns="92075" tIns="46038" rIns="92075" bIns="46038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6-4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：设某用户系统已使用了两个外部中断源，并置定时器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T1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工作在模式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，作串行口波特率发生器用。现要求再增加一个外部中断源，并由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P1.0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引脚输出一个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5kHz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的方波。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Fosc=12MHz.</a:t>
            </a:r>
            <a:endParaRPr kumimoji="0" lang="en-US" altLang="zh-CN" sz="1800" b="1" i="0" u="none" strike="noStrike" kern="1200" cap="none" spc="0" normalizeH="0" baseline="0" noProof="1">
              <a:solidFill>
                <a:srgbClr val="CC00FF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解：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（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）工作模式   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可设置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工作在模式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3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计数器方式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，把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的引脚作附加的外部中断输入端，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TL0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的计数初值为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FFH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，当检测到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引脚电平出现由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至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的负跳变时，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TL0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产生溢出，申请中断。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3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下，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TL0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作计数用，而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TH0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用作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位的定时器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，定时控制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引脚输出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5kHz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的方波信号。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（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）计算初值   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TL0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的计数初值为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FFH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。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TH0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的计数初值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X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为：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 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方波周期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T=1/(5kHz)=0.2ms=200μs   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TH0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作定时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100μs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时，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 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X=256-100 ×12/12=156</a:t>
            </a:r>
            <a:endParaRPr kumimoji="0" lang="en-US" altLang="zh-CN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en-US" altLang="zh-CN" sz="1800" b="1" i="0" u="none" strike="noStrike" kern="1200" cap="none" spc="0" normalizeH="0" baseline="0" noProof="1">
              <a:solidFill>
                <a:srgbClr val="CC00FF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pic>
        <p:nvPicPr>
          <p:cNvPr id="3174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8" y="3817938"/>
            <a:ext cx="4433887" cy="304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文本占位符 81922"/>
          <p:cNvSpPr>
            <a:spLocks noGrp="1"/>
          </p:cNvSpPr>
          <p:nvPr/>
        </p:nvSpPr>
        <p:spPr>
          <a:xfrm>
            <a:off x="5030788" y="3817938"/>
            <a:ext cx="4113212" cy="2997200"/>
          </a:xfrm>
          <a:prstGeom prst="rect">
            <a:avLst/>
          </a:prstGeom>
          <a:solidFill>
            <a:srgbClr val="F5EED0"/>
          </a:solidFill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zh-CN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TL0溢出中断服务程序（由000BH转来）</a:t>
            </a:r>
            <a:endParaRPr lang="en-US" altLang="zh-CN" sz="12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TL0INT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MOV    TL0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#0FFH     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TL0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重赋初值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（中断处理）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RETI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TH0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溢出</a:t>
            </a:r>
            <a:r>
              <a:rPr lang="zh-CN" altLang="en-US" sz="1200" b="1">
                <a:latin typeface="Arial" panose="020B0604020202020204" pitchFamily="34" charset="0"/>
                <a:ea typeface="宋体" panose="02010600030101010101" pitchFamily="2" charset="-122"/>
              </a:rPr>
              <a:t>                  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zh-CN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TH0溢出中断服务程序（由001BH转来）</a:t>
            </a: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TH0INT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MOV    TH0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#156      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TH0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重赋初值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CPL      P1.0                 ;P1.0</a:t>
            </a:r>
            <a:r>
              <a:rPr lang="zh-CN" altLang="en-US" sz="1200" b="1" dirty="0">
                <a:latin typeface="Arial" panose="020B0604020202020204" pitchFamily="34" charset="0"/>
                <a:ea typeface="宋体" panose="02010600030101010101" pitchFamily="2" charset="-122"/>
              </a:rPr>
              <a:t>取反输出</a:t>
            </a: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200" b="1">
                <a:latin typeface="Arial" panose="020B0604020202020204" pitchFamily="34" charset="0"/>
                <a:ea typeface="宋体" panose="02010600030101010101" pitchFamily="2" charset="-122"/>
              </a:rPr>
              <a:t>                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RETI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串行口及外部中断</a:t>
            </a:r>
            <a:r>
              <a:rPr lang="en-US" altLang="zh-CN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，外部中断</a:t>
            </a:r>
            <a:r>
              <a:rPr lang="en-US" altLang="zh-CN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的服务程序略。</a:t>
            </a:r>
          </a:p>
        </p:txBody>
      </p:sp>
      <p:sp>
        <p:nvSpPr>
          <p:cNvPr id="31749" name="灯片编号占位符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13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76801"/>
          <p:cNvSpPr>
            <a:spLocks noGrp="1"/>
          </p:cNvSpPr>
          <p:nvPr>
            <p:ph type="title"/>
          </p:nvPr>
        </p:nvSpPr>
        <p:spPr>
          <a:xfrm>
            <a:off x="814388" y="0"/>
            <a:ext cx="8329613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6.3.5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综合应用举例</a:t>
            </a:r>
            <a:endParaRPr kumimoji="0" lang="zh-CN" altLang="en-US" sz="2800" b="1" i="0" u="none" strike="noStrike" kern="1200" cap="none" spc="0" normalizeH="0" baseline="0" noProof="1">
              <a:solidFill>
                <a:srgbClr val="990099"/>
              </a:solidFill>
              <a:latin typeface="楷体_GB2312" pitchFamily="49" charset="-122"/>
              <a:ea typeface="楷体_GB2312" pitchFamily="49" charset="-122"/>
              <a:cs typeface="+mj-cs"/>
              <a:sym typeface="+mn-ea"/>
            </a:endParaRPr>
          </a:p>
        </p:txBody>
      </p:sp>
      <p:sp>
        <p:nvSpPr>
          <p:cNvPr id="76803" name="文本占位符 76802"/>
          <p:cNvSpPr>
            <a:spLocks noGrp="1"/>
          </p:cNvSpPr>
          <p:nvPr>
            <p:ph idx="1"/>
          </p:nvPr>
        </p:nvSpPr>
        <p:spPr>
          <a:xfrm>
            <a:off x="814388" y="796925"/>
            <a:ext cx="3559175" cy="5943600"/>
          </a:xfrm>
          <a:solidFill>
            <a:schemeClr val="accent5">
              <a:lumMod val="90000"/>
            </a:schemeClr>
          </a:solidFill>
        </p:spPr>
        <p:txBody>
          <a:bodyPr lIns="92075" tIns="46038" rIns="92075" bIns="46038"/>
          <a:lstStyle/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例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6-5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设时钟频率为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6MHz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。编写利用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T0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产生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1s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定时的程序。</a:t>
            </a:r>
          </a:p>
          <a:p>
            <a:pPr marL="37338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解：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）定时器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工作模式的确定</a:t>
            </a:r>
            <a:endParaRPr kumimoji="0" lang="zh-CN" altLang="en-US" sz="16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7338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∵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最长定时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16.384ms;</a:t>
            </a:r>
          </a:p>
          <a:p>
            <a:pPr marL="37338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最长定时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131.072ms;</a:t>
            </a:r>
          </a:p>
          <a:p>
            <a:pPr marL="37338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2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最长定时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340EBE"/>
                </a:solidFill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512μs;</a:t>
            </a:r>
            <a:endParaRPr kumimoji="0" lang="en-US" altLang="zh-CN" sz="1600" b="1" i="0" u="none" strike="noStrike" kern="1200" cap="none" spc="0" normalizeH="0" baseline="0" noProof="1">
              <a:solidFill>
                <a:srgbClr val="340EBE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37338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∴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定时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1s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，可选用模式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，每隔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100ms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中断一 次，中断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10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次为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1s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。</a:t>
            </a: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（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）求计数器初值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X</a:t>
            </a:r>
            <a:endParaRPr kumimoji="0" lang="en-US" altLang="zh-CN" sz="16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∵ (2</a:t>
            </a:r>
            <a:r>
              <a:rPr kumimoji="0" lang="en-US" altLang="zh-CN" sz="1600" b="1" i="0" u="none" strike="noStrike" kern="120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16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－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X)×12/(6 × 10</a:t>
            </a:r>
            <a:r>
              <a:rPr kumimoji="0" lang="en-US" altLang="zh-CN" sz="1600" b="1" i="0" u="none" strike="noStrike" kern="120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6)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=100×10</a:t>
            </a:r>
            <a:r>
              <a:rPr kumimoji="0" lang="en-US" altLang="zh-CN" sz="1600" b="1" i="0" u="none" strike="noStrike" kern="1200" cap="none" spc="0" normalizeH="0" baseline="3000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-3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s   </a:t>
            </a: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   ∴ X=15536=3CB0H</a:t>
            </a:r>
            <a:endParaRPr kumimoji="0" lang="en-US" altLang="zh-CN" sz="16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  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因此：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(TL0)=0B0H  </a:t>
            </a: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               (TH0)=3CH</a:t>
            </a: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(3)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实现方法      </a:t>
            </a: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1600" b="1" i="0" u="none" strike="noStrike" kern="1200" cap="none" spc="0" normalizeH="0" baseline="0" noProof="1">
                <a:solidFill>
                  <a:srgbClr val="FF6600"/>
                </a:solidFill>
                <a:latin typeface="+mn-lt"/>
                <a:ea typeface="+mn-ea"/>
                <a:cs typeface="+mn-cs"/>
                <a:sym typeface="+mn-ea"/>
              </a:rPr>
              <a:t>      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对于中断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10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次计数，可使</a:t>
            </a:r>
            <a:r>
              <a:rPr kumimoji="0" lang="en-US" altLang="zh-CN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工作在计数方式，也可用循环程序的方法实现。</a:t>
            </a:r>
            <a:r>
              <a:rPr kumimoji="0" lang="zh-CN" altLang="en-US" sz="1600" b="1" i="0" u="none" strike="noStrike" kern="120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+mn-cs"/>
                <a:sym typeface="+mn-ea"/>
              </a:rPr>
              <a:t>本例采用循环程序法。</a:t>
            </a:r>
            <a:endParaRPr kumimoji="0" lang="zh-CN" altLang="en-US" sz="16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42900" marR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en-US" altLang="zh-CN" sz="1600" b="1" i="0" u="none" strike="noStrike" kern="1200" cap="none" spc="0" normalizeH="0" baseline="0" noProof="1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373380" marR="0" indent="-3733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en-US" altLang="zh-CN" sz="1600" b="1" i="0" u="none" strike="noStrike" kern="1200" cap="none" spc="0" normalizeH="0" baseline="0" noProof="1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32771" name="文本占位符 83970"/>
          <p:cNvSpPr>
            <a:spLocks noGrp="1"/>
          </p:cNvSpPr>
          <p:nvPr/>
        </p:nvSpPr>
        <p:spPr>
          <a:xfrm>
            <a:off x="4373563" y="796925"/>
            <a:ext cx="4779962" cy="5942013"/>
          </a:xfrm>
          <a:prstGeom prst="rect">
            <a:avLst/>
          </a:prstGeom>
          <a:solidFill>
            <a:srgbClr val="FAF7E8"/>
          </a:solidFill>
          <a:ln w="9525">
            <a:noFill/>
          </a:ln>
        </p:spPr>
        <p:txBody>
          <a:bodyPr lIns="92075" tIns="46038" rIns="92075" bIns="46038" anchor="t"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）源程序清单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ORG    0000H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AJMP  MAIN        ； 上电，转向主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程序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ORG    000BH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中断服务程序入口地址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AJMP    SERVE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；转向中断服务程序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ORG    2000H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；主程序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MAIN :   MOV   SP,#60H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；设堆栈指针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B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#0AH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；设循环次数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TMOD,#01H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；设置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工作于模式</a:t>
            </a: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TL0,#0B0H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；装计数值低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MOV    TH0,#3CH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；装计数值高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SETB    TR0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；启动定时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SETB    ET0 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T0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开中断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SETB    EA  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开中断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SJMP    $     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</a:rPr>
              <a:t>；等待中断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SERVE:  MOV    TL0,#0B0H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；重新赋初值</a:t>
            </a:r>
            <a:endParaRPr lang="en-US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MOV    TH0,#3CH</a:t>
            </a:r>
            <a:endParaRPr lang="en-US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DJNZ    B,LOOP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B-1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不为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，继续定时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CLR     TR0             ；1s定时到，停止T0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LOOP:    RETI                                </a:t>
            </a: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；中断返回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</a:t>
            </a:r>
            <a:r>
              <a:rPr lang="en-US" altLang="zh-CN" sz="1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END</a:t>
            </a:r>
            <a:endParaRPr lang="zh-CN" altLang="en-US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灯片编号占位符 2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14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60E8-6D24-41D3-9BF4-CB6A78A2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B6BE2C-B2BF-4E0B-A6FC-36BC2AA44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932" y="1484784"/>
            <a:ext cx="3310136" cy="4714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BF2B7D-E208-4A5D-A9D8-0A2B9B66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smtClean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15</a:t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40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2529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6.4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思考题与习题</a:t>
            </a:r>
            <a:endParaRPr kumimoji="0" lang="zh-CN" altLang="en-US" sz="2800" b="1" i="0" u="none" strike="noStrike" kern="1200" cap="none" spc="0" normalizeH="0" baseline="0" noProof="1">
              <a:solidFill>
                <a:srgbClr val="00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2531" name="文本占位符 22530"/>
          <p:cNvSpPr>
            <a:spLocks noGrp="1"/>
          </p:cNvSpPr>
          <p:nvPr>
            <p:ph idx="1"/>
          </p:nvPr>
        </p:nvSpPr>
        <p:spPr>
          <a:xfrm>
            <a:off x="844550" y="941388"/>
            <a:ext cx="8256588" cy="5581650"/>
          </a:xfrm>
        </p:spPr>
        <p:txBody>
          <a:bodyPr lIns="92075" tIns="46038" rIns="92075" bIns="46038"/>
          <a:lstStyle/>
          <a:p>
            <a:pPr marL="579755" marR="0" indent="-57975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、定时器模式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有什么特点？适用于什么应用场合？</a:t>
            </a:r>
          </a:p>
          <a:p>
            <a:pPr marL="579755" marR="0" indent="-57975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、单片机用内部定时方法产生频率为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100KHz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等宽距形波，假定单片机的晶振频率为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12MHz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。请编程实现。</a:t>
            </a:r>
          </a:p>
          <a:p>
            <a:pPr marL="579755" marR="0" indent="-57975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定时器有哪几种工作模式？有何区别？</a:t>
            </a:r>
          </a:p>
          <a:p>
            <a:pPr marL="579755" marR="0" indent="-57975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4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单片机内部设有几个定时器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/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计数器？它们是由哪些特殊功能寄存器组成？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579755" marR="0" indent="-57975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5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、定时器用作定时器时，其定时时间与哪些因素有关？作计数器时，对外界计数频率有何限制？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579755" marR="0" indent="-57975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6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、简述定时器四种工作模式的特点，如何选择和设定？</a:t>
            </a:r>
          </a:p>
          <a:p>
            <a:pPr marL="476250" marR="0" indent="-47625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7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、当定时器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用作模式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3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时，由于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TR1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位已被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占用，如何控制定时器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的开启和关闭？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476250" marR="0" indent="-47625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、以定时器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/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计数器１进行外部事件计数。每计数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1000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个脉冲后，定时器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转为定时工作方式。定时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10ms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后，又转为计数方式，如此循环不止。假定单片机晶振频率为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6MHz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，请使用模式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编程实现。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579755" marR="0" indent="-579755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579755" marR="0" indent="-57975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379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16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20833"/>
          <p:cNvSpPr>
            <a:spLocks noGrp="1"/>
          </p:cNvSpPr>
          <p:nvPr>
            <p:ph type="title"/>
          </p:nvPr>
        </p:nvSpPr>
        <p:spPr>
          <a:xfrm>
            <a:off x="814388" y="0"/>
            <a:ext cx="8329613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6.4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思考题与习题</a:t>
            </a:r>
          </a:p>
        </p:txBody>
      </p:sp>
      <p:sp>
        <p:nvSpPr>
          <p:cNvPr id="120835" name="文本占位符 120834"/>
          <p:cNvSpPr>
            <a:spLocks noGrp="1"/>
          </p:cNvSpPr>
          <p:nvPr>
            <p:ph idx="1"/>
          </p:nvPr>
        </p:nvSpPr>
        <p:spPr>
          <a:xfrm>
            <a:off x="850900" y="828675"/>
            <a:ext cx="8153400" cy="5078413"/>
          </a:xfrm>
        </p:spPr>
        <p:txBody>
          <a:bodyPr lIns="92075" tIns="46038" rIns="92075" bIns="46038"/>
          <a:lstStyle/>
          <a:p>
            <a:pPr marL="579755" marR="0" indent="-57975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9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、一个定时器的定时时间有限，如何实现两个定时器的串行定时，以满足较长定时时间的要求？</a:t>
            </a:r>
          </a:p>
          <a:p>
            <a:pPr marL="579755" marR="0" indent="-57975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、使用一个定时器，如何通过软、硬件结合的方法，实现较长时间的定时？</a:t>
            </a:r>
          </a:p>
          <a:p>
            <a:pPr marL="579755" marR="0" indent="-57975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定时器作定时和计数时，其计数脉冲分别由谁提供？</a:t>
            </a:r>
          </a:p>
          <a:p>
            <a:pPr marL="662305" marR="0" indent="-662305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定时器的门控制信号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GATE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设置为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时，定时器如何启动？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662305" marR="0" indent="-662305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13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、已知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单片机的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fosc=6MHz, 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请利用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T0和P1.0输出矩形波。矩形波高电平宽50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μs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，低电平宽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300μs.</a:t>
            </a:r>
          </a:p>
          <a:p>
            <a:pPr marL="767080" marR="0" indent="-76708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14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、已知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单片机的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fosc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=12MHz, 用T1定时。试编程由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引脚分别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输出周期为 2ms和500μs的方波。</a:t>
            </a:r>
            <a:endParaRPr kumimoji="0" lang="zh-CN" altLang="zh-CN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767080" marR="0" indent="-76708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15、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单片机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8031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的时钟频率为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6MHz,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若要求定时值分别为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0.1ms,1ms,10ms,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工作在模式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、模式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和模式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时，其定时器初值各应是多少？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662305" marR="0" indent="-662305" algn="l" defTabSz="914400" rtl="0" eaLnBrk="1" fontAlgn="base" latinLnBrk="0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en-US" altLang="zh-CN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579755" marR="0" indent="-57975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481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17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标题 123905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6.4  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思考题与习题</a:t>
            </a:r>
          </a:p>
        </p:txBody>
      </p:sp>
      <p:sp>
        <p:nvSpPr>
          <p:cNvPr id="123907" name="文本占位符 123906"/>
          <p:cNvSpPr>
            <a:spLocks noGrp="1"/>
          </p:cNvSpPr>
          <p:nvPr>
            <p:ph idx="1"/>
          </p:nvPr>
        </p:nvSpPr>
        <p:spPr>
          <a:xfrm>
            <a:off x="842963" y="901700"/>
            <a:ext cx="8229600" cy="3886200"/>
          </a:xfrm>
        </p:spPr>
        <p:txBody>
          <a:bodyPr lIns="92075" tIns="46038" rIns="92075" bIns="46038"/>
          <a:lstStyle/>
          <a:p>
            <a:pPr marL="662305" marR="0" indent="-66230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16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、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8051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单片机的定时器在何种设置下可提供三个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8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位计数器定时器？这时，定时器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可作为串行口波特率发生器。若波特率按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9600b/s,4800b/s,2400b/s,1200b/s,600b/s,100b/s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来考虑，则此时可选用的波特率是多少（允许存在一定误差）？设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fosc=12MHz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  <a:p>
            <a:pPr marL="767080" marR="0" indent="-76708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17、试编制一段程序，功能为：当P1.2引脚的电平上跳时，对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P1.1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的输入脉冲进行计数；当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P1.2引脚的电平下跳时，停止计数，并将计数值写入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R6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R7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。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767080" marR="0" indent="-76708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18、 设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fosc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=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12</a:t>
            </a:r>
            <a:r>
              <a:rPr kumimoji="0" lang="zh-CN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MHz。试编制一段程序，功能为：对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定时器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初始化，使之工作在模式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2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，产生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200μs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定时，并用查询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T0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溢出标志的方法，控制 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P1.0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输出周期为</a:t>
            </a:r>
            <a:r>
              <a:rPr kumimoji="0" lang="en-US" altLang="zh-CN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2ms</a:t>
            </a:r>
            <a:r>
              <a:rPr kumimoji="0" lang="zh-CN" altLang="en-US" sz="1800" b="1" i="0" u="none" strike="noStrike" kern="1200" cap="none" spc="0" normalizeH="0" baseline="0" noProof="1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  <a:sym typeface="+mn-ea"/>
              </a:rPr>
              <a:t>的方波。</a:t>
            </a: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2305" marR="0" indent="-662305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1800" b="1" i="0" u="none" strike="noStrike" kern="1200" cap="none" spc="0" normalizeH="0" baseline="0" noProof="1">
              <a:solidFill>
                <a:schemeClr val="tx1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584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18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标题 124929"/>
          <p:cNvSpPr>
            <a:spLocks noGrp="1"/>
          </p:cNvSpPr>
          <p:nvPr>
            <p:ph type="title"/>
          </p:nvPr>
        </p:nvSpPr>
        <p:spPr>
          <a:xfrm>
            <a:off x="814388" y="0"/>
            <a:ext cx="8286750" cy="796925"/>
          </a:xfrm>
        </p:spPr>
        <p:txBody>
          <a:bodyPr lIns="92075" tIns="46038" rIns="92075" bIns="46038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7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§</a:t>
            </a:r>
            <a:r>
              <a:rPr kumimoji="0" lang="en-US" altLang="zh-CN" sz="47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6.4  </a:t>
            </a:r>
            <a:r>
              <a:rPr kumimoji="0" lang="zh-CN" altLang="en-US" sz="4700" b="1" i="0" u="none" strike="noStrike" kern="1200" cap="none" spc="0" normalizeH="0" baseline="0" noProof="1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rPr>
              <a:t>思考题与习题</a:t>
            </a:r>
          </a:p>
        </p:txBody>
      </p:sp>
      <p:sp>
        <p:nvSpPr>
          <p:cNvPr id="36866" name="文本占位符 124930"/>
          <p:cNvSpPr>
            <a:spLocks noGrp="1"/>
          </p:cNvSpPr>
          <p:nvPr>
            <p:ph idx="1"/>
          </p:nvPr>
        </p:nvSpPr>
        <p:spPr>
          <a:xfrm>
            <a:off x="728663" y="1219200"/>
            <a:ext cx="8186737" cy="4572000"/>
          </a:xfrm>
          <a:ln/>
        </p:spPr>
        <p:txBody>
          <a:bodyPr lIns="92075" tIns="46038" rIns="92075" bIns="46038" anchor="t"/>
          <a:lstStyle/>
          <a:p>
            <a:pPr marL="767080" indent="-767080">
              <a:lnSpc>
                <a:spcPct val="130000"/>
              </a:lnSpc>
              <a:buNone/>
            </a:pPr>
            <a:r>
              <a:rPr lang="zh-CN" altLang="zh-CN" sz="2800" dirty="0">
                <a:latin typeface="宋体" panose="02010600030101010101" pitchFamily="2" charset="-122"/>
              </a:rPr>
              <a:t>17、试编制一段程序，功能为：当P1.2引脚的电平上跳时，对</a:t>
            </a:r>
            <a:r>
              <a:rPr lang="en-US" altLang="zh-CN" sz="2800" dirty="0">
                <a:latin typeface="宋体" panose="02010600030101010101" pitchFamily="2" charset="-122"/>
              </a:rPr>
              <a:t>P1.1</a:t>
            </a:r>
            <a:r>
              <a:rPr lang="zh-CN" altLang="en-US" sz="2800" dirty="0">
                <a:latin typeface="宋体" panose="02010600030101010101" pitchFamily="2" charset="-122"/>
              </a:rPr>
              <a:t>的输入脉冲进行计数；当</a:t>
            </a:r>
            <a:r>
              <a:rPr lang="zh-CN" altLang="zh-CN" sz="2800" dirty="0">
                <a:latin typeface="宋体" panose="02010600030101010101" pitchFamily="2" charset="-122"/>
              </a:rPr>
              <a:t>P1.2引脚的电平下跳时，停止计数，并将计数值写入</a:t>
            </a:r>
            <a:r>
              <a:rPr lang="en-US" altLang="zh-CN" sz="2800">
                <a:latin typeface="宋体" panose="02010600030101010101" pitchFamily="2" charset="-122"/>
              </a:rPr>
              <a:t>R6</a:t>
            </a:r>
            <a:r>
              <a:rPr lang="zh-CN" altLang="en-US" sz="2800">
                <a:latin typeface="宋体" panose="02010600030101010101" pitchFamily="2" charset="-122"/>
              </a:rPr>
              <a:t>，</a:t>
            </a:r>
            <a:r>
              <a:rPr lang="en-US" altLang="zh-CN" sz="2800">
                <a:latin typeface="宋体" panose="02010600030101010101" pitchFamily="2" charset="-122"/>
              </a:rPr>
              <a:t>R7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  <a:p>
            <a:pPr marL="767080" indent="-767080">
              <a:lnSpc>
                <a:spcPct val="130000"/>
              </a:lnSpc>
              <a:buNone/>
            </a:pPr>
            <a:r>
              <a:rPr lang="zh-CN" altLang="zh-CN" sz="2800">
                <a:latin typeface="宋体" panose="02010600030101010101" pitchFamily="2" charset="-122"/>
              </a:rPr>
              <a:t>18、 设</a:t>
            </a:r>
            <a:r>
              <a:rPr lang="en-US" altLang="zh-CN" sz="2800" err="1">
                <a:latin typeface="宋体" panose="02010600030101010101" pitchFamily="2" charset="-122"/>
              </a:rPr>
              <a:t>fosc</a:t>
            </a:r>
            <a:r>
              <a:rPr lang="zh-CN" altLang="zh-CN" sz="2800" dirty="0">
                <a:latin typeface="宋体" panose="02010600030101010101" pitchFamily="2" charset="-122"/>
              </a:rPr>
              <a:t>=6MHz。试编制一段程序，功能为：对</a:t>
            </a:r>
            <a:r>
              <a:rPr lang="zh-CN" altLang="en-US" sz="2800" dirty="0">
                <a:latin typeface="宋体" panose="02010600030101010101" pitchFamily="2" charset="-122"/>
              </a:rPr>
              <a:t>定时器</a:t>
            </a:r>
            <a:r>
              <a:rPr lang="en-US" altLang="zh-CN" sz="2800" dirty="0">
                <a:latin typeface="宋体" panose="02010600030101010101" pitchFamily="2" charset="-122"/>
              </a:rPr>
              <a:t>T0</a:t>
            </a:r>
            <a:r>
              <a:rPr lang="zh-CN" altLang="en-US" sz="2800" dirty="0">
                <a:latin typeface="宋体" panose="02010600030101010101" pitchFamily="2" charset="-122"/>
              </a:rPr>
              <a:t>初始化，使之工作在模式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，产生</a:t>
            </a:r>
            <a:r>
              <a:rPr lang="en-US" altLang="zh-CN" sz="2800" dirty="0">
                <a:latin typeface="宋体" panose="02010600030101010101" pitchFamily="2" charset="-122"/>
              </a:rPr>
              <a:t>200μs</a:t>
            </a:r>
            <a:r>
              <a:rPr lang="zh-CN" altLang="en-US" sz="2800" dirty="0">
                <a:latin typeface="宋体" panose="02010600030101010101" pitchFamily="2" charset="-122"/>
              </a:rPr>
              <a:t>定时，并用查询</a:t>
            </a:r>
            <a:r>
              <a:rPr lang="en-US" altLang="zh-CN" sz="2800" dirty="0">
                <a:latin typeface="宋体" panose="02010600030101010101" pitchFamily="2" charset="-122"/>
              </a:rPr>
              <a:t>T0</a:t>
            </a:r>
            <a:r>
              <a:rPr lang="zh-CN" altLang="en-US" sz="2800" dirty="0">
                <a:latin typeface="宋体" panose="02010600030101010101" pitchFamily="2" charset="-122"/>
              </a:rPr>
              <a:t>溢出标志的方法，控制 </a:t>
            </a:r>
            <a:r>
              <a:rPr lang="en-US" altLang="zh-CN" sz="2800" dirty="0">
                <a:latin typeface="宋体" panose="02010600030101010101" pitchFamily="2" charset="-122"/>
              </a:rPr>
              <a:t>P1.0</a:t>
            </a:r>
            <a:r>
              <a:rPr lang="zh-CN" altLang="en-US" sz="2800" dirty="0">
                <a:latin typeface="宋体" panose="02010600030101010101" pitchFamily="2" charset="-122"/>
              </a:rPr>
              <a:t>输出周期为</a:t>
            </a:r>
            <a:r>
              <a:rPr lang="en-US" altLang="zh-CN" sz="2800" dirty="0">
                <a:latin typeface="宋体" panose="02010600030101010101" pitchFamily="2" charset="-122"/>
              </a:rPr>
              <a:t>2ms</a:t>
            </a:r>
            <a:r>
              <a:rPr lang="zh-CN" altLang="en-US" sz="2800" dirty="0">
                <a:latin typeface="宋体" panose="02010600030101010101" pitchFamily="2" charset="-122"/>
              </a:rPr>
              <a:t>的方波。</a:t>
            </a:r>
            <a:endParaRPr lang="zh-CN" altLang="en-US" dirty="0"/>
          </a:p>
        </p:txBody>
      </p:sp>
      <p:sp>
        <p:nvSpPr>
          <p:cNvPr id="3686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none" lIns="92075" tIns="46038" rIns="92075" bIns="46038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19</a:t>
            </a:fld>
            <a:endParaRPr lang="zh-CN" altLang="en-US" sz="1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项目状态 (标准)">
  <a:themeElements>
    <a:clrScheme name="">
      <a:dk1>
        <a:srgbClr val="333300"/>
      </a:dk1>
      <a:lt1>
        <a:srgbClr val="FFFFFF"/>
      </a:lt1>
      <a:dk2>
        <a:srgbClr val="996600"/>
      </a:dk2>
      <a:lt2>
        <a:srgbClr val="969696"/>
      </a:lt2>
      <a:accent1>
        <a:srgbClr val="E5D58A"/>
      </a:accent1>
      <a:accent2>
        <a:srgbClr val="99CC00"/>
      </a:accent2>
      <a:accent3>
        <a:srgbClr val="FFFFFF"/>
      </a:accent3>
      <a:accent4>
        <a:srgbClr val="2A2A00"/>
      </a:accent4>
      <a:accent5>
        <a:srgbClr val="EFE6C4"/>
      </a:accent5>
      <a:accent6>
        <a:srgbClr val="89B700"/>
      </a:accent6>
      <a:hlink>
        <a:srgbClr val="B01C5F"/>
      </a:hlink>
      <a:folHlink>
        <a:srgbClr val="666633"/>
      </a:folHlink>
    </a:clrScheme>
    <a:fontScheme name="">
      <a:majorFont>
        <a:latin typeface="Times New Roman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5D58A"/>
        </a:accent1>
        <a:accent2>
          <a:srgbClr val="CCCC00"/>
        </a:accent2>
        <a:accent3>
          <a:srgbClr val="FFFFFF"/>
        </a:accent3>
        <a:accent4>
          <a:srgbClr val="2A2A00"/>
        </a:accent4>
        <a:accent5>
          <a:srgbClr val="EFE6C4"/>
        </a:accent5>
        <a:accent6>
          <a:srgbClr val="B7B700"/>
        </a:accent6>
        <a:hlink>
          <a:srgbClr val="9999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8EA1C0"/>
        </a:lt1>
        <a:dk2>
          <a:srgbClr val="FFFFFF"/>
        </a:dk2>
        <a:lt2>
          <a:srgbClr val="5F5F5F"/>
        </a:lt2>
        <a:accent1>
          <a:srgbClr val="B6CDDE"/>
        </a:accent1>
        <a:accent2>
          <a:srgbClr val="8A7CA2"/>
        </a:accent2>
        <a:accent3>
          <a:srgbClr val="C6CDDC"/>
        </a:accent3>
        <a:accent4>
          <a:srgbClr val="000000"/>
        </a:accent4>
        <a:accent5>
          <a:srgbClr val="D7E2EB"/>
        </a:accent5>
        <a:accent6>
          <a:srgbClr val="7B6F91"/>
        </a:accent6>
        <a:hlink>
          <a:srgbClr val="336699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2A2A00"/>
        </a:accent4>
        <a:accent5>
          <a:srgbClr val="F2F2F2"/>
        </a:accent5>
        <a:accent6>
          <a:srgbClr val="868686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项目状态 (标准)">
  <a:themeElements>
    <a:clrScheme name="">
      <a:dk1>
        <a:srgbClr val="333300"/>
      </a:dk1>
      <a:lt1>
        <a:srgbClr val="FFFFFF"/>
      </a:lt1>
      <a:dk2>
        <a:srgbClr val="996600"/>
      </a:dk2>
      <a:lt2>
        <a:srgbClr val="969696"/>
      </a:lt2>
      <a:accent1>
        <a:srgbClr val="E5D58A"/>
      </a:accent1>
      <a:accent2>
        <a:srgbClr val="99CC00"/>
      </a:accent2>
      <a:accent3>
        <a:srgbClr val="FFFFFF"/>
      </a:accent3>
      <a:accent4>
        <a:srgbClr val="2A2A00"/>
      </a:accent4>
      <a:accent5>
        <a:srgbClr val="EFE6C4"/>
      </a:accent5>
      <a:accent6>
        <a:srgbClr val="89B700"/>
      </a:accent6>
      <a:hlink>
        <a:srgbClr val="B01C5F"/>
      </a:hlink>
      <a:folHlink>
        <a:srgbClr val="666633"/>
      </a:folHlink>
    </a:clrScheme>
    <a:fontScheme name="">
      <a:majorFont>
        <a:latin typeface="Times New Roman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5D58A"/>
        </a:accent1>
        <a:accent2>
          <a:srgbClr val="CCCC00"/>
        </a:accent2>
        <a:accent3>
          <a:srgbClr val="FFFFFF"/>
        </a:accent3>
        <a:accent4>
          <a:srgbClr val="2A2A00"/>
        </a:accent4>
        <a:accent5>
          <a:srgbClr val="EFE6C4"/>
        </a:accent5>
        <a:accent6>
          <a:srgbClr val="B7B700"/>
        </a:accent6>
        <a:hlink>
          <a:srgbClr val="9999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8EA1C0"/>
        </a:lt1>
        <a:dk2>
          <a:srgbClr val="FFFFFF"/>
        </a:dk2>
        <a:lt2>
          <a:srgbClr val="5F5F5F"/>
        </a:lt2>
        <a:accent1>
          <a:srgbClr val="B6CDDE"/>
        </a:accent1>
        <a:accent2>
          <a:srgbClr val="8A7CA2"/>
        </a:accent2>
        <a:accent3>
          <a:srgbClr val="C6CDDC"/>
        </a:accent3>
        <a:accent4>
          <a:srgbClr val="000000"/>
        </a:accent4>
        <a:accent5>
          <a:srgbClr val="D7E2EB"/>
        </a:accent5>
        <a:accent6>
          <a:srgbClr val="7B6F91"/>
        </a:accent6>
        <a:hlink>
          <a:srgbClr val="336699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2A2A00"/>
        </a:accent4>
        <a:accent5>
          <a:srgbClr val="F2F2F2"/>
        </a:accent5>
        <a:accent6>
          <a:srgbClr val="868686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Office\Templates\演示文稿\项目状态 (标准).pot</Template>
  <TotalTime>803</TotalTime>
  <Words>3099</Words>
  <Application>Microsoft Office PowerPoint</Application>
  <PresentationFormat>全屏显示(4:3)</PresentationFormat>
  <Paragraphs>219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黑体</vt:lpstr>
      <vt:lpstr>楷体_GB2312</vt:lpstr>
      <vt:lpstr>隶书</vt:lpstr>
      <vt:lpstr>宋体</vt:lpstr>
      <vt:lpstr>Arial</vt:lpstr>
      <vt:lpstr>Times New Roman</vt:lpstr>
      <vt:lpstr>Wingdings</vt:lpstr>
      <vt:lpstr>项目状态 (标准)</vt:lpstr>
      <vt:lpstr>1_项目状态 (标准)</vt:lpstr>
      <vt:lpstr>Bitmap Image</vt:lpstr>
      <vt:lpstr>Microsoft Word 97 - 2003 Document</vt:lpstr>
      <vt:lpstr>第六章 定时器及应用</vt:lpstr>
      <vt:lpstr>§6.1.1  8051定时器结构</vt:lpstr>
      <vt:lpstr>§6.1.2  8051定时器功能</vt:lpstr>
      <vt:lpstr>§6.2.1  工作模式寄存器 TMOD</vt:lpstr>
      <vt:lpstr>§6.2.2  控制器寄存器 TCON</vt:lpstr>
      <vt:lpstr>§6.2.2  模式 0 及其应用</vt:lpstr>
      <vt:lpstr>§6.3.2  模式 1 及其应用</vt:lpstr>
      <vt:lpstr>PowerPoint 演示文稿</vt:lpstr>
      <vt:lpstr>§6.3.3  模式 2 及其应用</vt:lpstr>
      <vt:lpstr>§6.3.3  模式 2 及其应用</vt:lpstr>
      <vt:lpstr>§6.3.3  模式 2 及其应用</vt:lpstr>
      <vt:lpstr>§6.3.4  模式 3 及其应用</vt:lpstr>
      <vt:lpstr>§6.3.4  模式 3 及其应用</vt:lpstr>
      <vt:lpstr>§6.3.5  综合应用举例</vt:lpstr>
      <vt:lpstr>作业</vt:lpstr>
      <vt:lpstr>§6.4  思考题与习题</vt:lpstr>
      <vt:lpstr>§6.4  思考题与习题</vt:lpstr>
      <vt:lpstr>§6.4  思考题与习题</vt:lpstr>
      <vt:lpstr>§6.4  思考题与习题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定时器及应用</dc:title>
  <dc:creator>aa</dc:creator>
  <cp:lastModifiedBy>陈 佩</cp:lastModifiedBy>
  <cp:revision>57</cp:revision>
  <dcterms:created xsi:type="dcterms:W3CDTF">2000-08-19T03:39:13Z</dcterms:created>
  <dcterms:modified xsi:type="dcterms:W3CDTF">2021-03-18T03:29:17Z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